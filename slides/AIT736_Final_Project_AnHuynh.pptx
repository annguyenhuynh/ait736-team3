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4"/>
  </p:notesMasterIdLst>
  <p:sldIdLst>
    <p:sldId id="268" r:id="rId5"/>
    <p:sldId id="261" r:id="rId6"/>
    <p:sldId id="257" r:id="rId7"/>
    <p:sldId id="262" r:id="rId8"/>
    <p:sldId id="272" r:id="rId9"/>
    <p:sldId id="270" r:id="rId10"/>
    <p:sldId id="273" r:id="rId11"/>
    <p:sldId id="274" r:id="rId12"/>
    <p:sldId id="271" r:id="rId13"/>
    <p:sldId id="275" r:id="rId14"/>
    <p:sldId id="282" r:id="rId15"/>
    <p:sldId id="276" r:id="rId16"/>
    <p:sldId id="277" r:id="rId17"/>
    <p:sldId id="278" r:id="rId18"/>
    <p:sldId id="283" r:id="rId19"/>
    <p:sldId id="279" r:id="rId20"/>
    <p:sldId id="280" r:id="rId21"/>
    <p:sldId id="281" r:id="rId22"/>
    <p:sldId id="284"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r:id="rId28" roundtripDataSignature="AMtx7mjoA08xUQFmVkTcOpqRfxDqbGkKo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909E"/>
    <a:srgbClr val="FFFFFF"/>
    <a:srgbClr val="0066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BDCCB7-286D-4459-AF97-CC0A039CD1B4}" v="29" dt="2026-04-30T17:02:14.325"/>
  </p1510:revLst>
</p1510:revInfo>
</file>

<file path=ppt/tableStyles.xml><?xml version="1.0" encoding="utf-8"?>
<a:tblStyleLst xmlns:a="http://schemas.openxmlformats.org/drawingml/2006/main" def="{9FC0CF5B-8249-4F8D-B440-F45ADADE8D9B}">
  <a:tblStyle styleId="{9FC0CF5B-8249-4F8D-B440-F45ADADE8D9B}"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431"/>
    <p:restoredTop sz="95659" autoAdjust="0"/>
  </p:normalViewPr>
  <p:slideViewPr>
    <p:cSldViewPr snapToGrid="0">
      <p:cViewPr varScale="1">
        <p:scale>
          <a:sx n="82" d="100"/>
          <a:sy n="82" d="100"/>
        </p:scale>
        <p:origin x="28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30"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 Huynh" userId="75d05052-a575-4016-a87b-6fc479a19c94" providerId="ADAL" clId="{5BACBA6C-47AF-465D-B8FF-42F572A60578}"/>
    <pc:docChg chg="undo custSel addSld delSld modSld">
      <pc:chgData name="An Huynh" userId="75d05052-a575-4016-a87b-6fc479a19c94" providerId="ADAL" clId="{5BACBA6C-47AF-465D-B8FF-42F572A60578}" dt="2026-04-30T17:02:17.311" v="4712" actId="26606"/>
      <pc:docMkLst>
        <pc:docMk/>
      </pc:docMkLst>
      <pc:sldChg chg="del">
        <pc:chgData name="An Huynh" userId="75d05052-a575-4016-a87b-6fc479a19c94" providerId="ADAL" clId="{5BACBA6C-47AF-465D-B8FF-42F572A60578}" dt="2026-04-30T16:17:07.127" v="4698" actId="47"/>
        <pc:sldMkLst>
          <pc:docMk/>
          <pc:sldMk cId="0" sldId="256"/>
        </pc:sldMkLst>
      </pc:sldChg>
      <pc:sldChg chg="del">
        <pc:chgData name="An Huynh" userId="75d05052-a575-4016-a87b-6fc479a19c94" providerId="ADAL" clId="{5BACBA6C-47AF-465D-B8FF-42F572A60578}" dt="2026-04-30T16:17:00.153" v="4697" actId="47"/>
        <pc:sldMkLst>
          <pc:docMk/>
          <pc:sldMk cId="0" sldId="258"/>
        </pc:sldMkLst>
      </pc:sldChg>
      <pc:sldChg chg="del">
        <pc:chgData name="An Huynh" userId="75d05052-a575-4016-a87b-6fc479a19c94" providerId="ADAL" clId="{5BACBA6C-47AF-465D-B8FF-42F572A60578}" dt="2026-04-30T16:16:59.257" v="4696" actId="47"/>
        <pc:sldMkLst>
          <pc:docMk/>
          <pc:sldMk cId="0" sldId="259"/>
        </pc:sldMkLst>
      </pc:sldChg>
      <pc:sldChg chg="del">
        <pc:chgData name="An Huynh" userId="75d05052-a575-4016-a87b-6fc479a19c94" providerId="ADAL" clId="{5BACBA6C-47AF-465D-B8FF-42F572A60578}" dt="2026-04-30T16:16:57.544" v="4695" actId="47"/>
        <pc:sldMkLst>
          <pc:docMk/>
          <pc:sldMk cId="0" sldId="260"/>
        </pc:sldMkLst>
      </pc:sldChg>
      <pc:sldChg chg="addSp delSp modSp mod">
        <pc:chgData name="An Huynh" userId="75d05052-a575-4016-a87b-6fc479a19c94" providerId="ADAL" clId="{5BACBA6C-47AF-465D-B8FF-42F572A60578}" dt="2026-04-30T02:12:33.125" v="194" actId="1076"/>
        <pc:sldMkLst>
          <pc:docMk/>
          <pc:sldMk cId="0" sldId="262"/>
        </pc:sldMkLst>
        <pc:spChg chg="mod">
          <ac:chgData name="An Huynh" userId="75d05052-a575-4016-a87b-6fc479a19c94" providerId="ADAL" clId="{5BACBA6C-47AF-465D-B8FF-42F572A60578}" dt="2026-04-30T02:12:26.502" v="191" actId="14100"/>
          <ac:spMkLst>
            <pc:docMk/>
            <pc:sldMk cId="0" sldId="262"/>
            <ac:spMk id="96" creationId="{00000000-0000-0000-0000-000000000000}"/>
          </ac:spMkLst>
        </pc:spChg>
        <pc:picChg chg="mod">
          <ac:chgData name="An Huynh" userId="75d05052-a575-4016-a87b-6fc479a19c94" providerId="ADAL" clId="{5BACBA6C-47AF-465D-B8FF-42F572A60578}" dt="2026-04-30T02:12:30.014" v="193" actId="1076"/>
          <ac:picMkLst>
            <pc:docMk/>
            <pc:sldMk cId="0" sldId="262"/>
            <ac:picMk id="3" creationId="{2BC88856-E273-7FCC-68B7-02A5B2831DC2}"/>
          </ac:picMkLst>
        </pc:picChg>
        <pc:picChg chg="del">
          <ac:chgData name="An Huynh" userId="75d05052-a575-4016-a87b-6fc479a19c94" providerId="ADAL" clId="{5BACBA6C-47AF-465D-B8FF-42F572A60578}" dt="2026-04-30T02:06:06.767" v="160" actId="21"/>
          <ac:picMkLst>
            <pc:docMk/>
            <pc:sldMk cId="0" sldId="262"/>
            <ac:picMk id="4" creationId="{11D32B43-6D97-D07D-541D-7F8B28109CBC}"/>
          </ac:picMkLst>
        </pc:picChg>
        <pc:picChg chg="add mod">
          <ac:chgData name="An Huynh" userId="75d05052-a575-4016-a87b-6fc479a19c94" providerId="ADAL" clId="{5BACBA6C-47AF-465D-B8FF-42F572A60578}" dt="2026-04-30T02:12:33.125" v="194" actId="1076"/>
          <ac:picMkLst>
            <pc:docMk/>
            <pc:sldMk cId="0" sldId="262"/>
            <ac:picMk id="6" creationId="{60C0A333-7C7D-AB48-38BD-F042E2A66C8A}"/>
          </ac:picMkLst>
        </pc:picChg>
      </pc:sldChg>
      <pc:sldChg chg="addSp delSp modSp mod">
        <pc:chgData name="An Huynh" userId="75d05052-a575-4016-a87b-6fc479a19c94" providerId="ADAL" clId="{5BACBA6C-47AF-465D-B8FF-42F572A60578}" dt="2026-04-30T02:10:49.789" v="187" actId="1076"/>
        <pc:sldMkLst>
          <pc:docMk/>
          <pc:sldMk cId="1376291174" sldId="272"/>
        </pc:sldMkLst>
        <pc:spChg chg="mod">
          <ac:chgData name="An Huynh" userId="75d05052-a575-4016-a87b-6fc479a19c94" providerId="ADAL" clId="{5BACBA6C-47AF-465D-B8FF-42F572A60578}" dt="2026-04-30T02:08:28.264" v="173" actId="14100"/>
          <ac:spMkLst>
            <pc:docMk/>
            <pc:sldMk cId="1376291174" sldId="272"/>
            <ac:spMk id="96" creationId="{79EF9916-657D-A356-C8CB-EE41BF232E89}"/>
          </ac:spMkLst>
        </pc:spChg>
        <pc:picChg chg="add mod">
          <ac:chgData name="An Huynh" userId="75d05052-a575-4016-a87b-6fc479a19c94" providerId="ADAL" clId="{5BACBA6C-47AF-465D-B8FF-42F572A60578}" dt="2026-04-30T02:10:49.789" v="187" actId="1076"/>
          <ac:picMkLst>
            <pc:docMk/>
            <pc:sldMk cId="1376291174" sldId="272"/>
            <ac:picMk id="3" creationId="{D274203B-337D-013A-DB29-DAE2A3AD47CB}"/>
          </ac:picMkLst>
        </pc:picChg>
        <pc:picChg chg="add mod">
          <ac:chgData name="An Huynh" userId="75d05052-a575-4016-a87b-6fc479a19c94" providerId="ADAL" clId="{5BACBA6C-47AF-465D-B8FF-42F572A60578}" dt="2026-04-30T02:08:35.515" v="175" actId="1076"/>
          <ac:picMkLst>
            <pc:docMk/>
            <pc:sldMk cId="1376291174" sldId="272"/>
            <ac:picMk id="5" creationId="{0D0135E7-2538-3C40-1619-FF5D36297DD3}"/>
          </ac:picMkLst>
        </pc:picChg>
        <pc:picChg chg="add mod">
          <ac:chgData name="An Huynh" userId="75d05052-a575-4016-a87b-6fc479a19c94" providerId="ADAL" clId="{5BACBA6C-47AF-465D-B8FF-42F572A60578}" dt="2026-04-30T02:08:31.969" v="174" actId="1076"/>
          <ac:picMkLst>
            <pc:docMk/>
            <pc:sldMk cId="1376291174" sldId="272"/>
            <ac:picMk id="7" creationId="{EE978D28-7CD5-B324-C506-CDC298B9BE10}"/>
          </ac:picMkLst>
        </pc:picChg>
        <pc:picChg chg="add mod">
          <ac:chgData name="An Huynh" userId="75d05052-a575-4016-a87b-6fc479a19c94" providerId="ADAL" clId="{5BACBA6C-47AF-465D-B8FF-42F572A60578}" dt="2026-04-30T02:08:44.694" v="179" actId="1076"/>
          <ac:picMkLst>
            <pc:docMk/>
            <pc:sldMk cId="1376291174" sldId="272"/>
            <ac:picMk id="8" creationId="{11D32B43-6D97-D07D-541D-7F8B28109CBC}"/>
          </ac:picMkLst>
        </pc:picChg>
        <pc:picChg chg="add del mod">
          <ac:chgData name="An Huynh" userId="75d05052-a575-4016-a87b-6fc479a19c94" providerId="ADAL" clId="{5BACBA6C-47AF-465D-B8FF-42F572A60578}" dt="2026-04-30T02:09:00.649" v="181" actId="478"/>
          <ac:picMkLst>
            <pc:docMk/>
            <pc:sldMk cId="1376291174" sldId="272"/>
            <ac:picMk id="10" creationId="{9E373D4F-1AE9-4299-29CC-DAC4741C4C6F}"/>
          </ac:picMkLst>
        </pc:picChg>
        <pc:picChg chg="add mod">
          <ac:chgData name="An Huynh" userId="75d05052-a575-4016-a87b-6fc479a19c94" providerId="ADAL" clId="{5BACBA6C-47AF-465D-B8FF-42F572A60578}" dt="2026-04-30T02:10:45.747" v="186" actId="14100"/>
          <ac:picMkLst>
            <pc:docMk/>
            <pc:sldMk cId="1376291174" sldId="272"/>
            <ac:picMk id="12" creationId="{1B72B12C-AE1A-EC74-A13A-9D841AB184BE}"/>
          </ac:picMkLst>
        </pc:picChg>
      </pc:sldChg>
      <pc:sldChg chg="addSp modSp mod">
        <pc:chgData name="An Huynh" userId="75d05052-a575-4016-a87b-6fc479a19c94" providerId="ADAL" clId="{5BACBA6C-47AF-465D-B8FF-42F572A60578}" dt="2026-04-30T13:23:09.121" v="1006" actId="403"/>
        <pc:sldMkLst>
          <pc:docMk/>
          <pc:sldMk cId="3279804841" sldId="273"/>
        </pc:sldMkLst>
        <pc:spChg chg="mod">
          <ac:chgData name="An Huynh" userId="75d05052-a575-4016-a87b-6fc479a19c94" providerId="ADAL" clId="{5BACBA6C-47AF-465D-B8FF-42F572A60578}" dt="2026-04-30T13:23:09.121" v="1006" actId="403"/>
          <ac:spMkLst>
            <pc:docMk/>
            <pc:sldMk cId="3279804841" sldId="273"/>
            <ac:spMk id="96" creationId="{F83B0704-1788-0BB9-DE51-9BC1518211D2}"/>
          </ac:spMkLst>
        </pc:spChg>
        <pc:picChg chg="add mod">
          <ac:chgData name="An Huynh" userId="75d05052-a575-4016-a87b-6fc479a19c94" providerId="ADAL" clId="{5BACBA6C-47AF-465D-B8FF-42F572A60578}" dt="2026-04-30T02:05:13.631" v="159" actId="14100"/>
          <ac:picMkLst>
            <pc:docMk/>
            <pc:sldMk cId="3279804841" sldId="273"/>
            <ac:picMk id="3" creationId="{856C206C-BC31-FDB8-CE2F-5A55A5AD8A10}"/>
          </ac:picMkLst>
        </pc:picChg>
      </pc:sldChg>
      <pc:sldChg chg="addSp delSp modSp mod">
        <pc:chgData name="An Huynh" userId="75d05052-a575-4016-a87b-6fc479a19c94" providerId="ADAL" clId="{5BACBA6C-47AF-465D-B8FF-42F572A60578}" dt="2026-04-30T02:31:29.243" v="956" actId="27636"/>
        <pc:sldMkLst>
          <pc:docMk/>
          <pc:sldMk cId="3355173984" sldId="275"/>
        </pc:sldMkLst>
        <pc:spChg chg="add del mod">
          <ac:chgData name="An Huynh" userId="75d05052-a575-4016-a87b-6fc479a19c94" providerId="ADAL" clId="{5BACBA6C-47AF-465D-B8FF-42F572A60578}" dt="2026-04-30T01:57:53.664" v="47" actId="478"/>
          <ac:spMkLst>
            <pc:docMk/>
            <pc:sldMk cId="3355173984" sldId="275"/>
            <ac:spMk id="2" creationId="{A216BAB3-56DC-BBE1-9957-D955DE8BA545}"/>
          </ac:spMkLst>
        </pc:spChg>
        <pc:spChg chg="add del mod">
          <ac:chgData name="An Huynh" userId="75d05052-a575-4016-a87b-6fc479a19c94" providerId="ADAL" clId="{5BACBA6C-47AF-465D-B8FF-42F572A60578}" dt="2026-04-30T02:19:52.379" v="365"/>
          <ac:spMkLst>
            <pc:docMk/>
            <pc:sldMk cId="3355173984" sldId="275"/>
            <ac:spMk id="4" creationId="{AF93D5FC-2F1F-C676-1397-3D9EFE36142C}"/>
          </ac:spMkLst>
        </pc:spChg>
        <pc:spChg chg="mod">
          <ac:chgData name="An Huynh" userId="75d05052-a575-4016-a87b-6fc479a19c94" providerId="ADAL" clId="{5BACBA6C-47AF-465D-B8FF-42F572A60578}" dt="2026-04-30T02:31:29.243" v="956" actId="27636"/>
          <ac:spMkLst>
            <pc:docMk/>
            <pc:sldMk cId="3355173984" sldId="275"/>
            <ac:spMk id="96" creationId="{A87696EE-E8C3-8890-0695-A7FCE62ECA0E}"/>
          </ac:spMkLst>
        </pc:spChg>
        <pc:spChg chg="mod">
          <ac:chgData name="An Huynh" userId="75d05052-a575-4016-a87b-6fc479a19c94" providerId="ADAL" clId="{5BACBA6C-47AF-465D-B8FF-42F572A60578}" dt="2026-04-30T02:03:19.801" v="95" actId="122"/>
          <ac:spMkLst>
            <pc:docMk/>
            <pc:sldMk cId="3355173984" sldId="275"/>
            <ac:spMk id="97" creationId="{C018BC81-6E33-DB97-0FE4-0F37056005C9}"/>
          </ac:spMkLst>
        </pc:spChg>
      </pc:sldChg>
      <pc:sldChg chg="addSp modSp mod">
        <pc:chgData name="An Huynh" userId="75d05052-a575-4016-a87b-6fc479a19c94" providerId="ADAL" clId="{5BACBA6C-47AF-465D-B8FF-42F572A60578}" dt="2026-04-30T14:47:05.789" v="2228" actId="20577"/>
        <pc:sldMkLst>
          <pc:docMk/>
          <pc:sldMk cId="3050785399" sldId="276"/>
        </pc:sldMkLst>
        <pc:spChg chg="add mod">
          <ac:chgData name="An Huynh" userId="75d05052-a575-4016-a87b-6fc479a19c94" providerId="ADAL" clId="{5BACBA6C-47AF-465D-B8FF-42F572A60578}" dt="2026-04-30T14:24:28.958" v="1975" actId="1076"/>
          <ac:spMkLst>
            <pc:docMk/>
            <pc:sldMk cId="3050785399" sldId="276"/>
            <ac:spMk id="4" creationId="{1EF49C88-68FA-1B1D-65BE-E4486ABFA75F}"/>
          </ac:spMkLst>
        </pc:spChg>
        <pc:spChg chg="add mod">
          <ac:chgData name="An Huynh" userId="75d05052-a575-4016-a87b-6fc479a19c94" providerId="ADAL" clId="{5BACBA6C-47AF-465D-B8FF-42F572A60578}" dt="2026-04-30T13:43:24.046" v="1069" actId="1076"/>
          <ac:spMkLst>
            <pc:docMk/>
            <pc:sldMk cId="3050785399" sldId="276"/>
            <ac:spMk id="7" creationId="{F05CABCF-592E-0C88-D4CD-E545E0B4BD13}"/>
          </ac:spMkLst>
        </pc:spChg>
        <pc:spChg chg="add mod">
          <ac:chgData name="An Huynh" userId="75d05052-a575-4016-a87b-6fc479a19c94" providerId="ADAL" clId="{5BACBA6C-47AF-465D-B8FF-42F572A60578}" dt="2026-04-30T13:43:30.528" v="1071" actId="1076"/>
          <ac:spMkLst>
            <pc:docMk/>
            <pc:sldMk cId="3050785399" sldId="276"/>
            <ac:spMk id="8" creationId="{5EAB36E5-48CE-EEC3-F3D0-D89B14B20C83}"/>
          </ac:spMkLst>
        </pc:spChg>
        <pc:spChg chg="add mod">
          <ac:chgData name="An Huynh" userId="75d05052-a575-4016-a87b-6fc479a19c94" providerId="ADAL" clId="{5BACBA6C-47AF-465D-B8FF-42F572A60578}" dt="2026-04-30T14:47:05.789" v="2228" actId="20577"/>
          <ac:spMkLst>
            <pc:docMk/>
            <pc:sldMk cId="3050785399" sldId="276"/>
            <ac:spMk id="9" creationId="{CD402BA2-9D9C-B142-8FE5-8920C5F24431}"/>
          </ac:spMkLst>
        </pc:spChg>
        <pc:spChg chg="mod">
          <ac:chgData name="An Huynh" userId="75d05052-a575-4016-a87b-6fc479a19c94" providerId="ADAL" clId="{5BACBA6C-47AF-465D-B8FF-42F572A60578}" dt="2026-04-30T14:24:36.315" v="1977" actId="1076"/>
          <ac:spMkLst>
            <pc:docMk/>
            <pc:sldMk cId="3050785399" sldId="276"/>
            <ac:spMk id="96" creationId="{6999B294-2A12-7D0C-C1AE-27D81F40A2C6}"/>
          </ac:spMkLst>
        </pc:spChg>
        <pc:picChg chg="add mod">
          <ac:chgData name="An Huynh" userId="75d05052-a575-4016-a87b-6fc479a19c94" providerId="ADAL" clId="{5BACBA6C-47AF-465D-B8FF-42F572A60578}" dt="2026-04-30T13:43:25.954" v="1070" actId="1076"/>
          <ac:picMkLst>
            <pc:docMk/>
            <pc:sldMk cId="3050785399" sldId="276"/>
            <ac:picMk id="3" creationId="{D327C488-A455-C8B0-044F-095A5D22A597}"/>
          </ac:picMkLst>
        </pc:picChg>
        <pc:picChg chg="add mod">
          <ac:chgData name="An Huynh" userId="75d05052-a575-4016-a87b-6fc479a19c94" providerId="ADAL" clId="{5BACBA6C-47AF-465D-B8FF-42F572A60578}" dt="2026-04-30T13:42:11.008" v="1065" actId="1076"/>
          <ac:picMkLst>
            <pc:docMk/>
            <pc:sldMk cId="3050785399" sldId="276"/>
            <ac:picMk id="6" creationId="{C8A055A6-D29D-038F-418A-9DAAF31624B2}"/>
          </ac:picMkLst>
        </pc:picChg>
      </pc:sldChg>
      <pc:sldChg chg="modSp mod">
        <pc:chgData name="An Huynh" userId="75d05052-a575-4016-a87b-6fc479a19c94" providerId="ADAL" clId="{5BACBA6C-47AF-465D-B8FF-42F572A60578}" dt="2026-04-30T14:54:11.552" v="2418" actId="27636"/>
        <pc:sldMkLst>
          <pc:docMk/>
          <pc:sldMk cId="1837633993" sldId="277"/>
        </pc:sldMkLst>
        <pc:spChg chg="mod">
          <ac:chgData name="An Huynh" userId="75d05052-a575-4016-a87b-6fc479a19c94" providerId="ADAL" clId="{5BACBA6C-47AF-465D-B8FF-42F572A60578}" dt="2026-04-30T14:54:11.552" v="2418" actId="27636"/>
          <ac:spMkLst>
            <pc:docMk/>
            <pc:sldMk cId="1837633993" sldId="277"/>
            <ac:spMk id="96" creationId="{4447BBBA-2E22-B8FE-2650-7A6F3E633629}"/>
          </ac:spMkLst>
        </pc:spChg>
      </pc:sldChg>
      <pc:sldChg chg="modSp mod">
        <pc:chgData name="An Huynh" userId="75d05052-a575-4016-a87b-6fc479a19c94" providerId="ADAL" clId="{5BACBA6C-47AF-465D-B8FF-42F572A60578}" dt="2026-04-30T15:01:37.331" v="2828" actId="27636"/>
        <pc:sldMkLst>
          <pc:docMk/>
          <pc:sldMk cId="3649888072" sldId="278"/>
        </pc:sldMkLst>
        <pc:spChg chg="mod">
          <ac:chgData name="An Huynh" userId="75d05052-a575-4016-a87b-6fc479a19c94" providerId="ADAL" clId="{5BACBA6C-47AF-465D-B8FF-42F572A60578}" dt="2026-04-30T15:01:37.331" v="2828" actId="27636"/>
          <ac:spMkLst>
            <pc:docMk/>
            <pc:sldMk cId="3649888072" sldId="278"/>
            <ac:spMk id="96" creationId="{D7D9C789-7F0F-314B-5BFA-4CE56A99350F}"/>
          </ac:spMkLst>
        </pc:spChg>
      </pc:sldChg>
      <pc:sldChg chg="modSp mod">
        <pc:chgData name="An Huynh" userId="75d05052-a575-4016-a87b-6fc479a19c94" providerId="ADAL" clId="{5BACBA6C-47AF-465D-B8FF-42F572A60578}" dt="2026-04-30T15:22:35.874" v="3574" actId="27636"/>
        <pc:sldMkLst>
          <pc:docMk/>
          <pc:sldMk cId="905592136" sldId="279"/>
        </pc:sldMkLst>
        <pc:spChg chg="mod">
          <ac:chgData name="An Huynh" userId="75d05052-a575-4016-a87b-6fc479a19c94" providerId="ADAL" clId="{5BACBA6C-47AF-465D-B8FF-42F572A60578}" dt="2026-04-30T15:22:35.874" v="3574" actId="27636"/>
          <ac:spMkLst>
            <pc:docMk/>
            <pc:sldMk cId="905592136" sldId="279"/>
            <ac:spMk id="96" creationId="{93344012-5D5E-C83C-4D37-BB7D2ACECC76}"/>
          </ac:spMkLst>
        </pc:spChg>
      </pc:sldChg>
      <pc:sldChg chg="addSp delSp modSp mod">
        <pc:chgData name="An Huynh" userId="75d05052-a575-4016-a87b-6fc479a19c94" providerId="ADAL" clId="{5BACBA6C-47AF-465D-B8FF-42F572A60578}" dt="2026-04-30T16:59:05.689" v="4703" actId="403"/>
        <pc:sldMkLst>
          <pc:docMk/>
          <pc:sldMk cId="4048708171" sldId="280"/>
        </pc:sldMkLst>
        <pc:spChg chg="add del mod">
          <ac:chgData name="An Huynh" userId="75d05052-a575-4016-a87b-6fc479a19c94" providerId="ADAL" clId="{5BACBA6C-47AF-465D-B8FF-42F572A60578}" dt="2026-04-30T15:35:10.164" v="4346" actId="478"/>
          <ac:spMkLst>
            <pc:docMk/>
            <pc:sldMk cId="4048708171" sldId="280"/>
            <ac:spMk id="2" creationId="{F8540020-A82B-0552-856D-4067AB92EFF4}"/>
          </ac:spMkLst>
        </pc:spChg>
        <pc:spChg chg="mod">
          <ac:chgData name="An Huynh" userId="75d05052-a575-4016-a87b-6fc479a19c94" providerId="ADAL" clId="{5BACBA6C-47AF-465D-B8FF-42F572A60578}" dt="2026-04-30T16:59:05.689" v="4703" actId="403"/>
          <ac:spMkLst>
            <pc:docMk/>
            <pc:sldMk cId="4048708171" sldId="280"/>
            <ac:spMk id="96" creationId="{9735E29E-0944-B1B4-2165-18C86AB27D02}"/>
          </ac:spMkLst>
        </pc:spChg>
      </pc:sldChg>
      <pc:sldChg chg="modSp mod">
        <pc:chgData name="An Huynh" userId="75d05052-a575-4016-a87b-6fc479a19c94" providerId="ADAL" clId="{5BACBA6C-47AF-465D-B8FF-42F572A60578}" dt="2026-04-30T16:16:41.851" v="4694" actId="20577"/>
        <pc:sldMkLst>
          <pc:docMk/>
          <pc:sldMk cId="2034706252" sldId="281"/>
        </pc:sldMkLst>
        <pc:spChg chg="mod">
          <ac:chgData name="An Huynh" userId="75d05052-a575-4016-a87b-6fc479a19c94" providerId="ADAL" clId="{5BACBA6C-47AF-465D-B8FF-42F572A60578}" dt="2026-04-30T16:16:41.851" v="4694" actId="20577"/>
          <ac:spMkLst>
            <pc:docMk/>
            <pc:sldMk cId="2034706252" sldId="281"/>
            <ac:spMk id="96" creationId="{D13B71E4-8C18-7673-D503-D0C7891B90CB}"/>
          </ac:spMkLst>
        </pc:spChg>
      </pc:sldChg>
      <pc:sldChg chg="modSp mod">
        <pc:chgData name="An Huynh" userId="75d05052-a575-4016-a87b-6fc479a19c94" providerId="ADAL" clId="{5BACBA6C-47AF-465D-B8FF-42F572A60578}" dt="2026-04-30T02:31:17.333" v="951" actId="20577"/>
        <pc:sldMkLst>
          <pc:docMk/>
          <pc:sldMk cId="789851464" sldId="282"/>
        </pc:sldMkLst>
        <pc:spChg chg="mod">
          <ac:chgData name="An Huynh" userId="75d05052-a575-4016-a87b-6fc479a19c94" providerId="ADAL" clId="{5BACBA6C-47AF-465D-B8FF-42F572A60578}" dt="2026-04-30T02:31:17.333" v="951" actId="20577"/>
          <ac:spMkLst>
            <pc:docMk/>
            <pc:sldMk cId="789851464" sldId="282"/>
            <ac:spMk id="96" creationId="{84895E27-06B9-2661-6445-C2D8EA743E30}"/>
          </ac:spMkLst>
        </pc:spChg>
      </pc:sldChg>
      <pc:sldChg chg="addSp delSp modSp mod">
        <pc:chgData name="An Huynh" userId="75d05052-a575-4016-a87b-6fc479a19c94" providerId="ADAL" clId="{5BACBA6C-47AF-465D-B8FF-42F572A60578}" dt="2026-04-30T15:09:36.468" v="3064" actId="5793"/>
        <pc:sldMkLst>
          <pc:docMk/>
          <pc:sldMk cId="1699589979" sldId="283"/>
        </pc:sldMkLst>
        <pc:spChg chg="add del mod">
          <ac:chgData name="An Huynh" userId="75d05052-a575-4016-a87b-6fc479a19c94" providerId="ADAL" clId="{5BACBA6C-47AF-465D-B8FF-42F572A60578}" dt="2026-04-30T15:07:39.819" v="2918"/>
          <ac:spMkLst>
            <pc:docMk/>
            <pc:sldMk cId="1699589979" sldId="283"/>
            <ac:spMk id="2" creationId="{C1BA7E22-283E-24EC-D2CD-5CFCE6C2E734}"/>
          </ac:spMkLst>
        </pc:spChg>
        <pc:spChg chg="mod">
          <ac:chgData name="An Huynh" userId="75d05052-a575-4016-a87b-6fc479a19c94" providerId="ADAL" clId="{5BACBA6C-47AF-465D-B8FF-42F572A60578}" dt="2026-04-30T15:09:36.468" v="3064" actId="5793"/>
          <ac:spMkLst>
            <pc:docMk/>
            <pc:sldMk cId="1699589979" sldId="283"/>
            <ac:spMk id="96" creationId="{A121B4F0-CECB-68E3-6B3D-4DE842DB4E3C}"/>
          </ac:spMkLst>
        </pc:spChg>
      </pc:sldChg>
      <pc:sldChg chg="addSp delSp modSp add mod setBg">
        <pc:chgData name="An Huynh" userId="75d05052-a575-4016-a87b-6fc479a19c94" providerId="ADAL" clId="{5BACBA6C-47AF-465D-B8FF-42F572A60578}" dt="2026-04-30T17:02:17.311" v="4712" actId="26606"/>
        <pc:sldMkLst>
          <pc:docMk/>
          <pc:sldMk cId="3715116134" sldId="284"/>
        </pc:sldMkLst>
        <pc:spChg chg="add del mod">
          <ac:chgData name="An Huynh" userId="75d05052-a575-4016-a87b-6fc479a19c94" providerId="ADAL" clId="{5BACBA6C-47AF-465D-B8FF-42F572A60578}" dt="2026-04-30T17:00:28.912" v="4709" actId="478"/>
          <ac:spMkLst>
            <pc:docMk/>
            <pc:sldMk cId="3715116134" sldId="284"/>
            <ac:spMk id="3" creationId="{702A5F4D-9108-5FEC-E048-34AFD614183A}"/>
          </ac:spMkLst>
        </pc:spChg>
        <pc:spChg chg="del mod">
          <ac:chgData name="An Huynh" userId="75d05052-a575-4016-a87b-6fc479a19c94" providerId="ADAL" clId="{5BACBA6C-47AF-465D-B8FF-42F572A60578}" dt="2026-04-30T17:00:24.729" v="4708" actId="478"/>
          <ac:spMkLst>
            <pc:docMk/>
            <pc:sldMk cId="3715116134" sldId="284"/>
            <ac:spMk id="96" creationId="{6B4AC4EB-A123-8764-F336-E57CE22E53F8}"/>
          </ac:spMkLst>
        </pc:spChg>
        <pc:spChg chg="del mod">
          <ac:chgData name="An Huynh" userId="75d05052-a575-4016-a87b-6fc479a19c94" providerId="ADAL" clId="{5BACBA6C-47AF-465D-B8FF-42F572A60578}" dt="2026-04-30T17:00:18.309" v="4707" actId="478"/>
          <ac:spMkLst>
            <pc:docMk/>
            <pc:sldMk cId="3715116134" sldId="284"/>
            <ac:spMk id="97" creationId="{7F2C2286-8496-0C11-8B25-2A76477B94E4}"/>
          </ac:spMkLst>
        </pc:spChg>
        <pc:picChg chg="add mod">
          <ac:chgData name="An Huynh" userId="75d05052-a575-4016-a87b-6fc479a19c94" providerId="ADAL" clId="{5BACBA6C-47AF-465D-B8FF-42F572A60578}" dt="2026-04-30T17:02:17.311" v="4712" actId="26606"/>
          <ac:picMkLst>
            <pc:docMk/>
            <pc:sldMk cId="3715116134" sldId="284"/>
            <ac:picMk id="3074" creationId="{5CB3F209-2AD4-960C-2FF9-E5D102DFC4A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aseline="0" dirty="0"/>
          </a:p>
        </p:txBody>
      </p:sp>
      <p:sp>
        <p:nvSpPr>
          <p:cNvPr id="58" name="Google Shape;5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128445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a Section Header</a:t>
            </a:r>
            <a:r>
              <a:rPr lang="en-US" baseline="0" dirty="0"/>
              <a:t>. </a:t>
            </a:r>
            <a:r>
              <a:rPr lang="en-US" b="1" baseline="0" dirty="0"/>
              <a:t>Repeat this slide for each segment of your presentation. And remember, each group member should present at least one </a:t>
            </a:r>
            <a:r>
              <a:rPr lang="en-US" b="1" baseline="0"/>
              <a:t>segment. </a:t>
            </a:r>
            <a:r>
              <a:rPr lang="en-US" baseline="0"/>
              <a:t>Update </a:t>
            </a:r>
            <a:r>
              <a:rPr lang="en-US" baseline="0" dirty="0"/>
              <a:t>the title; you are not required to do anything else on this slide.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dirty="0"/>
          </a:p>
        </p:txBody>
      </p:sp>
      <p:sp>
        <p:nvSpPr>
          <p:cNvPr id="89" name="Google Shape;8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 slide that will be used </a:t>
            </a:r>
            <a:r>
              <a:rPr lang="en-US" baseline="0" dirty="0"/>
              <a:t>often.  It is set up for a title, subtitle, and text. Do not change the fonts/colors in any way. The only formatting adjustment you should need to make is the size of the text if your presentation has a long title or subtitle.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the Subtitle – If you don’t have one, you can delete that text box or ignore it.</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p:txBody>
      </p:sp>
      <p:sp>
        <p:nvSpPr>
          <p:cNvPr id="64" name="Google Shape;6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20B1AEDF-8D48-F02D-55B2-069958D3FE4B}"/>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3544076E-02CA-A494-9323-99B0AEDDFEB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8F9B4C84-5D73-847F-6C02-477C3DEEE3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7496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D9729EAC-19EB-9041-391D-49797CDEC7E6}"/>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ED3DEC94-AA5B-941E-F040-9E9AACC3D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EA096668-0FDC-4C08-0357-BCD510E20E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61244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1093E49E-0B64-0785-0307-8A54C004626E}"/>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09661981-4BDE-C4B5-CFBD-2D939DC96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3A36DE25-DE82-3CF8-C4D9-066BFFE4ED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96162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90F2C582-6DB9-C5C5-050E-A79CD9765F54}"/>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801A10D8-CBAB-2D90-750C-DFFB8384E2D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2F7CD7A8-6323-940E-2201-8E60B90766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372538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4C5E5E10-C8CF-A99D-5E5D-1A5E62ACD9FF}"/>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390C7DEB-7601-5C6F-BEE0-96F3F408F2E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4853AB09-D486-0D6F-E2BC-1CE21941E9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727273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9DC43EA-7EB0-0226-F2FF-6F968FB1A67E}"/>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E067F006-E7C7-1A89-3350-57E65621CD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5D2C6C0B-E07B-D3EA-5F97-4EB3C33C42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14131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52CB186E-D212-553A-1F20-4422CC20D6F6}"/>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4787D0D8-E906-2B5F-33AB-FDD08BE8F0A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04B7049B-E971-2133-E967-6446E397CB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56957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605D422-7022-41DD-9483-97E07F581E94}"/>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B9230C17-56D8-1F5E-54D7-1A2EF1788F2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DF01F52D-8337-4420-AAA9-99443D813D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44163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65C2926-77EF-3A5E-1A01-66CC94718D57}"/>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855858CF-5293-302F-CD33-1E18C0A9D0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6F17474E-D2A1-E7DB-7F17-427624DC7E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915781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E0C93CB5-92F6-E684-8BF7-E9F92C97263F}"/>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0EE8E1CD-3831-F2EF-9965-75CD24CE7D2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3AD3FE10-D7F9-7494-B4F7-0E2582BF0D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94464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E8EA0DF6-47DD-80B5-4BA4-95148038AADF}"/>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394527A3-3174-7F15-CB96-ED1814551C1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11BAA7DB-32A4-7473-C830-E28F9AF421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722407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836D930-211F-5032-262E-5B2DB8892E9C}"/>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79D9E866-E083-1C19-440E-648CFA98F9E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9F4E4D4D-59F7-4A00-169F-FDC368E11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36357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C9E21695-D800-E552-7A2D-9446AFE4FA32}"/>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CEEB0279-22C3-8DBA-4851-DC4442A5B7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ED7C4531-1744-DBD8-EB0A-E9017BDCF9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964768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9D4ED127-0C96-8951-1C09-E9248234DA19}"/>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557D6893-A768-97FA-D156-7DF9D88DD8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51D9DA99-C2A9-20AA-5C1B-E5951AB9BD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67639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AFBE2BA5-406D-86B4-0402-61FB8EBB2C79}"/>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0AD0FAA4-F44D-8F7A-BF75-B2A865AAD79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1BD416A4-9BF1-8031-EA8F-B144C5F557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06599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14" name="Google Shape;14;p14"/>
          <p:cNvSpPr txBox="1">
            <a:spLocks noGrp="1"/>
          </p:cNvSpPr>
          <p:nvPr>
            <p:ph type="subTitle" idx="1"/>
          </p:nvPr>
        </p:nvSpPr>
        <p:spPr>
          <a:xfrm>
            <a:off x="838200" y="3536724"/>
            <a:ext cx="7200900" cy="1443239"/>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SzPts val="2100"/>
              <a:buNone/>
              <a:defRPr sz="2800">
                <a:solidFill>
                  <a:srgbClr val="FFCC33"/>
                </a:solidFill>
              </a:defRPr>
            </a:lvl1pPr>
            <a:lvl2pPr lvl="1" algn="ctr">
              <a:lnSpc>
                <a:spcPct val="90000"/>
              </a:lnSpc>
              <a:spcBef>
                <a:spcPts val="500"/>
              </a:spcBef>
              <a:spcAft>
                <a:spcPts val="0"/>
              </a:spcAft>
              <a:buSzPts val="1500"/>
              <a:buNone/>
              <a:defRPr sz="2000"/>
            </a:lvl2pPr>
            <a:lvl3pPr lvl="2" algn="ctr">
              <a:lnSpc>
                <a:spcPct val="90000"/>
              </a:lnSpc>
              <a:spcBef>
                <a:spcPts val="500"/>
              </a:spcBef>
              <a:spcAft>
                <a:spcPts val="0"/>
              </a:spcAft>
              <a:buSzPts val="1350"/>
              <a:buNone/>
              <a:defRPr sz="1800"/>
            </a:lvl3pPr>
            <a:lvl4pPr lvl="3" algn="ctr">
              <a:lnSpc>
                <a:spcPct val="90000"/>
              </a:lnSpc>
              <a:spcBef>
                <a:spcPts val="500"/>
              </a:spcBef>
              <a:spcAft>
                <a:spcPts val="0"/>
              </a:spcAft>
              <a:buSzPts val="1200"/>
              <a:buNone/>
              <a:defRPr sz="1600"/>
            </a:lvl4pPr>
            <a:lvl5pPr lvl="4" algn="ctr">
              <a:lnSpc>
                <a:spcPct val="90000"/>
              </a:lnSpc>
              <a:spcBef>
                <a:spcPts val="500"/>
              </a:spcBef>
              <a:spcAft>
                <a:spcPts val="0"/>
              </a:spcAft>
              <a:buSzPts val="12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sp>
        <p:nvSpPr>
          <p:cNvPr id="15" name="Google Shape;15;p14"/>
          <p:cNvSpPr txBox="1">
            <a:spLocks noGrp="1"/>
          </p:cNvSpPr>
          <p:nvPr>
            <p:ph type="ctrTitle"/>
          </p:nvPr>
        </p:nvSpPr>
        <p:spPr>
          <a:xfrm>
            <a:off x="838200" y="802432"/>
            <a:ext cx="7200900" cy="2203677"/>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lt1"/>
              </a:buClr>
              <a:buSzPts val="6000"/>
              <a:buFont typeface="Calibri"/>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ubtitle and Content">
  <p:cSld name="Title Subtitle and Content">
    <p:spTree>
      <p:nvGrpSpPr>
        <p:cNvPr id="1" name="Shape 16"/>
        <p:cNvGrpSpPr/>
        <p:nvPr/>
      </p:nvGrpSpPr>
      <p:grpSpPr>
        <a:xfrm>
          <a:off x="0" y="0"/>
          <a:ext cx="0" cy="0"/>
          <a:chOff x="0" y="0"/>
          <a:chExt cx="0" cy="0"/>
        </a:xfrm>
      </p:grpSpPr>
      <p:sp>
        <p:nvSpPr>
          <p:cNvPr id="17" name="Google Shape;17;p15"/>
          <p:cNvSpPr txBox="1">
            <a:spLocks noGrp="1"/>
          </p:cNvSpPr>
          <p:nvPr>
            <p:ph type="body" idx="1"/>
          </p:nvPr>
        </p:nvSpPr>
        <p:spPr>
          <a:xfrm>
            <a:off x="839788" y="2493818"/>
            <a:ext cx="10515600" cy="4364182"/>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8" name="Google Shape;18;p15"/>
          <p:cNvSpPr txBox="1">
            <a:spLocks noGrp="1"/>
          </p:cNvSpPr>
          <p:nvPr>
            <p:ph type="body" idx="2"/>
          </p:nvPr>
        </p:nvSpPr>
        <p:spPr>
          <a:xfrm>
            <a:off x="839788" y="1828800"/>
            <a:ext cx="10515600" cy="498764"/>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400"/>
              <a:buNone/>
              <a:defRPr sz="3200" b="1">
                <a:solidFill>
                  <a:srgbClr val="006633"/>
                </a:solidFill>
                <a:latin typeface="Calibri"/>
                <a:ea typeface="Calibri"/>
                <a:cs typeface="Calibri"/>
                <a:sym typeface="Calibri"/>
              </a:defRPr>
            </a:lvl1pPr>
            <a:lvl2pPr marL="914400" lvl="1" indent="-228600" algn="l">
              <a:lnSpc>
                <a:spcPct val="90000"/>
              </a:lnSpc>
              <a:spcBef>
                <a:spcPts val="500"/>
              </a:spcBef>
              <a:spcAft>
                <a:spcPts val="0"/>
              </a:spcAft>
              <a:buSzPts val="1500"/>
              <a:buNone/>
              <a:defRPr sz="2000" b="1"/>
            </a:lvl2pPr>
            <a:lvl3pPr marL="1371600" lvl="2" indent="-228600" algn="l">
              <a:lnSpc>
                <a:spcPct val="90000"/>
              </a:lnSpc>
              <a:spcBef>
                <a:spcPts val="500"/>
              </a:spcBef>
              <a:spcAft>
                <a:spcPts val="0"/>
              </a:spcAft>
              <a:buSzPts val="1350"/>
              <a:buNone/>
              <a:defRPr sz="1800" b="1"/>
            </a:lvl3pPr>
            <a:lvl4pPr marL="1828800" lvl="3" indent="-228600" algn="l">
              <a:lnSpc>
                <a:spcPct val="90000"/>
              </a:lnSpc>
              <a:spcBef>
                <a:spcPts val="500"/>
              </a:spcBef>
              <a:spcAft>
                <a:spcPts val="0"/>
              </a:spcAft>
              <a:buSzPts val="1200"/>
              <a:buNone/>
              <a:defRPr sz="1600" b="1"/>
            </a:lvl4pPr>
            <a:lvl5pPr marL="2286000" lvl="4" indent="-228600" algn="l">
              <a:lnSpc>
                <a:spcPct val="90000"/>
              </a:lnSpc>
              <a:spcBef>
                <a:spcPts val="500"/>
              </a:spcBef>
              <a:spcAft>
                <a:spcPts val="0"/>
              </a:spcAft>
              <a:buSzPts val="12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9" name="Google Shape;19;p15"/>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able">
  <p:cSld name="Title and Table">
    <p:spTree>
      <p:nvGrpSpPr>
        <p:cNvPr id="1" name="Shape 20"/>
        <p:cNvGrpSpPr/>
        <p:nvPr/>
      </p:nvGrpSpPr>
      <p:grpSpPr>
        <a:xfrm>
          <a:off x="0" y="0"/>
          <a:ext cx="0" cy="0"/>
          <a:chOff x="0" y="0"/>
          <a:chExt cx="0" cy="0"/>
        </a:xfrm>
      </p:grpSpPr>
      <p:sp>
        <p:nvSpPr>
          <p:cNvPr id="21" name="Google Shape;21;p1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2"/>
        <p:cNvGrpSpPr/>
        <p:nvPr/>
      </p:nvGrpSpPr>
      <p:grpSpPr>
        <a:xfrm>
          <a:off x="0" y="0"/>
          <a:ext cx="0" cy="0"/>
          <a:chOff x="0" y="0"/>
          <a:chExt cx="0" cy="0"/>
        </a:xfrm>
      </p:grpSpPr>
      <p:sp>
        <p:nvSpPr>
          <p:cNvPr id="23" name="Google Shape;23;p17"/>
          <p:cNvSpPr txBox="1">
            <a:spLocks noGrp="1"/>
          </p:cNvSpPr>
          <p:nvPr>
            <p:ph type="body" idx="1"/>
          </p:nvPr>
        </p:nvSpPr>
        <p:spPr>
          <a:xfrm>
            <a:off x="838200" y="1828800"/>
            <a:ext cx="10515600" cy="4711148"/>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4" name="Google Shape;24;p17"/>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Shape 45"/>
        <p:cNvGrpSpPr/>
        <p:nvPr/>
      </p:nvGrpSpPr>
      <p:grpSpPr>
        <a:xfrm>
          <a:off x="0" y="0"/>
          <a:ext cx="0" cy="0"/>
          <a:chOff x="0" y="0"/>
          <a:chExt cx="0" cy="0"/>
        </a:xfrm>
      </p:grpSpPr>
      <p:sp>
        <p:nvSpPr>
          <p:cNvPr id="46" name="Google Shape;46;p23"/>
          <p:cNvSpPr txBox="1">
            <a:spLocks noGrp="1"/>
          </p:cNvSpPr>
          <p:nvPr>
            <p:ph type="body" idx="1"/>
          </p:nvPr>
        </p:nvSpPr>
        <p:spPr>
          <a:xfrm>
            <a:off x="531226" y="4846638"/>
            <a:ext cx="10515600" cy="1629318"/>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800"/>
              <a:buNone/>
              <a:defRPr sz="2400">
                <a:solidFill>
                  <a:schemeClr val="dk1"/>
                </a:solidFill>
              </a:defRPr>
            </a:lvl1pPr>
            <a:lvl2pPr marL="914400" lvl="1" indent="-228600" algn="l">
              <a:lnSpc>
                <a:spcPct val="90000"/>
              </a:lnSpc>
              <a:spcBef>
                <a:spcPts val="500"/>
              </a:spcBef>
              <a:spcAft>
                <a:spcPts val="0"/>
              </a:spcAft>
              <a:buSzPts val="1500"/>
              <a:buNone/>
              <a:defRPr sz="2000">
                <a:solidFill>
                  <a:srgbClr val="888888"/>
                </a:solidFill>
              </a:defRPr>
            </a:lvl2pPr>
            <a:lvl3pPr marL="1371600" lvl="2" indent="-228600" algn="l">
              <a:lnSpc>
                <a:spcPct val="90000"/>
              </a:lnSpc>
              <a:spcBef>
                <a:spcPts val="500"/>
              </a:spcBef>
              <a:spcAft>
                <a:spcPts val="0"/>
              </a:spcAft>
              <a:buSzPts val="1350"/>
              <a:buNone/>
              <a:defRPr sz="1800">
                <a:solidFill>
                  <a:srgbClr val="888888"/>
                </a:solidFill>
              </a:defRPr>
            </a:lvl3pPr>
            <a:lvl4pPr marL="1828800" lvl="3" indent="-228600" algn="l">
              <a:lnSpc>
                <a:spcPct val="90000"/>
              </a:lnSpc>
              <a:spcBef>
                <a:spcPts val="500"/>
              </a:spcBef>
              <a:spcAft>
                <a:spcPts val="0"/>
              </a:spcAft>
              <a:buSzPts val="1200"/>
              <a:buNone/>
              <a:defRPr sz="1600">
                <a:solidFill>
                  <a:srgbClr val="888888"/>
                </a:solidFill>
              </a:defRPr>
            </a:lvl4pPr>
            <a:lvl5pPr marL="2286000" lvl="4" indent="-228600" algn="l">
              <a:lnSpc>
                <a:spcPct val="90000"/>
              </a:lnSpc>
              <a:spcBef>
                <a:spcPts val="500"/>
              </a:spcBef>
              <a:spcAft>
                <a:spcPts val="0"/>
              </a:spcAft>
              <a:buSzPts val="12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dirty="0"/>
          </a:p>
        </p:txBody>
      </p:sp>
      <p:sp>
        <p:nvSpPr>
          <p:cNvPr id="47" name="Google Shape;47;p23"/>
          <p:cNvSpPr txBox="1">
            <a:spLocks noGrp="1"/>
          </p:cNvSpPr>
          <p:nvPr>
            <p:ph type="title"/>
          </p:nvPr>
        </p:nvSpPr>
        <p:spPr>
          <a:xfrm>
            <a:off x="531225" y="4045907"/>
            <a:ext cx="10515600" cy="644427"/>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Section Header">
  <p:cSld name="1_Section Header">
    <p:bg>
      <p:bgPr>
        <a:blipFill>
          <a:blip r:embed="rId2">
            <a:alphaModFix/>
          </a:blip>
          <a:stretch>
            <a:fillRect/>
          </a:stretch>
        </a:blipFill>
        <a:effectLst/>
      </p:bgPr>
    </p:bg>
    <p:spTree>
      <p:nvGrpSpPr>
        <p:cNvPr id="1" name="Shape 48"/>
        <p:cNvGrpSpPr/>
        <p:nvPr/>
      </p:nvGrpSpPr>
      <p:grpSpPr>
        <a:xfrm>
          <a:off x="0" y="0"/>
          <a:ext cx="0" cy="0"/>
          <a:chOff x="0" y="0"/>
          <a:chExt cx="0" cy="0"/>
        </a:xfrm>
      </p:grpSpPr>
      <p:sp>
        <p:nvSpPr>
          <p:cNvPr id="49" name="Google Shape;49;p24"/>
          <p:cNvSpPr txBox="1">
            <a:spLocks noGrp="1"/>
          </p:cNvSpPr>
          <p:nvPr>
            <p:ph type="body" idx="1"/>
          </p:nvPr>
        </p:nvSpPr>
        <p:spPr>
          <a:xfrm>
            <a:off x="838200" y="4864295"/>
            <a:ext cx="7504134" cy="150018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400"/>
              </a:spcBef>
              <a:spcAft>
                <a:spcPts val="0"/>
              </a:spcAft>
              <a:buClr>
                <a:schemeClr val="dk1"/>
              </a:buClr>
              <a:buSzPts val="2000"/>
              <a:buFont typeface="Calibri"/>
              <a:buNone/>
              <a:defRPr sz="2000">
                <a:solidFill>
                  <a:schemeClr val="dk1"/>
                </a:solidFill>
              </a:defRPr>
            </a:lvl1pPr>
            <a:lvl2pPr marL="914400" lvl="1" indent="-228600" algn="l">
              <a:lnSpc>
                <a:spcPct val="90000"/>
              </a:lnSpc>
              <a:spcBef>
                <a:spcPts val="500"/>
              </a:spcBef>
              <a:spcAft>
                <a:spcPts val="0"/>
              </a:spcAft>
              <a:buSzPts val="1500"/>
              <a:buNone/>
              <a:defRPr sz="2000">
                <a:solidFill>
                  <a:srgbClr val="888888"/>
                </a:solidFill>
              </a:defRPr>
            </a:lvl2pPr>
            <a:lvl3pPr marL="1371600" lvl="2" indent="-228600" algn="l">
              <a:lnSpc>
                <a:spcPct val="90000"/>
              </a:lnSpc>
              <a:spcBef>
                <a:spcPts val="500"/>
              </a:spcBef>
              <a:spcAft>
                <a:spcPts val="0"/>
              </a:spcAft>
              <a:buSzPts val="1350"/>
              <a:buNone/>
              <a:defRPr sz="1800">
                <a:solidFill>
                  <a:srgbClr val="888888"/>
                </a:solidFill>
              </a:defRPr>
            </a:lvl3pPr>
            <a:lvl4pPr marL="1828800" lvl="3" indent="-228600" algn="l">
              <a:lnSpc>
                <a:spcPct val="90000"/>
              </a:lnSpc>
              <a:spcBef>
                <a:spcPts val="500"/>
              </a:spcBef>
              <a:spcAft>
                <a:spcPts val="0"/>
              </a:spcAft>
              <a:buSzPts val="1200"/>
              <a:buNone/>
              <a:defRPr sz="1600">
                <a:solidFill>
                  <a:srgbClr val="888888"/>
                </a:solidFill>
              </a:defRPr>
            </a:lvl4pPr>
            <a:lvl5pPr marL="2286000" lvl="4" indent="-228600" algn="l">
              <a:lnSpc>
                <a:spcPct val="90000"/>
              </a:lnSpc>
              <a:spcBef>
                <a:spcPts val="500"/>
              </a:spcBef>
              <a:spcAft>
                <a:spcPts val="0"/>
              </a:spcAft>
              <a:buSzPts val="12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dirty="0"/>
          </a:p>
        </p:txBody>
      </p:sp>
      <p:sp>
        <p:nvSpPr>
          <p:cNvPr id="50" name="Google Shape;50;p24"/>
          <p:cNvSpPr txBox="1">
            <a:spLocks noGrp="1"/>
          </p:cNvSpPr>
          <p:nvPr>
            <p:ph type="title"/>
          </p:nvPr>
        </p:nvSpPr>
        <p:spPr>
          <a:xfrm>
            <a:off x="122724" y="4057812"/>
            <a:ext cx="10515600" cy="531651"/>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1"/>
              </a:buClr>
              <a:buSzPts val="2800"/>
              <a:buFont typeface="Calibri"/>
              <a:buNone/>
              <a:defRPr sz="2800" b="1">
                <a:solidFill>
                  <a:schemeClr val="lt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2_Section Header">
  <p:cSld name="2_Section Header">
    <p:bg>
      <p:bgPr>
        <a:blipFill>
          <a:blip r:embed="rId2">
            <a:alphaModFix/>
          </a:blip>
          <a:stretch>
            <a:fillRect/>
          </a:stretch>
        </a:blipFill>
        <a:effectLst/>
      </p:bgPr>
    </p:bg>
    <p:spTree>
      <p:nvGrpSpPr>
        <p:cNvPr id="1" name="Shape 51"/>
        <p:cNvGrpSpPr/>
        <p:nvPr/>
      </p:nvGrpSpPr>
      <p:grpSpPr>
        <a:xfrm>
          <a:off x="0" y="0"/>
          <a:ext cx="0" cy="0"/>
          <a:chOff x="0" y="0"/>
          <a:chExt cx="0" cy="0"/>
        </a:xfrm>
      </p:grpSpPr>
      <p:sp>
        <p:nvSpPr>
          <p:cNvPr id="52" name="Google Shape;52;p25"/>
          <p:cNvSpPr txBox="1">
            <a:spLocks noGrp="1"/>
          </p:cNvSpPr>
          <p:nvPr>
            <p:ph type="title"/>
          </p:nvPr>
        </p:nvSpPr>
        <p:spPr>
          <a:xfrm>
            <a:off x="0" y="493518"/>
            <a:ext cx="10515600" cy="531651"/>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1"/>
              </a:buClr>
              <a:buSzPts val="2800"/>
              <a:buFont typeface="Calibri"/>
              <a:buNone/>
              <a:defRPr sz="2800" b="1">
                <a:solidFill>
                  <a:schemeClr val="lt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3"/>
        <p:cNvGrpSpPr/>
        <p:nvPr/>
      </p:nvGrpSpPr>
      <p:grpSpPr>
        <a:xfrm>
          <a:off x="0" y="0"/>
          <a:ext cx="0" cy="0"/>
          <a:chOff x="0" y="0"/>
          <a:chExt cx="0" cy="0"/>
        </a:xfrm>
      </p:grpSpPr>
      <p:sp>
        <p:nvSpPr>
          <p:cNvPr id="54" name="Google Shape;54;p26"/>
          <p:cNvSpPr txBox="1">
            <a:spLocks noGrp="1"/>
          </p:cNvSpPr>
          <p:nvPr>
            <p:ph type="body" idx="1"/>
          </p:nvPr>
        </p:nvSpPr>
        <p:spPr>
          <a:xfrm rot="5400000">
            <a:off x="4038600" y="-1371600"/>
            <a:ext cx="4114800" cy="10515600"/>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6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0">
            <a:alphaModFix/>
          </a:blip>
          <a:stretch>
            <a:fillRect/>
          </a:stretch>
        </a:blip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1000"/>
              </a:spcBef>
              <a:spcAft>
                <a:spcPts val="0"/>
              </a:spcAft>
              <a:buClr>
                <a:srgbClr val="006633"/>
              </a:buClr>
              <a:buSzPts val="21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rgbClr val="006633"/>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500"/>
              </a:spcBef>
              <a:spcAft>
                <a:spcPts val="0"/>
              </a:spcAft>
              <a:buClr>
                <a:srgbClr val="006633"/>
              </a:buClr>
              <a:buSzPts val="1500"/>
              <a:buFont typeface="Arial"/>
              <a:buChar char="•"/>
              <a:defRPr sz="20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 name="Google Shape;11;p13"/>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rgbClr val="006633"/>
              </a:buClr>
              <a:buSzPts val="4400"/>
              <a:buFont typeface="Calibri"/>
              <a:buNone/>
              <a:defRPr sz="4400" b="1" i="0" u="none" strike="noStrike" cap="none">
                <a:solidFill>
                  <a:srgbClr val="006633"/>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13"/>
          <p:cNvSpPr txBox="1">
            <a:spLocks noGrp="1"/>
          </p:cNvSpPr>
          <p:nvPr>
            <p:ph type="sldNum" idx="12"/>
          </p:nvPr>
        </p:nvSpPr>
        <p:spPr>
          <a:xfrm>
            <a:off x="838200" y="6260122"/>
            <a:ext cx="2743200" cy="323557"/>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1200" b="0" i="0" u="none" strike="noStrike" cap="none">
                <a:solidFill>
                  <a:srgbClr val="87908F"/>
                </a:solidFill>
                <a:latin typeface="Calibri"/>
                <a:ea typeface="Calibri"/>
                <a:cs typeface="Calibri"/>
                <a:sym typeface="Calibri"/>
              </a:defRPr>
            </a:lvl1pPr>
            <a:lvl2pPr marL="0" marR="0" lvl="1" indent="0" algn="l" rtl="0">
              <a:spcBef>
                <a:spcPts val="0"/>
              </a:spcBef>
              <a:buNone/>
              <a:defRPr sz="1200" b="0" i="0" u="none" strike="noStrike" cap="none">
                <a:solidFill>
                  <a:srgbClr val="87908F"/>
                </a:solidFill>
                <a:latin typeface="Calibri"/>
                <a:ea typeface="Calibri"/>
                <a:cs typeface="Calibri"/>
                <a:sym typeface="Calibri"/>
              </a:defRPr>
            </a:lvl2pPr>
            <a:lvl3pPr marL="0" marR="0" lvl="2" indent="0" algn="l" rtl="0">
              <a:spcBef>
                <a:spcPts val="0"/>
              </a:spcBef>
              <a:buNone/>
              <a:defRPr sz="1200" b="0" i="0" u="none" strike="noStrike" cap="none">
                <a:solidFill>
                  <a:srgbClr val="87908F"/>
                </a:solidFill>
                <a:latin typeface="Calibri"/>
                <a:ea typeface="Calibri"/>
                <a:cs typeface="Calibri"/>
                <a:sym typeface="Calibri"/>
              </a:defRPr>
            </a:lvl3pPr>
            <a:lvl4pPr marL="0" marR="0" lvl="3" indent="0" algn="l" rtl="0">
              <a:spcBef>
                <a:spcPts val="0"/>
              </a:spcBef>
              <a:buNone/>
              <a:defRPr sz="1200" b="0" i="0" u="none" strike="noStrike" cap="none">
                <a:solidFill>
                  <a:srgbClr val="87908F"/>
                </a:solidFill>
                <a:latin typeface="Calibri"/>
                <a:ea typeface="Calibri"/>
                <a:cs typeface="Calibri"/>
                <a:sym typeface="Calibri"/>
              </a:defRPr>
            </a:lvl4pPr>
            <a:lvl5pPr marL="0" marR="0" lvl="4" indent="0" algn="l" rtl="0">
              <a:spcBef>
                <a:spcPts val="0"/>
              </a:spcBef>
              <a:buNone/>
              <a:defRPr sz="1200" b="0" i="0" u="none" strike="noStrike" cap="none">
                <a:solidFill>
                  <a:srgbClr val="87908F"/>
                </a:solidFill>
                <a:latin typeface="Calibri"/>
                <a:ea typeface="Calibri"/>
                <a:cs typeface="Calibri"/>
                <a:sym typeface="Calibri"/>
              </a:defRPr>
            </a:lvl5pPr>
            <a:lvl6pPr marL="0" marR="0" lvl="5" indent="0" algn="l" rtl="0">
              <a:spcBef>
                <a:spcPts val="0"/>
              </a:spcBef>
              <a:buNone/>
              <a:defRPr sz="1200" b="0" i="0" u="none" strike="noStrike" cap="none">
                <a:solidFill>
                  <a:srgbClr val="87908F"/>
                </a:solidFill>
                <a:latin typeface="Calibri"/>
                <a:ea typeface="Calibri"/>
                <a:cs typeface="Calibri"/>
                <a:sym typeface="Calibri"/>
              </a:defRPr>
            </a:lvl6pPr>
            <a:lvl7pPr marL="0" marR="0" lvl="6" indent="0" algn="l" rtl="0">
              <a:spcBef>
                <a:spcPts val="0"/>
              </a:spcBef>
              <a:buNone/>
              <a:defRPr sz="1200" b="0" i="0" u="none" strike="noStrike" cap="none">
                <a:solidFill>
                  <a:srgbClr val="87908F"/>
                </a:solidFill>
                <a:latin typeface="Calibri"/>
                <a:ea typeface="Calibri"/>
                <a:cs typeface="Calibri"/>
                <a:sym typeface="Calibri"/>
              </a:defRPr>
            </a:lvl7pPr>
            <a:lvl8pPr marL="0" marR="0" lvl="7" indent="0" algn="l" rtl="0">
              <a:spcBef>
                <a:spcPts val="0"/>
              </a:spcBef>
              <a:buNone/>
              <a:defRPr sz="1200" b="0" i="0" u="none" strike="noStrike" cap="none">
                <a:solidFill>
                  <a:srgbClr val="87908F"/>
                </a:solidFill>
                <a:latin typeface="Calibri"/>
                <a:ea typeface="Calibri"/>
                <a:cs typeface="Calibri"/>
                <a:sym typeface="Calibri"/>
              </a:defRPr>
            </a:lvl8pPr>
            <a:lvl9pPr marL="0" marR="0" lvl="8" indent="0" algn="l" rtl="0">
              <a:spcBef>
                <a:spcPts val="0"/>
              </a:spcBef>
              <a:buNone/>
              <a:defRPr sz="1200" b="0" i="0" u="none" strike="noStrike" cap="none">
                <a:solidFill>
                  <a:srgbClr val="87908F"/>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8" r:id="rId5"/>
    <p:sldLayoutId id="2147483659" r:id="rId6"/>
    <p:sldLayoutId id="2147483660" r:id="rId7"/>
    <p:sldLayoutId id="2147483661"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annguyenhuynh/AIT736-Team3/tree/main" TargetMode="External"/><Relationship Id="rId2" Type="http://schemas.openxmlformats.org/officeDocument/2006/relationships/notesSlide" Target="../notesSlides/notesSlide18.xml"/><Relationship Id="rId1" Type="http://schemas.openxmlformats.org/officeDocument/2006/relationships/slideLayout" Target="../slideLayouts/slideLayout4.xml"/><Relationship Id="rId5" Type="http://schemas.openxmlformats.org/officeDocument/2006/relationships/hyperlink" Target="https://www.salesforce.com/sales/analytics/customer-churn/" TargetMode="External"/><Relationship Id="rId4" Type="http://schemas.openxmlformats.org/officeDocument/2006/relationships/hyperlink" Target="https://www.kaggle.com/datasets/blastchar/telco-customer-churn"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
          <p:cNvSpPr txBox="1">
            <a:spLocks noGrp="1"/>
          </p:cNvSpPr>
          <p:nvPr>
            <p:ph type="ctrTitle"/>
          </p:nvPr>
        </p:nvSpPr>
        <p:spPr>
          <a:xfrm>
            <a:off x="838200" y="802432"/>
            <a:ext cx="10516566" cy="220367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6000"/>
              <a:buFont typeface="Calibri"/>
              <a:buNone/>
            </a:pPr>
            <a:r>
              <a:rPr lang="en-US" dirty="0"/>
              <a:t>AIT-736 Applied Machine Learning</a:t>
            </a:r>
            <a:endParaRPr dirty="0"/>
          </a:p>
        </p:txBody>
      </p:sp>
      <p:sp>
        <p:nvSpPr>
          <p:cNvPr id="61" name="Google Shape;61;p1"/>
          <p:cNvSpPr txBox="1">
            <a:spLocks noGrp="1"/>
          </p:cNvSpPr>
          <p:nvPr>
            <p:ph type="subTitle" idx="1"/>
          </p:nvPr>
        </p:nvSpPr>
        <p:spPr>
          <a:xfrm>
            <a:off x="731520" y="3536724"/>
            <a:ext cx="7205472" cy="1443239"/>
          </a:xfrm>
          <a:prstGeom prst="rect">
            <a:avLst/>
          </a:prstGeom>
          <a:noFill/>
          <a:ln>
            <a:noFill/>
          </a:ln>
        </p:spPr>
        <p:txBody>
          <a:bodyPr spcFirstLastPara="1" wrap="square" lIns="91425" tIns="45700" rIns="91425" bIns="45700" anchor="t" anchorCtr="0">
            <a:normAutofit fontScale="70000" lnSpcReduction="20000"/>
          </a:bodyPr>
          <a:lstStyle/>
          <a:p>
            <a:pPr marL="0" lvl="0" indent="0" rtl="0">
              <a:lnSpc>
                <a:spcPct val="90000"/>
              </a:lnSpc>
              <a:spcBef>
                <a:spcPts val="0"/>
              </a:spcBef>
              <a:spcAft>
                <a:spcPts val="0"/>
              </a:spcAft>
              <a:buSzPts val="2100"/>
              <a:buNone/>
            </a:pPr>
            <a:r>
              <a:rPr lang="en-US" sz="3400" b="1" dirty="0"/>
              <a:t>Group Presentation: Team 3 – An Huynh</a:t>
            </a:r>
          </a:p>
          <a:p>
            <a:pPr marL="0" lvl="0" indent="0" rtl="0">
              <a:lnSpc>
                <a:spcPct val="90000"/>
              </a:lnSpc>
              <a:spcBef>
                <a:spcPts val="0"/>
              </a:spcBef>
              <a:spcAft>
                <a:spcPts val="0"/>
              </a:spcAft>
              <a:buSzPts val="2100"/>
              <a:buNone/>
            </a:pPr>
            <a:r>
              <a:rPr lang="en-US" sz="3400" b="1" dirty="0"/>
              <a:t>Telco Customer Churn Prediction</a:t>
            </a:r>
          </a:p>
          <a:p>
            <a:pPr marL="0" lvl="0" indent="0">
              <a:spcBef>
                <a:spcPts val="0"/>
              </a:spcBef>
            </a:pPr>
            <a:r>
              <a:rPr lang="en-US" sz="3200" dirty="0"/>
              <a:t>Course: AIT736 Applied Machine Learning (Spring 2026)</a:t>
            </a:r>
            <a:endParaRPr lang="en-US" sz="3200" b="1" dirty="0"/>
          </a:p>
          <a:p>
            <a:pPr marL="0" lvl="0" indent="0" rtl="0">
              <a:lnSpc>
                <a:spcPct val="90000"/>
              </a:lnSpc>
              <a:spcBef>
                <a:spcPts val="0"/>
              </a:spcBef>
              <a:spcAft>
                <a:spcPts val="0"/>
              </a:spcAft>
              <a:buSzPts val="2100"/>
              <a:buNone/>
            </a:pPr>
            <a:endParaRPr lang="en-US" dirty="0"/>
          </a:p>
          <a:p>
            <a:pPr marL="0" lvl="0" indent="0" rtl="0">
              <a:lnSpc>
                <a:spcPct val="90000"/>
              </a:lnSpc>
              <a:spcBef>
                <a:spcPts val="0"/>
              </a:spcBef>
              <a:spcAft>
                <a:spcPts val="0"/>
              </a:spcAft>
              <a:buSzPts val="2100"/>
              <a:buNone/>
            </a:pPr>
            <a:r>
              <a:rPr lang="en-US" dirty="0"/>
              <a:t>Faculty Course Developer: Dr. Emanuela Marasco</a:t>
            </a:r>
          </a:p>
        </p:txBody>
      </p:sp>
    </p:spTree>
    <p:extLst>
      <p:ext uri="{BB962C8B-B14F-4D97-AF65-F5344CB8AC3E}">
        <p14:creationId xmlns:p14="http://schemas.microsoft.com/office/powerpoint/2010/main" val="33257776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Introduction/Motivation</a:t>
            </a:r>
            <a:endParaRPr dirty="0"/>
          </a:p>
        </p:txBody>
      </p:sp>
      <p:sp>
        <p:nvSpPr>
          <p:cNvPr id="2" name="TextBox 1">
            <a:extLst>
              <a:ext uri="{FF2B5EF4-FFF2-40B4-BE49-F238E27FC236}">
                <a16:creationId xmlns:a16="http://schemas.microsoft.com/office/drawing/2014/main" id="{7CF2D029-C269-57F6-BA63-7480209B09D2}"/>
              </a:ext>
            </a:extLst>
          </p:cNvPr>
          <p:cNvSpPr txBox="1"/>
          <p:nvPr/>
        </p:nvSpPr>
        <p:spPr>
          <a:xfrm>
            <a:off x="672353" y="1909482"/>
            <a:ext cx="11228294" cy="483209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Customer churn is the rate/percentage of customers who end relationship with a business. </a:t>
            </a:r>
          </a:p>
          <a:p>
            <a:pPr marL="285750" indent="-28575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Customer churn matters because it impacts a company’s revenue, profit, and growth. </a:t>
            </a:r>
          </a:p>
          <a:p>
            <a:pPr marL="285750" indent="-28575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Customer churn prediction is useful as it helps the company to save on high acquisition cost, consolidate the company’s position in the industry, and strengthen company’s lifetime value.</a:t>
            </a:r>
          </a:p>
          <a:p>
            <a:pPr marL="285750" indent="-285750">
              <a:buFont typeface="Arial" panose="020B0604020202020204" pitchFamily="34" charset="0"/>
              <a:buChar char="•"/>
            </a:pPr>
            <a:endParaRPr lang="en-US" dirty="0">
              <a:latin typeface="+mn-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2"/>
          <p:cNvSpPr txBox="1">
            <a:spLocks noGrp="1"/>
          </p:cNvSpPr>
          <p:nvPr>
            <p:ph type="body" idx="1"/>
          </p:nvPr>
        </p:nvSpPr>
        <p:spPr>
          <a:xfrm>
            <a:off x="839788" y="1909482"/>
            <a:ext cx="10515600" cy="4061827"/>
          </a:xfrm>
          <a:prstGeom prst="rect">
            <a:avLst/>
          </a:prstGeom>
          <a:noFill/>
          <a:ln>
            <a:noFill/>
          </a:ln>
        </p:spPr>
        <p:txBody>
          <a:bodyPr spcFirstLastPara="1" wrap="square" lIns="91425" tIns="45700" rIns="91425" bIns="45700" anchor="t" anchorCtr="0">
            <a:normAutofit fontScale="85000" lnSpcReduction="20000"/>
          </a:bodyPr>
          <a:lstStyle/>
          <a:p>
            <a:pPr marL="590550" indent="-457200">
              <a:lnSpc>
                <a:spcPct val="150000"/>
              </a:lnSpc>
              <a:spcBef>
                <a:spcPts val="0"/>
              </a:spcBef>
              <a:buSzPts val="2100"/>
            </a:pPr>
            <a:r>
              <a:rPr lang="en-US" dirty="0">
                <a:solidFill>
                  <a:srgbClr val="000000"/>
                </a:solidFill>
              </a:rPr>
              <a:t>Problem statement: This project aims at building different machine learning models to predict customer churn at Telco company by analyzing customer related factors.</a:t>
            </a:r>
          </a:p>
          <a:p>
            <a:pPr marL="590550" indent="-457200">
              <a:lnSpc>
                <a:spcPct val="150000"/>
              </a:lnSpc>
              <a:spcBef>
                <a:spcPts val="0"/>
              </a:spcBef>
              <a:buSzPts val="2100"/>
            </a:pPr>
            <a:r>
              <a:rPr lang="en-US" dirty="0">
                <a:solidFill>
                  <a:srgbClr val="000000"/>
                </a:solidFill>
              </a:rPr>
              <a:t>Target variable: Churn (Yes/No)</a:t>
            </a:r>
          </a:p>
          <a:p>
            <a:pPr marL="590550" indent="-457200">
              <a:lnSpc>
                <a:spcPct val="150000"/>
              </a:lnSpc>
              <a:spcBef>
                <a:spcPts val="0"/>
              </a:spcBef>
              <a:buSzPts val="2100"/>
            </a:pPr>
            <a:r>
              <a:rPr lang="en-US" dirty="0">
                <a:solidFill>
                  <a:srgbClr val="000000"/>
                </a:solidFill>
              </a:rPr>
              <a:t>Business goal: The primary goal is to maximize churn detection (recall) while minimizing the number of missed churner, enabling the company to proactively retain customers</a:t>
            </a:r>
          </a:p>
          <a:p>
            <a:pPr marL="590550" indent="-457200">
              <a:lnSpc>
                <a:spcPct val="150000"/>
              </a:lnSpc>
              <a:spcBef>
                <a:spcPts val="0"/>
              </a:spcBef>
              <a:buSzPts val="2100"/>
            </a:pPr>
            <a:r>
              <a:rPr lang="en-US" dirty="0">
                <a:solidFill>
                  <a:srgbClr val="000000"/>
                </a:solidFill>
              </a:rPr>
              <a:t>Challenge: class imbalance</a:t>
            </a:r>
            <a:endParaRPr dirty="0">
              <a:solidFill>
                <a:srgbClr val="000000"/>
              </a:solidFill>
            </a:endParaRPr>
          </a:p>
        </p:txBody>
      </p:sp>
      <p:sp>
        <p:nvSpPr>
          <p:cNvPr id="68" name="Google Shape;68;p2"/>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Problem Statement/Business Goal</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7"/>
          <p:cNvSpPr txBox="1">
            <a:spLocks noGrp="1"/>
          </p:cNvSpPr>
          <p:nvPr>
            <p:ph type="body" idx="1"/>
          </p:nvPr>
        </p:nvSpPr>
        <p:spPr>
          <a:xfrm>
            <a:off x="838199" y="1828799"/>
            <a:ext cx="4110991" cy="3760471"/>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Clr>
                <a:srgbClr val="000000"/>
              </a:buClr>
              <a:buSzPts val="2100"/>
              <a:buFont typeface="Arial" panose="020B0604020202020204" pitchFamily="34" charset="0"/>
              <a:buChar char="•"/>
            </a:pPr>
            <a:r>
              <a:rPr lang="en-US" sz="2400" dirty="0">
                <a:solidFill>
                  <a:srgbClr val="000000"/>
                </a:solidFill>
              </a:rPr>
              <a:t>Dataset name: Telco Customer Churn</a:t>
            </a:r>
          </a:p>
          <a:p>
            <a:pPr marL="590550" indent="-457200">
              <a:lnSpc>
                <a:spcPct val="90000"/>
              </a:lnSpc>
              <a:spcBef>
                <a:spcPts val="0"/>
              </a:spcBef>
              <a:buClr>
                <a:srgbClr val="000000"/>
              </a:buClr>
              <a:buSzPts val="2100"/>
              <a:buFont typeface="Arial" panose="020B0604020202020204" pitchFamily="34" charset="0"/>
              <a:buChar char="•"/>
            </a:pPr>
            <a:r>
              <a:rPr lang="en-US" sz="2400" dirty="0">
                <a:solidFill>
                  <a:srgbClr val="000000"/>
                </a:solidFill>
              </a:rPr>
              <a:t>Source: Kaggle</a:t>
            </a:r>
          </a:p>
          <a:p>
            <a:pPr marL="590550" indent="-457200">
              <a:lnSpc>
                <a:spcPct val="90000"/>
              </a:lnSpc>
              <a:spcBef>
                <a:spcPts val="0"/>
              </a:spcBef>
              <a:buClr>
                <a:srgbClr val="000000"/>
              </a:buClr>
              <a:buSzPts val="2100"/>
              <a:buFont typeface="Arial" panose="020B0604020202020204" pitchFamily="34" charset="0"/>
              <a:buChar char="•"/>
            </a:pPr>
            <a:endParaRPr lang="en-US" sz="2400" dirty="0">
              <a:solidFill>
                <a:srgbClr val="000000"/>
              </a:solidFill>
            </a:endParaRPr>
          </a:p>
          <a:p>
            <a:pPr marL="590550" indent="-457200">
              <a:lnSpc>
                <a:spcPct val="90000"/>
              </a:lnSpc>
              <a:spcBef>
                <a:spcPts val="0"/>
              </a:spcBef>
              <a:buClr>
                <a:srgbClr val="000000"/>
              </a:buClr>
              <a:buSzPts val="2100"/>
              <a:buFont typeface="Arial" panose="020B0604020202020204" pitchFamily="34" charset="0"/>
              <a:buChar char="•"/>
            </a:pPr>
            <a:r>
              <a:rPr lang="en-US" sz="2400" dirty="0">
                <a:solidFill>
                  <a:srgbClr val="000000"/>
                </a:solidFill>
              </a:rPr>
              <a:t>Size: 7043 rows, 21 columns</a:t>
            </a:r>
          </a:p>
          <a:p>
            <a:pPr marL="590550" indent="-457200">
              <a:lnSpc>
                <a:spcPct val="90000"/>
              </a:lnSpc>
              <a:spcBef>
                <a:spcPts val="0"/>
              </a:spcBef>
              <a:buClr>
                <a:srgbClr val="000000"/>
              </a:buClr>
              <a:buSzPts val="2100"/>
              <a:buFont typeface="Arial" panose="020B0604020202020204" pitchFamily="34" charset="0"/>
              <a:buChar char="•"/>
            </a:pPr>
            <a:endParaRPr lang="en-US" sz="2400" dirty="0">
              <a:solidFill>
                <a:srgbClr val="000000"/>
              </a:solidFill>
            </a:endParaRPr>
          </a:p>
          <a:p>
            <a:pPr marL="590550" indent="-457200">
              <a:lnSpc>
                <a:spcPct val="90000"/>
              </a:lnSpc>
              <a:spcBef>
                <a:spcPts val="0"/>
              </a:spcBef>
              <a:buClr>
                <a:srgbClr val="000000"/>
              </a:buClr>
              <a:buSzPts val="2100"/>
              <a:buFont typeface="Arial" panose="020B0604020202020204" pitchFamily="34" charset="0"/>
              <a:buChar char="•"/>
            </a:pPr>
            <a:r>
              <a:rPr lang="en-US" sz="2400" dirty="0">
                <a:solidFill>
                  <a:srgbClr val="000000"/>
                </a:solidFill>
              </a:rPr>
              <a:t>Feature types: There are 20 independent features. </a:t>
            </a:r>
          </a:p>
        </p:txBody>
      </p:sp>
      <p:sp>
        <p:nvSpPr>
          <p:cNvPr id="97" name="Google Shape;97;p7"/>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Dataset Description</a:t>
            </a:r>
            <a:endParaRPr dirty="0"/>
          </a:p>
        </p:txBody>
      </p:sp>
      <p:pic>
        <p:nvPicPr>
          <p:cNvPr id="3" name="Picture 2">
            <a:extLst>
              <a:ext uri="{FF2B5EF4-FFF2-40B4-BE49-F238E27FC236}">
                <a16:creationId xmlns:a16="http://schemas.microsoft.com/office/drawing/2014/main" id="{2BC88856-E273-7FCC-68B7-02A5B2831DC2}"/>
              </a:ext>
            </a:extLst>
          </p:cNvPr>
          <p:cNvPicPr>
            <a:picLocks noChangeAspect="1"/>
          </p:cNvPicPr>
          <p:nvPr/>
        </p:nvPicPr>
        <p:blipFill>
          <a:blip r:embed="rId3"/>
          <a:stretch>
            <a:fillRect/>
          </a:stretch>
        </p:blipFill>
        <p:spPr>
          <a:xfrm>
            <a:off x="5274029" y="1801066"/>
            <a:ext cx="4262298" cy="989046"/>
          </a:xfrm>
          <a:prstGeom prst="rect">
            <a:avLst/>
          </a:prstGeom>
        </p:spPr>
      </p:pic>
      <p:pic>
        <p:nvPicPr>
          <p:cNvPr id="6" name="Picture 5">
            <a:extLst>
              <a:ext uri="{FF2B5EF4-FFF2-40B4-BE49-F238E27FC236}">
                <a16:creationId xmlns:a16="http://schemas.microsoft.com/office/drawing/2014/main" id="{60C0A333-7C7D-AB48-38BD-F042E2A66C8A}"/>
              </a:ext>
            </a:extLst>
          </p:cNvPr>
          <p:cNvPicPr>
            <a:picLocks noChangeAspect="1"/>
          </p:cNvPicPr>
          <p:nvPr/>
        </p:nvPicPr>
        <p:blipFill>
          <a:blip r:embed="rId4"/>
          <a:stretch>
            <a:fillRect/>
          </a:stretch>
        </p:blipFill>
        <p:spPr>
          <a:xfrm>
            <a:off x="5171159" y="3333879"/>
            <a:ext cx="6563641" cy="18671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28C029E-1034-89DC-D7A2-63B016445F50}"/>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79EF9916-657D-A356-C8CB-EE41BF232E89}"/>
              </a:ext>
            </a:extLst>
          </p:cNvPr>
          <p:cNvSpPr txBox="1">
            <a:spLocks noGrp="1"/>
          </p:cNvSpPr>
          <p:nvPr>
            <p:ph type="body" idx="1"/>
          </p:nvPr>
        </p:nvSpPr>
        <p:spPr>
          <a:xfrm>
            <a:off x="838200" y="1828800"/>
            <a:ext cx="3799114" cy="2388638"/>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sz="2000" dirty="0">
                <a:solidFill>
                  <a:srgbClr val="000000"/>
                </a:solidFill>
              </a:rPr>
              <a:t>Check missing values</a:t>
            </a:r>
          </a:p>
          <a:p>
            <a:pPr marL="590550" indent="-457200">
              <a:lnSpc>
                <a:spcPct val="90000"/>
              </a:lnSpc>
              <a:spcBef>
                <a:spcPts val="0"/>
              </a:spcBef>
              <a:buSzPts val="2100"/>
            </a:pPr>
            <a:r>
              <a:rPr lang="en-US" sz="2000" dirty="0">
                <a:solidFill>
                  <a:srgbClr val="000000"/>
                </a:solidFill>
              </a:rPr>
              <a:t>Check data type of each feature</a:t>
            </a:r>
          </a:p>
          <a:p>
            <a:pPr marL="590550" indent="-457200">
              <a:lnSpc>
                <a:spcPct val="90000"/>
              </a:lnSpc>
              <a:spcBef>
                <a:spcPts val="0"/>
              </a:spcBef>
              <a:buSzPts val="2100"/>
            </a:pPr>
            <a:r>
              <a:rPr lang="en-US" sz="2000" dirty="0">
                <a:solidFill>
                  <a:srgbClr val="000000"/>
                </a:solidFill>
              </a:rPr>
              <a:t>Understand data distribution using descriptive statistics</a:t>
            </a:r>
          </a:p>
          <a:p>
            <a:pPr marL="590550" indent="-457200">
              <a:lnSpc>
                <a:spcPct val="90000"/>
              </a:lnSpc>
              <a:spcBef>
                <a:spcPts val="0"/>
              </a:spcBef>
              <a:buSzPts val="2100"/>
            </a:pPr>
            <a:r>
              <a:rPr lang="en-US" sz="2000" dirty="0">
                <a:solidFill>
                  <a:srgbClr val="000000"/>
                </a:solidFill>
              </a:rPr>
              <a:t>Check the values in categorical features</a:t>
            </a:r>
          </a:p>
          <a:p>
            <a:pPr marL="590550" indent="-457200">
              <a:lnSpc>
                <a:spcPct val="90000"/>
              </a:lnSpc>
              <a:spcBef>
                <a:spcPts val="0"/>
              </a:spcBef>
              <a:buSzPts val="2100"/>
            </a:pPr>
            <a:endParaRPr lang="en-US" dirty="0">
              <a:solidFill>
                <a:srgbClr val="000000"/>
              </a:solidFill>
            </a:endParaRPr>
          </a:p>
        </p:txBody>
      </p:sp>
      <p:sp>
        <p:nvSpPr>
          <p:cNvPr id="97" name="Google Shape;97;p7">
            <a:extLst>
              <a:ext uri="{FF2B5EF4-FFF2-40B4-BE49-F238E27FC236}">
                <a16:creationId xmlns:a16="http://schemas.microsoft.com/office/drawing/2014/main" id="{B132F64C-766A-6C66-FCB4-B2F61AEBA58E}"/>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Exploratory Data Analysis</a:t>
            </a:r>
            <a:endParaRPr dirty="0"/>
          </a:p>
        </p:txBody>
      </p:sp>
      <p:pic>
        <p:nvPicPr>
          <p:cNvPr id="3" name="Picture 2">
            <a:extLst>
              <a:ext uri="{FF2B5EF4-FFF2-40B4-BE49-F238E27FC236}">
                <a16:creationId xmlns:a16="http://schemas.microsoft.com/office/drawing/2014/main" id="{D274203B-337D-013A-DB29-DAE2A3AD47CB}"/>
              </a:ext>
            </a:extLst>
          </p:cNvPr>
          <p:cNvPicPr>
            <a:picLocks noChangeAspect="1"/>
          </p:cNvPicPr>
          <p:nvPr/>
        </p:nvPicPr>
        <p:blipFill>
          <a:blip r:embed="rId3"/>
          <a:stretch>
            <a:fillRect/>
          </a:stretch>
        </p:blipFill>
        <p:spPr>
          <a:xfrm>
            <a:off x="4637314" y="1828800"/>
            <a:ext cx="2353003" cy="714475"/>
          </a:xfrm>
          <a:prstGeom prst="rect">
            <a:avLst/>
          </a:prstGeom>
        </p:spPr>
      </p:pic>
      <p:pic>
        <p:nvPicPr>
          <p:cNvPr id="5" name="Picture 4">
            <a:extLst>
              <a:ext uri="{FF2B5EF4-FFF2-40B4-BE49-F238E27FC236}">
                <a16:creationId xmlns:a16="http://schemas.microsoft.com/office/drawing/2014/main" id="{0D0135E7-2538-3C40-1619-FF5D36297DD3}"/>
              </a:ext>
            </a:extLst>
          </p:cNvPr>
          <p:cNvPicPr>
            <a:picLocks noChangeAspect="1"/>
          </p:cNvPicPr>
          <p:nvPr/>
        </p:nvPicPr>
        <p:blipFill>
          <a:blip r:embed="rId4"/>
          <a:stretch>
            <a:fillRect/>
          </a:stretch>
        </p:blipFill>
        <p:spPr>
          <a:xfrm>
            <a:off x="719707" y="5196360"/>
            <a:ext cx="3296110" cy="714475"/>
          </a:xfrm>
          <a:prstGeom prst="rect">
            <a:avLst/>
          </a:prstGeom>
        </p:spPr>
      </p:pic>
      <p:pic>
        <p:nvPicPr>
          <p:cNvPr id="7" name="Picture 6">
            <a:extLst>
              <a:ext uri="{FF2B5EF4-FFF2-40B4-BE49-F238E27FC236}">
                <a16:creationId xmlns:a16="http://schemas.microsoft.com/office/drawing/2014/main" id="{EE978D28-7CD5-B324-C506-CDC298B9BE10}"/>
              </a:ext>
            </a:extLst>
          </p:cNvPr>
          <p:cNvPicPr>
            <a:picLocks noChangeAspect="1"/>
          </p:cNvPicPr>
          <p:nvPr/>
        </p:nvPicPr>
        <p:blipFill>
          <a:blip r:embed="rId5"/>
          <a:stretch>
            <a:fillRect/>
          </a:stretch>
        </p:blipFill>
        <p:spPr>
          <a:xfrm>
            <a:off x="719707" y="4336453"/>
            <a:ext cx="2981741" cy="676369"/>
          </a:xfrm>
          <a:prstGeom prst="rect">
            <a:avLst/>
          </a:prstGeom>
        </p:spPr>
      </p:pic>
      <p:pic>
        <p:nvPicPr>
          <p:cNvPr id="8" name="Picture 7">
            <a:extLst>
              <a:ext uri="{FF2B5EF4-FFF2-40B4-BE49-F238E27FC236}">
                <a16:creationId xmlns:a16="http://schemas.microsoft.com/office/drawing/2014/main" id="{11D32B43-6D97-D07D-541D-7F8B28109CBC}"/>
              </a:ext>
            </a:extLst>
          </p:cNvPr>
          <p:cNvPicPr>
            <a:picLocks noChangeAspect="1"/>
          </p:cNvPicPr>
          <p:nvPr/>
        </p:nvPicPr>
        <p:blipFill>
          <a:blip r:embed="rId6"/>
          <a:stretch>
            <a:fillRect/>
          </a:stretch>
        </p:blipFill>
        <p:spPr>
          <a:xfrm>
            <a:off x="8548914" y="1783901"/>
            <a:ext cx="3032449" cy="3769696"/>
          </a:xfrm>
          <a:prstGeom prst="rect">
            <a:avLst/>
          </a:prstGeom>
        </p:spPr>
      </p:pic>
      <p:pic>
        <p:nvPicPr>
          <p:cNvPr id="12" name="Picture 11">
            <a:extLst>
              <a:ext uri="{FF2B5EF4-FFF2-40B4-BE49-F238E27FC236}">
                <a16:creationId xmlns:a16="http://schemas.microsoft.com/office/drawing/2014/main" id="{1B72B12C-AE1A-EC74-A13A-9D841AB184BE}"/>
              </a:ext>
            </a:extLst>
          </p:cNvPr>
          <p:cNvPicPr>
            <a:picLocks noChangeAspect="1"/>
          </p:cNvPicPr>
          <p:nvPr/>
        </p:nvPicPr>
        <p:blipFill>
          <a:blip r:embed="rId7"/>
          <a:stretch>
            <a:fillRect/>
          </a:stretch>
        </p:blipFill>
        <p:spPr>
          <a:xfrm>
            <a:off x="4637314" y="2696546"/>
            <a:ext cx="3797741" cy="3214290"/>
          </a:xfrm>
          <a:prstGeom prst="rect">
            <a:avLst/>
          </a:prstGeom>
        </p:spPr>
      </p:pic>
    </p:spTree>
    <p:extLst>
      <p:ext uri="{BB962C8B-B14F-4D97-AF65-F5344CB8AC3E}">
        <p14:creationId xmlns:p14="http://schemas.microsoft.com/office/powerpoint/2010/main" val="13762911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B3BA4B89-D9E8-647D-1388-E6A29CBD0CA9}"/>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6DAA00DE-A237-7490-0F82-0DEF7DC04885}"/>
              </a:ext>
            </a:extLst>
          </p:cNvPr>
          <p:cNvSpPr txBox="1">
            <a:spLocks noGrp="1"/>
          </p:cNvSpPr>
          <p:nvPr>
            <p:ph type="body" idx="1"/>
          </p:nvPr>
        </p:nvSpPr>
        <p:spPr>
          <a:xfrm>
            <a:off x="838200" y="1828801"/>
            <a:ext cx="4384198" cy="2136710"/>
          </a:xfrm>
          <a:prstGeom prst="rect">
            <a:avLst/>
          </a:prstGeom>
          <a:noFill/>
          <a:ln>
            <a:noFill/>
          </a:ln>
        </p:spPr>
        <p:txBody>
          <a:bodyPr spcFirstLastPara="1" wrap="square" lIns="91425" tIns="45700" rIns="91425" bIns="45700" anchor="t" anchorCtr="0">
            <a:normAutofit fontScale="92500"/>
          </a:bodyPr>
          <a:lstStyle/>
          <a:p>
            <a:pPr marL="590550" indent="-457200">
              <a:lnSpc>
                <a:spcPct val="90000"/>
              </a:lnSpc>
              <a:spcBef>
                <a:spcPts val="0"/>
              </a:spcBef>
              <a:buClr>
                <a:srgbClr val="000000"/>
              </a:buClr>
              <a:buSzPts val="2100"/>
            </a:pPr>
            <a:r>
              <a:rPr lang="en-US" sz="1600" dirty="0">
                <a:solidFill>
                  <a:srgbClr val="000000"/>
                </a:solidFill>
              </a:rPr>
              <a:t>Encoding categorical variables</a:t>
            </a:r>
          </a:p>
          <a:p>
            <a:pPr marL="876300" lvl="1" indent="-285750">
              <a:spcBef>
                <a:spcPts val="0"/>
              </a:spcBef>
              <a:buClr>
                <a:srgbClr val="000000"/>
              </a:buClr>
              <a:buSzPts val="2100"/>
              <a:buFont typeface="Arial" panose="020B0604020202020204" pitchFamily="34" charset="0"/>
              <a:buChar char="•"/>
            </a:pPr>
            <a:r>
              <a:rPr lang="en-US" sz="1600" dirty="0">
                <a:solidFill>
                  <a:srgbClr val="000000"/>
                </a:solidFill>
              </a:rPr>
              <a:t>For columns with two unique categories, map one value to 1 and the other to 0.</a:t>
            </a:r>
          </a:p>
          <a:p>
            <a:pPr marL="876300" lvl="2" indent="-285750">
              <a:spcBef>
                <a:spcPts val="0"/>
              </a:spcBef>
              <a:buClr>
                <a:srgbClr val="000000"/>
              </a:buClr>
              <a:buSzPts val="2100"/>
            </a:pPr>
            <a:r>
              <a:rPr lang="en-US" sz="1500" dirty="0">
                <a:solidFill>
                  <a:srgbClr val="000000"/>
                </a:solidFill>
              </a:rPr>
              <a:t>For columns with three unique values or more, apply one-hot encoding. </a:t>
            </a:r>
          </a:p>
          <a:p>
            <a:pPr marL="590550" indent="-457200">
              <a:lnSpc>
                <a:spcPct val="90000"/>
              </a:lnSpc>
              <a:spcBef>
                <a:spcPts val="0"/>
              </a:spcBef>
              <a:buClr>
                <a:srgbClr val="000000"/>
              </a:buClr>
              <a:buSzPts val="2100"/>
            </a:pPr>
            <a:r>
              <a:rPr lang="en-US" sz="1600" dirty="0">
                <a:solidFill>
                  <a:srgbClr val="000000"/>
                </a:solidFill>
              </a:rPr>
              <a:t>Convert ‘</a:t>
            </a:r>
            <a:r>
              <a:rPr lang="en-US" sz="1600" dirty="0" err="1">
                <a:solidFill>
                  <a:srgbClr val="000000"/>
                </a:solidFill>
              </a:rPr>
              <a:t>TotalCharges</a:t>
            </a:r>
            <a:r>
              <a:rPr lang="en-US" sz="1600" dirty="0">
                <a:solidFill>
                  <a:srgbClr val="000000"/>
                </a:solidFill>
              </a:rPr>
              <a:t>’ column to numeric type. </a:t>
            </a:r>
          </a:p>
          <a:p>
            <a:pPr marL="590550" indent="-457200">
              <a:lnSpc>
                <a:spcPct val="90000"/>
              </a:lnSpc>
              <a:spcBef>
                <a:spcPts val="0"/>
              </a:spcBef>
              <a:buClr>
                <a:srgbClr val="000000"/>
              </a:buClr>
              <a:buSzPts val="2100"/>
            </a:pPr>
            <a:r>
              <a:rPr lang="en-US" sz="1600" dirty="0">
                <a:solidFill>
                  <a:srgbClr val="000000"/>
                </a:solidFill>
              </a:rPr>
              <a:t>Handling missing values (drop 11 rows with null values)</a:t>
            </a:r>
          </a:p>
          <a:p>
            <a:pPr marL="590550" indent="-457200">
              <a:lnSpc>
                <a:spcPct val="90000"/>
              </a:lnSpc>
              <a:spcBef>
                <a:spcPts val="0"/>
              </a:spcBef>
              <a:buClr>
                <a:srgbClr val="000000"/>
              </a:buClr>
              <a:buSzPts val="2100"/>
            </a:pPr>
            <a:r>
              <a:rPr lang="en-US" sz="1600" dirty="0">
                <a:solidFill>
                  <a:srgbClr val="000000"/>
                </a:solidFill>
              </a:rPr>
              <a:t>Transform Boolean values into 1 and 0</a:t>
            </a:r>
          </a:p>
        </p:txBody>
      </p:sp>
      <p:sp>
        <p:nvSpPr>
          <p:cNvPr id="97" name="Google Shape;97;p7">
            <a:extLst>
              <a:ext uri="{FF2B5EF4-FFF2-40B4-BE49-F238E27FC236}">
                <a16:creationId xmlns:a16="http://schemas.microsoft.com/office/drawing/2014/main" id="{13A6A0C3-4469-32D4-BAE4-B837717EE04A}"/>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Dataset Preparation and Cleaning</a:t>
            </a:r>
            <a:endParaRPr dirty="0"/>
          </a:p>
        </p:txBody>
      </p:sp>
      <p:pic>
        <p:nvPicPr>
          <p:cNvPr id="3" name="Picture 2">
            <a:extLst>
              <a:ext uri="{FF2B5EF4-FFF2-40B4-BE49-F238E27FC236}">
                <a16:creationId xmlns:a16="http://schemas.microsoft.com/office/drawing/2014/main" id="{780B8B1A-DF7F-63A6-8ECB-F7B7FC4666A3}"/>
              </a:ext>
            </a:extLst>
          </p:cNvPr>
          <p:cNvPicPr>
            <a:picLocks noChangeAspect="1"/>
          </p:cNvPicPr>
          <p:nvPr/>
        </p:nvPicPr>
        <p:blipFill>
          <a:blip r:embed="rId3"/>
          <a:stretch>
            <a:fillRect/>
          </a:stretch>
        </p:blipFill>
        <p:spPr>
          <a:xfrm>
            <a:off x="5537024" y="1828800"/>
            <a:ext cx="5991943" cy="1739142"/>
          </a:xfrm>
          <a:prstGeom prst="rect">
            <a:avLst/>
          </a:prstGeom>
        </p:spPr>
      </p:pic>
      <p:pic>
        <p:nvPicPr>
          <p:cNvPr id="5" name="Picture 4">
            <a:extLst>
              <a:ext uri="{FF2B5EF4-FFF2-40B4-BE49-F238E27FC236}">
                <a16:creationId xmlns:a16="http://schemas.microsoft.com/office/drawing/2014/main" id="{721401BE-71B2-09CE-C28B-0EB0417CD81E}"/>
              </a:ext>
            </a:extLst>
          </p:cNvPr>
          <p:cNvPicPr>
            <a:picLocks noChangeAspect="1"/>
          </p:cNvPicPr>
          <p:nvPr/>
        </p:nvPicPr>
        <p:blipFill>
          <a:blip r:embed="rId4"/>
          <a:stretch>
            <a:fillRect/>
          </a:stretch>
        </p:blipFill>
        <p:spPr>
          <a:xfrm>
            <a:off x="5537024" y="3429000"/>
            <a:ext cx="5991943" cy="1507252"/>
          </a:xfrm>
          <a:prstGeom prst="rect">
            <a:avLst/>
          </a:prstGeom>
        </p:spPr>
      </p:pic>
      <p:pic>
        <p:nvPicPr>
          <p:cNvPr id="7" name="Picture 6">
            <a:extLst>
              <a:ext uri="{FF2B5EF4-FFF2-40B4-BE49-F238E27FC236}">
                <a16:creationId xmlns:a16="http://schemas.microsoft.com/office/drawing/2014/main" id="{2B40D631-AE2C-7569-4705-572B544C5BF7}"/>
              </a:ext>
            </a:extLst>
          </p:cNvPr>
          <p:cNvPicPr>
            <a:picLocks noChangeAspect="1"/>
          </p:cNvPicPr>
          <p:nvPr/>
        </p:nvPicPr>
        <p:blipFill>
          <a:blip r:embed="rId5"/>
          <a:stretch>
            <a:fillRect/>
          </a:stretch>
        </p:blipFill>
        <p:spPr>
          <a:xfrm>
            <a:off x="813137" y="4114800"/>
            <a:ext cx="4409261" cy="2579417"/>
          </a:xfrm>
          <a:prstGeom prst="rect">
            <a:avLst/>
          </a:prstGeom>
        </p:spPr>
      </p:pic>
      <p:sp>
        <p:nvSpPr>
          <p:cNvPr id="10" name="TextBox 9">
            <a:extLst>
              <a:ext uri="{FF2B5EF4-FFF2-40B4-BE49-F238E27FC236}">
                <a16:creationId xmlns:a16="http://schemas.microsoft.com/office/drawing/2014/main" id="{974CDE1E-B863-54F5-3DFF-39E87F2C075B}"/>
              </a:ext>
            </a:extLst>
          </p:cNvPr>
          <p:cNvSpPr txBox="1"/>
          <p:nvPr/>
        </p:nvSpPr>
        <p:spPr>
          <a:xfrm>
            <a:off x="5537023" y="5113176"/>
            <a:ext cx="5991943" cy="646331"/>
          </a:xfrm>
          <a:prstGeom prst="rect">
            <a:avLst/>
          </a:prstGeom>
          <a:noFill/>
        </p:spPr>
        <p:txBody>
          <a:bodyPr wrap="square" rtlCol="0">
            <a:spAutoFit/>
          </a:bodyPr>
          <a:lstStyle/>
          <a:p>
            <a:pPr marL="133350">
              <a:lnSpc>
                <a:spcPct val="90000"/>
              </a:lnSpc>
              <a:buSzPts val="2100"/>
            </a:pPr>
            <a:r>
              <a:rPr lang="en-US" sz="2000" dirty="0">
                <a:latin typeface="Calibri"/>
                <a:ea typeface="Calibri"/>
                <a:cs typeface="Calibri"/>
                <a:sym typeface="Calibri"/>
              </a:rPr>
              <a:t>After the transformation and cleaning, the final dataset has 31 columns with 7032 rows. </a:t>
            </a:r>
          </a:p>
        </p:txBody>
      </p:sp>
    </p:spTree>
    <p:extLst>
      <p:ext uri="{BB962C8B-B14F-4D97-AF65-F5344CB8AC3E}">
        <p14:creationId xmlns:p14="http://schemas.microsoft.com/office/powerpoint/2010/main" val="20243433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571C434B-C169-7AE7-6C92-DE7A9D63BD65}"/>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F83B0704-1788-0BB9-DE51-9BC1518211D2}"/>
              </a:ext>
            </a:extLst>
          </p:cNvPr>
          <p:cNvSpPr txBox="1">
            <a:spLocks noGrp="1"/>
          </p:cNvSpPr>
          <p:nvPr>
            <p:ph type="body" idx="1"/>
          </p:nvPr>
        </p:nvSpPr>
        <p:spPr>
          <a:xfrm>
            <a:off x="5383763" y="1726162"/>
            <a:ext cx="6428792" cy="4217438"/>
          </a:xfrm>
          <a:prstGeom prst="rect">
            <a:avLst/>
          </a:prstGeom>
          <a:noFill/>
          <a:ln>
            <a:noFill/>
          </a:ln>
        </p:spPr>
        <p:txBody>
          <a:bodyPr spcFirstLastPara="1" wrap="square" lIns="91425" tIns="45700" rIns="91425" bIns="45700" anchor="t" anchorCtr="0">
            <a:normAutofit fontScale="92500"/>
          </a:bodyPr>
          <a:lstStyle/>
          <a:p>
            <a:pPr>
              <a:lnSpc>
                <a:spcPct val="150000"/>
              </a:lnSpc>
              <a:buClr>
                <a:srgbClr val="000000"/>
              </a:buClr>
            </a:pPr>
            <a:r>
              <a:rPr lang="en-US" sz="1800" dirty="0">
                <a:solidFill>
                  <a:srgbClr val="000000"/>
                </a:solidFill>
              </a:rPr>
              <a:t>Positive (higher the value = higher the churn likelihood)</a:t>
            </a:r>
          </a:p>
          <a:p>
            <a:pPr lvl="1">
              <a:lnSpc>
                <a:spcPct val="150000"/>
              </a:lnSpc>
              <a:buClr>
                <a:srgbClr val="000000"/>
              </a:buClr>
            </a:pPr>
            <a:r>
              <a:rPr lang="en-US" sz="1800" dirty="0">
                <a:solidFill>
                  <a:srgbClr val="000000"/>
                </a:solidFill>
              </a:rPr>
              <a:t>Customer who use fiber optic internet is more likely to churn.</a:t>
            </a:r>
          </a:p>
          <a:p>
            <a:pPr lvl="1">
              <a:lnSpc>
                <a:spcPct val="150000"/>
              </a:lnSpc>
              <a:buClr>
                <a:srgbClr val="000000"/>
              </a:buClr>
            </a:pPr>
            <a:r>
              <a:rPr lang="en-US" sz="1800" dirty="0">
                <a:solidFill>
                  <a:srgbClr val="000000"/>
                </a:solidFill>
              </a:rPr>
              <a:t>Customers who pay electronically also churn more compared to those who mail checks or use credit card.</a:t>
            </a:r>
          </a:p>
          <a:p>
            <a:pPr>
              <a:lnSpc>
                <a:spcPct val="150000"/>
              </a:lnSpc>
              <a:buClr>
                <a:srgbClr val="000000"/>
              </a:buClr>
            </a:pPr>
            <a:r>
              <a:rPr lang="en-US" sz="1800" dirty="0">
                <a:solidFill>
                  <a:srgbClr val="000000"/>
                </a:solidFill>
              </a:rPr>
              <a:t>Negative (higher the value = lower the churn probability)</a:t>
            </a:r>
          </a:p>
          <a:p>
            <a:pPr lvl="1">
              <a:lnSpc>
                <a:spcPct val="150000"/>
              </a:lnSpc>
              <a:buClr>
                <a:srgbClr val="000000"/>
              </a:buClr>
            </a:pPr>
            <a:r>
              <a:rPr lang="en-US" sz="1800" dirty="0">
                <a:solidFill>
                  <a:srgbClr val="000000"/>
                </a:solidFill>
              </a:rPr>
              <a:t>Customers who stay longer are less likely to churn.</a:t>
            </a:r>
          </a:p>
          <a:p>
            <a:pPr lvl="1">
              <a:lnSpc>
                <a:spcPct val="150000"/>
              </a:lnSpc>
              <a:buClr>
                <a:srgbClr val="000000"/>
              </a:buClr>
            </a:pPr>
            <a:r>
              <a:rPr lang="en-US" sz="1800" dirty="0">
                <a:solidFill>
                  <a:srgbClr val="000000"/>
                </a:solidFill>
              </a:rPr>
              <a:t>Customers who have 2-year contract are also less likely to churn compared to those who contracted for 1 year only.</a:t>
            </a:r>
          </a:p>
          <a:p>
            <a:pPr marL="133350" indent="0">
              <a:lnSpc>
                <a:spcPct val="150000"/>
              </a:lnSpc>
              <a:spcBef>
                <a:spcPts val="0"/>
              </a:spcBef>
              <a:buSzPts val="2100"/>
              <a:buNone/>
            </a:pPr>
            <a:endParaRPr lang="en-US" sz="1800" dirty="0">
              <a:solidFill>
                <a:srgbClr val="000000"/>
              </a:solidFill>
            </a:endParaRPr>
          </a:p>
        </p:txBody>
      </p:sp>
      <p:sp>
        <p:nvSpPr>
          <p:cNvPr id="97" name="Google Shape;97;p7">
            <a:extLst>
              <a:ext uri="{FF2B5EF4-FFF2-40B4-BE49-F238E27FC236}">
                <a16:creationId xmlns:a16="http://schemas.microsoft.com/office/drawing/2014/main" id="{43020209-81C1-A326-AF7A-E4F040CBAB8D}"/>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Dataset Visualization</a:t>
            </a:r>
            <a:endParaRPr dirty="0"/>
          </a:p>
        </p:txBody>
      </p:sp>
      <p:pic>
        <p:nvPicPr>
          <p:cNvPr id="3" name="Picture 2">
            <a:extLst>
              <a:ext uri="{FF2B5EF4-FFF2-40B4-BE49-F238E27FC236}">
                <a16:creationId xmlns:a16="http://schemas.microsoft.com/office/drawing/2014/main" id="{856C206C-BC31-FDB8-CE2F-5A55A5AD8A10}"/>
              </a:ext>
            </a:extLst>
          </p:cNvPr>
          <p:cNvPicPr>
            <a:picLocks noChangeAspect="1"/>
          </p:cNvPicPr>
          <p:nvPr/>
        </p:nvPicPr>
        <p:blipFill>
          <a:blip r:embed="rId3"/>
          <a:stretch>
            <a:fillRect/>
          </a:stretch>
        </p:blipFill>
        <p:spPr>
          <a:xfrm>
            <a:off x="717365" y="1586204"/>
            <a:ext cx="4069239" cy="5131046"/>
          </a:xfrm>
          <a:prstGeom prst="rect">
            <a:avLst/>
          </a:prstGeom>
        </p:spPr>
      </p:pic>
    </p:spTree>
    <p:extLst>
      <p:ext uri="{BB962C8B-B14F-4D97-AF65-F5344CB8AC3E}">
        <p14:creationId xmlns:p14="http://schemas.microsoft.com/office/powerpoint/2010/main" val="3279804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4E46CF19-62A2-AEC3-FE7F-6D34443D002B}"/>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95D219DD-FBDE-66E7-ECE8-FB875C16BB16}"/>
              </a:ext>
            </a:extLst>
          </p:cNvPr>
          <p:cNvSpPr txBox="1">
            <a:spLocks noGrp="1"/>
          </p:cNvSpPr>
          <p:nvPr>
            <p:ph type="body" idx="1"/>
          </p:nvPr>
        </p:nvSpPr>
        <p:spPr>
          <a:xfrm>
            <a:off x="838200" y="1828799"/>
            <a:ext cx="6411686" cy="4898571"/>
          </a:xfrm>
          <a:prstGeom prst="rect">
            <a:avLst/>
          </a:prstGeom>
          <a:noFill/>
          <a:ln>
            <a:noFill/>
          </a:ln>
        </p:spPr>
        <p:txBody>
          <a:bodyPr spcFirstLastPara="1" wrap="square" lIns="91425" tIns="45700" rIns="91425" bIns="45700" anchor="t" anchorCtr="0">
            <a:normAutofit fontScale="92500" lnSpcReduction="10000"/>
          </a:bodyPr>
          <a:lstStyle/>
          <a:p>
            <a:pPr>
              <a:lnSpc>
                <a:spcPct val="150000"/>
              </a:lnSpc>
              <a:buClr>
                <a:srgbClr val="000000"/>
              </a:buClr>
              <a:buSzPct val="100000"/>
              <a:buFont typeface="Arial" panose="020B0604020202020204" pitchFamily="34" charset="0"/>
              <a:buChar char="•"/>
            </a:pPr>
            <a:r>
              <a:rPr lang="en-US" sz="2000" dirty="0">
                <a:solidFill>
                  <a:srgbClr val="000000"/>
                </a:solidFill>
              </a:rPr>
              <a:t>VIF - Variance Inflation Vector quantify the extent of correlation between a predictor to other predictors in a model. In other words, it measures multicollinearity problem.</a:t>
            </a:r>
          </a:p>
          <a:p>
            <a:pPr>
              <a:lnSpc>
                <a:spcPct val="160000"/>
              </a:lnSpc>
              <a:buClr>
                <a:srgbClr val="000000"/>
              </a:buClr>
              <a:buSzPct val="100000"/>
              <a:buFont typeface="Arial" panose="020B0604020202020204" pitchFamily="34" charset="0"/>
              <a:buChar char="•"/>
            </a:pPr>
            <a:r>
              <a:rPr lang="en-US" sz="2000" dirty="0">
                <a:solidFill>
                  <a:srgbClr val="000000"/>
                </a:solidFill>
              </a:rPr>
              <a:t>VIF ranges from 1 to infinite, which 1 indicates no collinearity, and infinitive indicates perfect collinearity. In case of VIF &gt; 5 to inf, predictor(s) need to be removed.</a:t>
            </a:r>
          </a:p>
          <a:p>
            <a:pPr>
              <a:lnSpc>
                <a:spcPct val="160000"/>
              </a:lnSpc>
              <a:buClr>
                <a:srgbClr val="000000"/>
              </a:buClr>
              <a:buSzPct val="100000"/>
              <a:buFont typeface="Arial" panose="020B0604020202020204" pitchFamily="34" charset="0"/>
              <a:buChar char="•"/>
            </a:pPr>
            <a:r>
              <a:rPr lang="en-US" sz="2100" dirty="0">
                <a:solidFill>
                  <a:srgbClr val="000000"/>
                </a:solidFill>
              </a:rPr>
              <a:t>Due to multicollinearity, we decided to go with tree-based models as tree-based models handle multicollinearity better than regression models. </a:t>
            </a:r>
          </a:p>
        </p:txBody>
      </p:sp>
      <p:sp>
        <p:nvSpPr>
          <p:cNvPr id="97" name="Google Shape;97;p7">
            <a:extLst>
              <a:ext uri="{FF2B5EF4-FFF2-40B4-BE49-F238E27FC236}">
                <a16:creationId xmlns:a16="http://schemas.microsoft.com/office/drawing/2014/main" id="{FA2C7981-F6F6-65C8-FF62-D2C559BD6F67}"/>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Multicollinearity Analysis (VIF)</a:t>
            </a:r>
            <a:endParaRPr dirty="0"/>
          </a:p>
        </p:txBody>
      </p:sp>
      <p:pic>
        <p:nvPicPr>
          <p:cNvPr id="3" name="Picture 2">
            <a:extLst>
              <a:ext uri="{FF2B5EF4-FFF2-40B4-BE49-F238E27FC236}">
                <a16:creationId xmlns:a16="http://schemas.microsoft.com/office/drawing/2014/main" id="{13C163EA-B84D-1A49-3B01-2746BE00CEFA}"/>
              </a:ext>
            </a:extLst>
          </p:cNvPr>
          <p:cNvPicPr>
            <a:picLocks noChangeAspect="1"/>
          </p:cNvPicPr>
          <p:nvPr/>
        </p:nvPicPr>
        <p:blipFill>
          <a:blip r:embed="rId3"/>
          <a:stretch>
            <a:fillRect/>
          </a:stretch>
        </p:blipFill>
        <p:spPr>
          <a:xfrm>
            <a:off x="7727975" y="1828799"/>
            <a:ext cx="4381416" cy="4096140"/>
          </a:xfrm>
          <a:prstGeom prst="rect">
            <a:avLst/>
          </a:prstGeom>
        </p:spPr>
      </p:pic>
    </p:spTree>
    <p:extLst>
      <p:ext uri="{BB962C8B-B14F-4D97-AF65-F5344CB8AC3E}">
        <p14:creationId xmlns:p14="http://schemas.microsoft.com/office/powerpoint/2010/main" val="28342029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F6F7301D-C962-29E6-5507-F2754EF8EC48}"/>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E9F0994C-C424-A3E5-9BC2-03F0A2BDEB96}"/>
              </a:ext>
            </a:extLst>
          </p:cNvPr>
          <p:cNvSpPr txBox="1">
            <a:spLocks noGrp="1"/>
          </p:cNvSpPr>
          <p:nvPr>
            <p:ph type="body" idx="1"/>
          </p:nvPr>
        </p:nvSpPr>
        <p:spPr>
          <a:xfrm>
            <a:off x="838200" y="4814596"/>
            <a:ext cx="7675563" cy="1514389"/>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a:p>
            <a:pPr marL="590550" indent="-457200">
              <a:lnSpc>
                <a:spcPct val="90000"/>
              </a:lnSpc>
              <a:spcBef>
                <a:spcPts val="0"/>
              </a:spcBef>
              <a:buSzPts val="2100"/>
            </a:pPr>
            <a:r>
              <a:rPr lang="en-US" dirty="0">
                <a:solidFill>
                  <a:srgbClr val="000000"/>
                </a:solidFill>
              </a:rPr>
              <a:t>Random state ensures reproducibility. </a:t>
            </a:r>
          </a:p>
          <a:p>
            <a:pPr marL="133350" indent="0">
              <a:lnSpc>
                <a:spcPct val="90000"/>
              </a:lnSpc>
              <a:spcBef>
                <a:spcPts val="0"/>
              </a:spcBef>
              <a:buSzPts val="2100"/>
              <a:buNone/>
            </a:pPr>
            <a:endParaRPr lang="en-US" dirty="0">
              <a:solidFill>
                <a:srgbClr val="000000"/>
              </a:solidFill>
            </a:endParaRPr>
          </a:p>
          <a:p>
            <a:pPr marL="133350" indent="0">
              <a:lnSpc>
                <a:spcPct val="90000"/>
              </a:lnSpc>
              <a:spcBef>
                <a:spcPts val="0"/>
              </a:spcBef>
              <a:buSzPts val="2100"/>
              <a:buNone/>
            </a:pPr>
            <a:endParaRPr lang="en-US" dirty="0">
              <a:solidFill>
                <a:srgbClr val="000000"/>
              </a:solidFill>
            </a:endParaRPr>
          </a:p>
        </p:txBody>
      </p:sp>
      <p:sp>
        <p:nvSpPr>
          <p:cNvPr id="97" name="Google Shape;97;p7">
            <a:extLst>
              <a:ext uri="{FF2B5EF4-FFF2-40B4-BE49-F238E27FC236}">
                <a16:creationId xmlns:a16="http://schemas.microsoft.com/office/drawing/2014/main" id="{0ECDD2A7-67DF-B22F-9993-B707F5420D39}"/>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Train/Test Split</a:t>
            </a:r>
            <a:endParaRPr dirty="0"/>
          </a:p>
        </p:txBody>
      </p:sp>
      <p:pic>
        <p:nvPicPr>
          <p:cNvPr id="3" name="Picture 2">
            <a:extLst>
              <a:ext uri="{FF2B5EF4-FFF2-40B4-BE49-F238E27FC236}">
                <a16:creationId xmlns:a16="http://schemas.microsoft.com/office/drawing/2014/main" id="{71D921E7-4C8B-141D-8969-1AC90B23BFC2}"/>
              </a:ext>
            </a:extLst>
          </p:cNvPr>
          <p:cNvPicPr>
            <a:picLocks noChangeAspect="1"/>
          </p:cNvPicPr>
          <p:nvPr/>
        </p:nvPicPr>
        <p:blipFill>
          <a:blip r:embed="rId3"/>
          <a:stretch>
            <a:fillRect/>
          </a:stretch>
        </p:blipFill>
        <p:spPr>
          <a:xfrm>
            <a:off x="838200" y="1940767"/>
            <a:ext cx="7675563" cy="2438120"/>
          </a:xfrm>
          <a:prstGeom prst="rect">
            <a:avLst/>
          </a:prstGeom>
        </p:spPr>
      </p:pic>
      <p:sp>
        <p:nvSpPr>
          <p:cNvPr id="4" name="Google Shape;96;p7">
            <a:extLst>
              <a:ext uri="{FF2B5EF4-FFF2-40B4-BE49-F238E27FC236}">
                <a16:creationId xmlns:a16="http://schemas.microsoft.com/office/drawing/2014/main" id="{11073C42-174E-B100-6D6B-754BF2C584A4}"/>
              </a:ext>
            </a:extLst>
          </p:cNvPr>
          <p:cNvSpPr txBox="1">
            <a:spLocks/>
          </p:cNvSpPr>
          <p:nvPr/>
        </p:nvSpPr>
        <p:spPr>
          <a:xfrm>
            <a:off x="8798767" y="1940767"/>
            <a:ext cx="2976465" cy="3259214"/>
          </a:xfrm>
          <a:prstGeom prst="rect">
            <a:avLst/>
          </a:prstGeom>
          <a:noFill/>
          <a:ln>
            <a:noFill/>
          </a:ln>
        </p:spPr>
        <p:txBody>
          <a:bodyPr spcFirstLastPara="1" wrap="square" lIns="91425" tIns="45700" rIns="91425" bIns="45700" anchor="t" anchorCtr="0">
            <a:normAutofit fontScale="92500" lnSpcReduction="20000"/>
          </a:bodyPr>
          <a:lstStyle>
            <a:defPPr marR="0" lvl="0" algn="l" rtl="0">
              <a:lnSpc>
                <a:spcPct val="100000"/>
              </a:lnSpc>
              <a:spcBef>
                <a:spcPts val="0"/>
              </a:spcBef>
              <a:spcAft>
                <a:spcPts val="0"/>
              </a:spcAft>
            </a:defPPr>
            <a:lvl1pPr marL="457200" marR="0" lvl="0" indent="-314325" algn="l" rtl="0">
              <a:lnSpc>
                <a:spcPct val="100000"/>
              </a:lnSpc>
              <a:spcBef>
                <a:spcPts val="1000"/>
              </a:spcBef>
              <a:spcAft>
                <a:spcPts val="0"/>
              </a:spcAft>
              <a:buClr>
                <a:srgbClr val="006633"/>
              </a:buClr>
              <a:buSzPts val="1350"/>
              <a:buFont typeface="Arial"/>
              <a:buChar char="•"/>
              <a:defRPr sz="2800" b="0" i="0" u="none" strike="noStrike" cap="none">
                <a:solidFill>
                  <a:schemeClr val="dk1"/>
                </a:solidFill>
                <a:latin typeface="Calibri"/>
                <a:ea typeface="Calibri"/>
                <a:cs typeface="Calibri"/>
                <a:sym typeface="Calibri"/>
              </a:defRPr>
            </a:lvl1pPr>
            <a:lvl2pPr marL="914400" marR="0" lvl="1" indent="-314325" algn="l" rtl="0">
              <a:lnSpc>
                <a:spcPct val="90000"/>
              </a:lnSpc>
              <a:spcBef>
                <a:spcPts val="500"/>
              </a:spcBef>
              <a:spcAft>
                <a:spcPts val="0"/>
              </a:spcAft>
              <a:buClr>
                <a:srgbClr val="006633"/>
              </a:buClr>
              <a:buSzPts val="1350"/>
              <a:buFont typeface="Arial"/>
              <a:buChar char="•"/>
              <a:defRPr sz="2400" b="0" i="0" u="none" strike="noStrike" cap="none">
                <a:solidFill>
                  <a:schemeClr val="dk1"/>
                </a:solidFill>
                <a:latin typeface="Calibri"/>
                <a:ea typeface="Calibri"/>
                <a:cs typeface="Calibri"/>
                <a:sym typeface="Calibri"/>
              </a:defRPr>
            </a:lvl2pPr>
            <a:lvl3pPr marL="1371600" marR="0" lvl="2" indent="-314325" algn="l" rtl="0">
              <a:lnSpc>
                <a:spcPct val="90000"/>
              </a:lnSpc>
              <a:spcBef>
                <a:spcPts val="500"/>
              </a:spcBef>
              <a:spcAft>
                <a:spcPts val="0"/>
              </a:spcAft>
              <a:buClr>
                <a:srgbClr val="006633"/>
              </a:buClr>
              <a:buSzPts val="1350"/>
              <a:buFont typeface="Arial"/>
              <a:buChar char="•"/>
              <a:defRPr sz="20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476250" indent="-342900">
              <a:lnSpc>
                <a:spcPct val="90000"/>
              </a:lnSpc>
              <a:spcBef>
                <a:spcPts val="0"/>
              </a:spcBef>
              <a:buClr>
                <a:srgbClr val="000000"/>
              </a:buClr>
              <a:buSzPts val="2100"/>
            </a:pPr>
            <a:r>
              <a:rPr lang="en-US" dirty="0">
                <a:solidFill>
                  <a:srgbClr val="000000"/>
                </a:solidFill>
              </a:rPr>
              <a:t>X is independent variable, including all features except for “Churn”</a:t>
            </a:r>
          </a:p>
          <a:p>
            <a:pPr marL="133350" indent="0">
              <a:lnSpc>
                <a:spcPct val="90000"/>
              </a:lnSpc>
              <a:spcBef>
                <a:spcPts val="0"/>
              </a:spcBef>
              <a:buClr>
                <a:srgbClr val="000000"/>
              </a:buClr>
              <a:buSzPts val="2100"/>
              <a:buNone/>
            </a:pPr>
            <a:endParaRPr lang="en-US" dirty="0">
              <a:solidFill>
                <a:srgbClr val="000000"/>
              </a:solidFill>
            </a:endParaRPr>
          </a:p>
          <a:p>
            <a:pPr marL="476250" indent="-342900">
              <a:lnSpc>
                <a:spcPct val="90000"/>
              </a:lnSpc>
              <a:spcBef>
                <a:spcPts val="0"/>
              </a:spcBef>
              <a:buClr>
                <a:srgbClr val="000000"/>
              </a:buClr>
              <a:buSzPts val="2100"/>
            </a:pPr>
            <a:r>
              <a:rPr lang="en-US" dirty="0">
                <a:solidFill>
                  <a:srgbClr val="000000"/>
                </a:solidFill>
              </a:rPr>
              <a:t>y is the dependent factor, or the target variable, which is </a:t>
            </a:r>
            <a:r>
              <a:rPr lang="en-US">
                <a:solidFill>
                  <a:srgbClr val="000000"/>
                </a:solidFill>
              </a:rPr>
              <a:t>“Churn”</a:t>
            </a:r>
            <a:endParaRPr lang="en-US" dirty="0">
              <a:solidFill>
                <a:srgbClr val="000000"/>
              </a:solidFill>
            </a:endParaRPr>
          </a:p>
        </p:txBody>
      </p:sp>
    </p:spTree>
    <p:extLst>
      <p:ext uri="{BB962C8B-B14F-4D97-AF65-F5344CB8AC3E}">
        <p14:creationId xmlns:p14="http://schemas.microsoft.com/office/powerpoint/2010/main" val="40956343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C29ABF07-67D2-04BF-6145-5A0E410314DE}"/>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A87696EE-E8C3-8890-0695-A7FCE62ECA0E}"/>
              </a:ext>
            </a:extLst>
          </p:cNvPr>
          <p:cNvSpPr txBox="1">
            <a:spLocks noGrp="1"/>
          </p:cNvSpPr>
          <p:nvPr>
            <p:ph type="body" idx="1"/>
          </p:nvPr>
        </p:nvSpPr>
        <p:spPr>
          <a:xfrm>
            <a:off x="8593494" y="1799469"/>
            <a:ext cx="3128134" cy="4078817"/>
          </a:xfrm>
          <a:prstGeom prst="rect">
            <a:avLst/>
          </a:prstGeom>
          <a:noFill/>
          <a:ln>
            <a:noFill/>
          </a:ln>
        </p:spPr>
        <p:txBody>
          <a:bodyPr spcFirstLastPara="1" wrap="square" lIns="91425" tIns="45700" rIns="91425" bIns="45700" anchor="t" anchorCtr="0">
            <a:normAutofit lnSpcReduction="10000"/>
          </a:bodyPr>
          <a:lstStyle/>
          <a:p>
            <a:pPr marL="476250" indent="-342900">
              <a:lnSpc>
                <a:spcPct val="150000"/>
              </a:lnSpc>
              <a:spcBef>
                <a:spcPts val="0"/>
              </a:spcBef>
              <a:buClr>
                <a:srgbClr val="000000"/>
              </a:buClr>
              <a:buSzPts val="2100"/>
              <a:buFont typeface="Arial" panose="020B0604020202020204" pitchFamily="34" charset="0"/>
              <a:buChar char="•"/>
            </a:pPr>
            <a:r>
              <a:rPr lang="en-US" sz="1400" dirty="0">
                <a:solidFill>
                  <a:srgbClr val="000000"/>
                </a:solidFill>
              </a:rPr>
              <a:t>The model was built using 500 decision trees to reduce variance.</a:t>
            </a:r>
          </a:p>
          <a:p>
            <a:pPr marL="476250" indent="-342900">
              <a:lnSpc>
                <a:spcPct val="150000"/>
              </a:lnSpc>
              <a:spcBef>
                <a:spcPts val="0"/>
              </a:spcBef>
              <a:buClr>
                <a:srgbClr val="000000"/>
              </a:buClr>
              <a:buSzPts val="2100"/>
              <a:buFont typeface="Arial" panose="020B0604020202020204" pitchFamily="34" charset="0"/>
              <a:buChar char="•"/>
            </a:pPr>
            <a:r>
              <a:rPr lang="en-US" sz="1400" dirty="0">
                <a:solidFill>
                  <a:srgbClr val="000000"/>
                </a:solidFill>
              </a:rPr>
              <a:t>Since the data is imbalanced (more non-churn than churn), we applied ‘balanced’ class weights. </a:t>
            </a:r>
            <a:endParaRPr lang="en-US" altLang="en-US" sz="1400" dirty="0">
              <a:solidFill>
                <a:schemeClr val="tx1"/>
              </a:solidFill>
              <a:latin typeface="Arial" panose="020B0604020202020204" pitchFamily="34" charset="0"/>
            </a:endParaRPr>
          </a:p>
          <a:p>
            <a:pPr marL="476250" lvl="0" indent="-342900" eaLnBrk="0" fontAlgn="base" hangingPunct="0">
              <a:lnSpc>
                <a:spcPct val="150000"/>
              </a:lnSpc>
              <a:spcBef>
                <a:spcPts val="0"/>
              </a:spcBef>
              <a:buClr>
                <a:srgbClr val="000000"/>
              </a:buClr>
              <a:buSzPts val="2100"/>
              <a:buFont typeface="Arial" panose="020B0604020202020204" pitchFamily="34" charset="0"/>
              <a:buChar char="•"/>
            </a:pPr>
            <a:r>
              <a:rPr lang="en-US" altLang="en-US" sz="1400" dirty="0">
                <a:solidFill>
                  <a:srgbClr val="000000"/>
                </a:solidFill>
              </a:rPr>
              <a:t>The model outputs churn probabilities using </a:t>
            </a:r>
            <a:r>
              <a:rPr lang="en-US" altLang="en-US" sz="1400" dirty="0" err="1">
                <a:solidFill>
                  <a:srgbClr val="000000"/>
                </a:solidFill>
              </a:rPr>
              <a:t>predict_proba</a:t>
            </a:r>
            <a:r>
              <a:rPr lang="en-US" altLang="en-US" sz="1400" dirty="0">
                <a:solidFill>
                  <a:srgbClr val="000000"/>
                </a:solidFill>
              </a:rPr>
              <a:t>(). </a:t>
            </a:r>
          </a:p>
          <a:p>
            <a:pPr marL="476250" lvl="0" indent="-342900" eaLnBrk="0" fontAlgn="base" hangingPunct="0">
              <a:lnSpc>
                <a:spcPct val="150000"/>
              </a:lnSpc>
              <a:spcBef>
                <a:spcPts val="0"/>
              </a:spcBef>
              <a:buClr>
                <a:srgbClr val="000000"/>
              </a:buClr>
              <a:buSzPts val="2100"/>
              <a:buFont typeface="Arial" panose="020B0604020202020204" pitchFamily="34" charset="0"/>
              <a:buChar char="•"/>
            </a:pPr>
            <a:r>
              <a:rPr lang="en-US" altLang="en-US" sz="1400" dirty="0">
                <a:solidFill>
                  <a:srgbClr val="000000"/>
                </a:solidFill>
              </a:rPr>
              <a:t>To better capture churners, we adjusted the decision threshold from the default 0.5 to 0.3, which increases recall by predicting churn more aggressively. </a:t>
            </a:r>
          </a:p>
          <a:p>
            <a:pPr marL="476250" indent="-342900">
              <a:lnSpc>
                <a:spcPct val="90000"/>
              </a:lnSpc>
              <a:spcBef>
                <a:spcPts val="0"/>
              </a:spcBef>
              <a:buClr>
                <a:srgbClr val="000000"/>
              </a:buClr>
              <a:buSzPts val="2100"/>
              <a:buFont typeface="Arial" panose="020B0604020202020204" pitchFamily="34" charset="0"/>
              <a:buChar char="•"/>
            </a:pPr>
            <a:endParaRPr lang="en-US" sz="1400" dirty="0">
              <a:solidFill>
                <a:srgbClr val="000000"/>
              </a:solidFill>
            </a:endParaRPr>
          </a:p>
        </p:txBody>
      </p:sp>
      <p:sp>
        <p:nvSpPr>
          <p:cNvPr id="97" name="Google Shape;97;p7">
            <a:extLst>
              <a:ext uri="{FF2B5EF4-FFF2-40B4-BE49-F238E27FC236}">
                <a16:creationId xmlns:a16="http://schemas.microsoft.com/office/drawing/2014/main" id="{C018BC81-6E33-DB97-0FE4-0F37056005C9}"/>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006633"/>
              </a:buClr>
              <a:buSzPts val="4400"/>
              <a:buFont typeface="Calibri"/>
              <a:buNone/>
            </a:pPr>
            <a:r>
              <a:rPr lang="en-US" sz="4000" dirty="0"/>
              <a:t>Models Development – Random Forest Classifier</a:t>
            </a:r>
            <a:br>
              <a:rPr lang="en-US" sz="4000" dirty="0"/>
            </a:br>
            <a:r>
              <a:rPr lang="en-US" sz="4000" dirty="0"/>
              <a:t>Baseline Tree model</a:t>
            </a:r>
            <a:endParaRPr sz="4000" dirty="0"/>
          </a:p>
        </p:txBody>
      </p:sp>
      <p:pic>
        <p:nvPicPr>
          <p:cNvPr id="3" name="Picture 2">
            <a:extLst>
              <a:ext uri="{FF2B5EF4-FFF2-40B4-BE49-F238E27FC236}">
                <a16:creationId xmlns:a16="http://schemas.microsoft.com/office/drawing/2014/main" id="{04FB4312-10EA-08CF-A221-5AC9B568D08D}"/>
              </a:ext>
            </a:extLst>
          </p:cNvPr>
          <p:cNvPicPr>
            <a:picLocks noChangeAspect="1"/>
          </p:cNvPicPr>
          <p:nvPr/>
        </p:nvPicPr>
        <p:blipFill>
          <a:blip r:embed="rId3"/>
          <a:stretch>
            <a:fillRect/>
          </a:stretch>
        </p:blipFill>
        <p:spPr>
          <a:xfrm>
            <a:off x="470372" y="1799468"/>
            <a:ext cx="7962436" cy="4629323"/>
          </a:xfrm>
          <a:prstGeom prst="rect">
            <a:avLst/>
          </a:prstGeom>
        </p:spPr>
      </p:pic>
    </p:spTree>
    <p:extLst>
      <p:ext uri="{BB962C8B-B14F-4D97-AF65-F5344CB8AC3E}">
        <p14:creationId xmlns:p14="http://schemas.microsoft.com/office/powerpoint/2010/main" val="3355173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087DB74F-9BF0-FBF9-9263-B18ACB0820E9}"/>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84895E27-06B9-2661-6445-C2D8EA743E30}"/>
              </a:ext>
            </a:extLst>
          </p:cNvPr>
          <p:cNvSpPr txBox="1">
            <a:spLocks noGrp="1"/>
          </p:cNvSpPr>
          <p:nvPr>
            <p:ph type="body" idx="1"/>
          </p:nvPr>
        </p:nvSpPr>
        <p:spPr>
          <a:xfrm>
            <a:off x="6606074" y="1830102"/>
            <a:ext cx="4747726" cy="4117222"/>
          </a:xfrm>
          <a:prstGeom prst="rect">
            <a:avLst/>
          </a:prstGeom>
          <a:noFill/>
          <a:ln>
            <a:noFill/>
          </a:ln>
        </p:spPr>
        <p:txBody>
          <a:bodyPr spcFirstLastPara="1" wrap="square" lIns="91425" tIns="45700" rIns="91425" bIns="45700" anchor="t" anchorCtr="0">
            <a:normAutofit fontScale="92500"/>
          </a:bodyPr>
          <a:lstStyle/>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The XGBOOST model was trained on 500 decision trees to reduce prediction error.</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We use </a:t>
            </a:r>
            <a:r>
              <a:rPr lang="en-US" sz="1600" dirty="0" err="1">
                <a:solidFill>
                  <a:srgbClr val="000000"/>
                </a:solidFill>
              </a:rPr>
              <a:t>scale_pos_weight</a:t>
            </a:r>
            <a:r>
              <a:rPr lang="en-US" sz="1600" dirty="0">
                <a:solidFill>
                  <a:srgbClr val="000000"/>
                </a:solidFill>
              </a:rPr>
              <a:t> to handle class imbalance.</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A learning rate of 0.05 determines how each trees contribute to the final decision, which helps reduce overfitting. </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The model was optimized using ‘</a:t>
            </a:r>
            <a:r>
              <a:rPr lang="en-US" sz="1600" dirty="0" err="1">
                <a:solidFill>
                  <a:srgbClr val="000000"/>
                </a:solidFill>
              </a:rPr>
              <a:t>logloss</a:t>
            </a:r>
            <a:r>
              <a:rPr lang="en-US" sz="1600" dirty="0">
                <a:solidFill>
                  <a:srgbClr val="000000"/>
                </a:solidFill>
              </a:rPr>
              <a:t>’, which evaluate probability prediction quality</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Predicted probabilities were converted to churn label using threshold of 0.3 to aggressively capture churn. </a:t>
            </a:r>
          </a:p>
        </p:txBody>
      </p:sp>
      <p:sp>
        <p:nvSpPr>
          <p:cNvPr id="97" name="Google Shape;97;p7">
            <a:extLst>
              <a:ext uri="{FF2B5EF4-FFF2-40B4-BE49-F238E27FC236}">
                <a16:creationId xmlns:a16="http://schemas.microsoft.com/office/drawing/2014/main" id="{5790211D-5EEA-6255-BE31-F896E2876827}"/>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sz="4000" dirty="0"/>
              <a:t>Models Development – XGBOOST Classifier</a:t>
            </a:r>
            <a:endParaRPr sz="4000" dirty="0"/>
          </a:p>
        </p:txBody>
      </p:sp>
      <p:pic>
        <p:nvPicPr>
          <p:cNvPr id="3" name="Picture 2">
            <a:extLst>
              <a:ext uri="{FF2B5EF4-FFF2-40B4-BE49-F238E27FC236}">
                <a16:creationId xmlns:a16="http://schemas.microsoft.com/office/drawing/2014/main" id="{3800D490-1BE4-8E30-E0EF-93AF1E28DBA2}"/>
              </a:ext>
            </a:extLst>
          </p:cNvPr>
          <p:cNvPicPr>
            <a:picLocks noChangeAspect="1"/>
          </p:cNvPicPr>
          <p:nvPr/>
        </p:nvPicPr>
        <p:blipFill>
          <a:blip r:embed="rId3"/>
          <a:stretch>
            <a:fillRect/>
          </a:stretch>
        </p:blipFill>
        <p:spPr>
          <a:xfrm>
            <a:off x="412953" y="1830102"/>
            <a:ext cx="5782573" cy="4541188"/>
          </a:xfrm>
          <a:prstGeom prst="rect">
            <a:avLst/>
          </a:prstGeom>
        </p:spPr>
      </p:pic>
    </p:spTree>
    <p:extLst>
      <p:ext uri="{BB962C8B-B14F-4D97-AF65-F5344CB8AC3E}">
        <p14:creationId xmlns:p14="http://schemas.microsoft.com/office/powerpoint/2010/main" val="7898514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E16D56A4-10B8-983D-733F-8D882AD046AB}"/>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6999B294-2A12-7D0C-C1AE-27D81F40A2C6}"/>
              </a:ext>
            </a:extLst>
          </p:cNvPr>
          <p:cNvSpPr txBox="1">
            <a:spLocks noGrp="1"/>
          </p:cNvSpPr>
          <p:nvPr>
            <p:ph type="body" idx="1"/>
          </p:nvPr>
        </p:nvSpPr>
        <p:spPr>
          <a:xfrm>
            <a:off x="838198" y="2008493"/>
            <a:ext cx="4666861" cy="734008"/>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Random Forest Classifier </a:t>
            </a:r>
          </a:p>
        </p:txBody>
      </p:sp>
      <p:sp>
        <p:nvSpPr>
          <p:cNvPr id="97" name="Google Shape;97;p7">
            <a:extLst>
              <a:ext uri="{FF2B5EF4-FFF2-40B4-BE49-F238E27FC236}">
                <a16:creationId xmlns:a16="http://schemas.microsoft.com/office/drawing/2014/main" id="{173D0D8C-D770-640B-D256-FD7E599BD93A}"/>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Models Comparison</a:t>
            </a:r>
            <a:endParaRPr dirty="0"/>
          </a:p>
        </p:txBody>
      </p:sp>
      <p:pic>
        <p:nvPicPr>
          <p:cNvPr id="3" name="Picture 2">
            <a:extLst>
              <a:ext uri="{FF2B5EF4-FFF2-40B4-BE49-F238E27FC236}">
                <a16:creationId xmlns:a16="http://schemas.microsoft.com/office/drawing/2014/main" id="{D327C488-A455-C8B0-044F-095A5D22A597}"/>
              </a:ext>
            </a:extLst>
          </p:cNvPr>
          <p:cNvPicPr>
            <a:picLocks noChangeAspect="1"/>
          </p:cNvPicPr>
          <p:nvPr/>
        </p:nvPicPr>
        <p:blipFill>
          <a:blip r:embed="rId3"/>
          <a:stretch>
            <a:fillRect/>
          </a:stretch>
        </p:blipFill>
        <p:spPr>
          <a:xfrm>
            <a:off x="5703665" y="1781540"/>
            <a:ext cx="5039428" cy="1724266"/>
          </a:xfrm>
          <a:prstGeom prst="rect">
            <a:avLst/>
          </a:prstGeom>
        </p:spPr>
      </p:pic>
      <p:sp>
        <p:nvSpPr>
          <p:cNvPr id="4" name="Google Shape;96;p7">
            <a:extLst>
              <a:ext uri="{FF2B5EF4-FFF2-40B4-BE49-F238E27FC236}">
                <a16:creationId xmlns:a16="http://schemas.microsoft.com/office/drawing/2014/main" id="{1EF49C88-68FA-1B1D-65BE-E4486ABFA75F}"/>
              </a:ext>
            </a:extLst>
          </p:cNvPr>
          <p:cNvSpPr txBox="1">
            <a:spLocks/>
          </p:cNvSpPr>
          <p:nvPr/>
        </p:nvSpPr>
        <p:spPr>
          <a:xfrm>
            <a:off x="838199" y="4971576"/>
            <a:ext cx="4666861" cy="8001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4325" algn="l" rtl="0">
              <a:lnSpc>
                <a:spcPct val="100000"/>
              </a:lnSpc>
              <a:spcBef>
                <a:spcPts val="1000"/>
              </a:spcBef>
              <a:spcAft>
                <a:spcPts val="0"/>
              </a:spcAft>
              <a:buClr>
                <a:srgbClr val="006633"/>
              </a:buClr>
              <a:buSzPts val="1350"/>
              <a:buFont typeface="Arial"/>
              <a:buChar char="•"/>
              <a:defRPr sz="2800" b="0" i="0" u="none" strike="noStrike" cap="none">
                <a:solidFill>
                  <a:schemeClr val="dk1"/>
                </a:solidFill>
                <a:latin typeface="Calibri"/>
                <a:ea typeface="Calibri"/>
                <a:cs typeface="Calibri"/>
                <a:sym typeface="Calibri"/>
              </a:defRPr>
            </a:lvl1pPr>
            <a:lvl2pPr marL="914400" marR="0" lvl="1" indent="-314325" algn="l" rtl="0">
              <a:lnSpc>
                <a:spcPct val="90000"/>
              </a:lnSpc>
              <a:spcBef>
                <a:spcPts val="500"/>
              </a:spcBef>
              <a:spcAft>
                <a:spcPts val="0"/>
              </a:spcAft>
              <a:buClr>
                <a:srgbClr val="006633"/>
              </a:buClr>
              <a:buSzPts val="1350"/>
              <a:buFont typeface="Arial"/>
              <a:buChar char="•"/>
              <a:defRPr sz="2400" b="0" i="0" u="none" strike="noStrike" cap="none">
                <a:solidFill>
                  <a:schemeClr val="dk1"/>
                </a:solidFill>
                <a:latin typeface="Calibri"/>
                <a:ea typeface="Calibri"/>
                <a:cs typeface="Calibri"/>
                <a:sym typeface="Calibri"/>
              </a:defRPr>
            </a:lvl2pPr>
            <a:lvl3pPr marL="1371600" marR="0" lvl="2" indent="-314325" algn="l" rtl="0">
              <a:lnSpc>
                <a:spcPct val="90000"/>
              </a:lnSpc>
              <a:spcBef>
                <a:spcPts val="500"/>
              </a:spcBef>
              <a:spcAft>
                <a:spcPts val="0"/>
              </a:spcAft>
              <a:buClr>
                <a:srgbClr val="006633"/>
              </a:buClr>
              <a:buSzPts val="1350"/>
              <a:buFont typeface="Arial"/>
              <a:buChar char="•"/>
              <a:defRPr sz="20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590550" indent="-457200">
              <a:lnSpc>
                <a:spcPct val="90000"/>
              </a:lnSpc>
              <a:spcBef>
                <a:spcPts val="0"/>
              </a:spcBef>
              <a:buSzPts val="2100"/>
            </a:pPr>
            <a:r>
              <a:rPr lang="en-US" dirty="0">
                <a:solidFill>
                  <a:srgbClr val="000000"/>
                </a:solidFill>
              </a:rPr>
              <a:t>XGBOOST Classifier</a:t>
            </a:r>
          </a:p>
        </p:txBody>
      </p:sp>
      <p:pic>
        <p:nvPicPr>
          <p:cNvPr id="6" name="Picture 5">
            <a:extLst>
              <a:ext uri="{FF2B5EF4-FFF2-40B4-BE49-F238E27FC236}">
                <a16:creationId xmlns:a16="http://schemas.microsoft.com/office/drawing/2014/main" id="{C8A055A6-D29D-038F-418A-9DAAF31624B2}"/>
              </a:ext>
            </a:extLst>
          </p:cNvPr>
          <p:cNvPicPr>
            <a:picLocks noChangeAspect="1"/>
          </p:cNvPicPr>
          <p:nvPr/>
        </p:nvPicPr>
        <p:blipFill>
          <a:blip r:embed="rId4"/>
          <a:stretch>
            <a:fillRect/>
          </a:stretch>
        </p:blipFill>
        <p:spPr>
          <a:xfrm>
            <a:off x="5703665" y="4189261"/>
            <a:ext cx="5077534" cy="1657581"/>
          </a:xfrm>
          <a:prstGeom prst="rect">
            <a:avLst/>
          </a:prstGeom>
        </p:spPr>
      </p:pic>
      <p:sp>
        <p:nvSpPr>
          <p:cNvPr id="7" name="Freeform: Shape 6">
            <a:extLst>
              <a:ext uri="{FF2B5EF4-FFF2-40B4-BE49-F238E27FC236}">
                <a16:creationId xmlns:a16="http://schemas.microsoft.com/office/drawing/2014/main" id="{F05CABCF-592E-0C88-D4CD-E545E0B4BD13}"/>
              </a:ext>
            </a:extLst>
          </p:cNvPr>
          <p:cNvSpPr/>
          <p:nvPr/>
        </p:nvSpPr>
        <p:spPr>
          <a:xfrm>
            <a:off x="8070365" y="4768720"/>
            <a:ext cx="672419" cy="326572"/>
          </a:xfrm>
          <a:custGeom>
            <a:avLst/>
            <a:gdLst>
              <a:gd name="csX0" fmla="*/ 383170 w 672419"/>
              <a:gd name="csY0" fmla="*/ 27992 h 326572"/>
              <a:gd name="csX1" fmla="*/ 177897 w 672419"/>
              <a:gd name="csY1" fmla="*/ 18662 h 326572"/>
              <a:gd name="csX2" fmla="*/ 75260 w 672419"/>
              <a:gd name="csY2" fmla="*/ 0 h 326572"/>
              <a:gd name="csX3" fmla="*/ 9946 w 672419"/>
              <a:gd name="csY3" fmla="*/ 37323 h 326572"/>
              <a:gd name="csX4" fmla="*/ 615 w 672419"/>
              <a:gd name="csY4" fmla="*/ 93307 h 326572"/>
              <a:gd name="csX5" fmla="*/ 19276 w 672419"/>
              <a:gd name="csY5" fmla="*/ 233266 h 326572"/>
              <a:gd name="csX6" fmla="*/ 37937 w 672419"/>
              <a:gd name="csY6" fmla="*/ 261258 h 326572"/>
              <a:gd name="csX7" fmla="*/ 103252 w 672419"/>
              <a:gd name="csY7" fmla="*/ 279919 h 326572"/>
              <a:gd name="csX8" fmla="*/ 317856 w 672419"/>
              <a:gd name="csY8" fmla="*/ 298580 h 326572"/>
              <a:gd name="csX9" fmla="*/ 476476 w 672419"/>
              <a:gd name="csY9" fmla="*/ 326572 h 326572"/>
              <a:gd name="csX10" fmla="*/ 551121 w 672419"/>
              <a:gd name="csY10" fmla="*/ 307911 h 326572"/>
              <a:gd name="csX11" fmla="*/ 588443 w 672419"/>
              <a:gd name="csY11" fmla="*/ 279919 h 326572"/>
              <a:gd name="csX12" fmla="*/ 635097 w 672419"/>
              <a:gd name="csY12" fmla="*/ 261258 h 326572"/>
              <a:gd name="csX13" fmla="*/ 653758 w 672419"/>
              <a:gd name="csY13" fmla="*/ 233266 h 326572"/>
              <a:gd name="csX14" fmla="*/ 663088 w 672419"/>
              <a:gd name="csY14" fmla="*/ 177282 h 326572"/>
              <a:gd name="csX15" fmla="*/ 672419 w 672419"/>
              <a:gd name="csY15" fmla="*/ 139960 h 326572"/>
              <a:gd name="csX16" fmla="*/ 560452 w 672419"/>
              <a:gd name="csY16" fmla="*/ 37323 h 326572"/>
              <a:gd name="csX17" fmla="*/ 513799 w 672419"/>
              <a:gd name="csY17" fmla="*/ 27992 h 326572"/>
              <a:gd name="csX18" fmla="*/ 457815 w 672419"/>
              <a:gd name="csY18" fmla="*/ 9331 h 326572"/>
              <a:gd name="csX19" fmla="*/ 308525 w 672419"/>
              <a:gd name="csY19" fmla="*/ 18662 h 3265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72419" h="326572">
                <a:moveTo>
                  <a:pt x="383170" y="27992"/>
                </a:moveTo>
                <a:cubicBezTo>
                  <a:pt x="314746" y="24882"/>
                  <a:pt x="246218" y="23542"/>
                  <a:pt x="177897" y="18662"/>
                </a:cubicBezTo>
                <a:cubicBezTo>
                  <a:pt x="159327" y="17336"/>
                  <a:pt x="95988" y="4146"/>
                  <a:pt x="75260" y="0"/>
                </a:cubicBezTo>
                <a:cubicBezTo>
                  <a:pt x="53489" y="12441"/>
                  <a:pt x="25610" y="17742"/>
                  <a:pt x="9946" y="37323"/>
                </a:cubicBezTo>
                <a:cubicBezTo>
                  <a:pt x="-1872" y="52096"/>
                  <a:pt x="-285" y="74410"/>
                  <a:pt x="615" y="93307"/>
                </a:cubicBezTo>
                <a:cubicBezTo>
                  <a:pt x="2854" y="140320"/>
                  <a:pt x="9066" y="187321"/>
                  <a:pt x="19276" y="233266"/>
                </a:cubicBezTo>
                <a:cubicBezTo>
                  <a:pt x="21709" y="244213"/>
                  <a:pt x="28134" y="255812"/>
                  <a:pt x="37937" y="261258"/>
                </a:cubicBezTo>
                <a:cubicBezTo>
                  <a:pt x="57730" y="272254"/>
                  <a:pt x="80808" y="276926"/>
                  <a:pt x="103252" y="279919"/>
                </a:cubicBezTo>
                <a:cubicBezTo>
                  <a:pt x="174427" y="289409"/>
                  <a:pt x="246886" y="287662"/>
                  <a:pt x="317856" y="298580"/>
                </a:cubicBezTo>
                <a:cubicBezTo>
                  <a:pt x="451828" y="319191"/>
                  <a:pt x="399467" y="307319"/>
                  <a:pt x="476476" y="326572"/>
                </a:cubicBezTo>
                <a:cubicBezTo>
                  <a:pt x="501358" y="320352"/>
                  <a:pt x="527446" y="317775"/>
                  <a:pt x="551121" y="307911"/>
                </a:cubicBezTo>
                <a:cubicBezTo>
                  <a:pt x="565476" y="301930"/>
                  <a:pt x="574849" y="287471"/>
                  <a:pt x="588443" y="279919"/>
                </a:cubicBezTo>
                <a:cubicBezTo>
                  <a:pt x="603084" y="271785"/>
                  <a:pt x="619546" y="267478"/>
                  <a:pt x="635097" y="261258"/>
                </a:cubicBezTo>
                <a:cubicBezTo>
                  <a:pt x="641317" y="251927"/>
                  <a:pt x="650212" y="243905"/>
                  <a:pt x="653758" y="233266"/>
                </a:cubicBezTo>
                <a:cubicBezTo>
                  <a:pt x="659740" y="215318"/>
                  <a:pt x="659378" y="195833"/>
                  <a:pt x="663088" y="177282"/>
                </a:cubicBezTo>
                <a:cubicBezTo>
                  <a:pt x="665603" y="164707"/>
                  <a:pt x="669309" y="152401"/>
                  <a:pt x="672419" y="139960"/>
                </a:cubicBezTo>
                <a:cubicBezTo>
                  <a:pt x="635097" y="105748"/>
                  <a:pt x="601815" y="66521"/>
                  <a:pt x="560452" y="37323"/>
                </a:cubicBezTo>
                <a:cubicBezTo>
                  <a:pt x="547496" y="28177"/>
                  <a:pt x="529099" y="32165"/>
                  <a:pt x="513799" y="27992"/>
                </a:cubicBezTo>
                <a:cubicBezTo>
                  <a:pt x="494821" y="22816"/>
                  <a:pt x="476476" y="15551"/>
                  <a:pt x="457815" y="9331"/>
                </a:cubicBezTo>
                <a:lnTo>
                  <a:pt x="308525" y="18662"/>
                </a:lnTo>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5EAB36E5-48CE-EEC3-F3D0-D89B14B20C83}"/>
              </a:ext>
            </a:extLst>
          </p:cNvPr>
          <p:cNvSpPr/>
          <p:nvPr/>
        </p:nvSpPr>
        <p:spPr>
          <a:xfrm>
            <a:off x="8070364" y="2453858"/>
            <a:ext cx="672419" cy="326572"/>
          </a:xfrm>
          <a:custGeom>
            <a:avLst/>
            <a:gdLst>
              <a:gd name="csX0" fmla="*/ 383170 w 672419"/>
              <a:gd name="csY0" fmla="*/ 27992 h 326572"/>
              <a:gd name="csX1" fmla="*/ 177897 w 672419"/>
              <a:gd name="csY1" fmla="*/ 18662 h 326572"/>
              <a:gd name="csX2" fmla="*/ 75260 w 672419"/>
              <a:gd name="csY2" fmla="*/ 0 h 326572"/>
              <a:gd name="csX3" fmla="*/ 9946 w 672419"/>
              <a:gd name="csY3" fmla="*/ 37323 h 326572"/>
              <a:gd name="csX4" fmla="*/ 615 w 672419"/>
              <a:gd name="csY4" fmla="*/ 93307 h 326572"/>
              <a:gd name="csX5" fmla="*/ 19276 w 672419"/>
              <a:gd name="csY5" fmla="*/ 233266 h 326572"/>
              <a:gd name="csX6" fmla="*/ 37937 w 672419"/>
              <a:gd name="csY6" fmla="*/ 261258 h 326572"/>
              <a:gd name="csX7" fmla="*/ 103252 w 672419"/>
              <a:gd name="csY7" fmla="*/ 279919 h 326572"/>
              <a:gd name="csX8" fmla="*/ 317856 w 672419"/>
              <a:gd name="csY8" fmla="*/ 298580 h 326572"/>
              <a:gd name="csX9" fmla="*/ 476476 w 672419"/>
              <a:gd name="csY9" fmla="*/ 326572 h 326572"/>
              <a:gd name="csX10" fmla="*/ 551121 w 672419"/>
              <a:gd name="csY10" fmla="*/ 307911 h 326572"/>
              <a:gd name="csX11" fmla="*/ 588443 w 672419"/>
              <a:gd name="csY11" fmla="*/ 279919 h 326572"/>
              <a:gd name="csX12" fmla="*/ 635097 w 672419"/>
              <a:gd name="csY12" fmla="*/ 261258 h 326572"/>
              <a:gd name="csX13" fmla="*/ 653758 w 672419"/>
              <a:gd name="csY13" fmla="*/ 233266 h 326572"/>
              <a:gd name="csX14" fmla="*/ 663088 w 672419"/>
              <a:gd name="csY14" fmla="*/ 177282 h 326572"/>
              <a:gd name="csX15" fmla="*/ 672419 w 672419"/>
              <a:gd name="csY15" fmla="*/ 139960 h 326572"/>
              <a:gd name="csX16" fmla="*/ 560452 w 672419"/>
              <a:gd name="csY16" fmla="*/ 37323 h 326572"/>
              <a:gd name="csX17" fmla="*/ 513799 w 672419"/>
              <a:gd name="csY17" fmla="*/ 27992 h 326572"/>
              <a:gd name="csX18" fmla="*/ 457815 w 672419"/>
              <a:gd name="csY18" fmla="*/ 9331 h 326572"/>
              <a:gd name="csX19" fmla="*/ 308525 w 672419"/>
              <a:gd name="csY19" fmla="*/ 18662 h 3265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72419" h="326572">
                <a:moveTo>
                  <a:pt x="383170" y="27992"/>
                </a:moveTo>
                <a:cubicBezTo>
                  <a:pt x="314746" y="24882"/>
                  <a:pt x="246218" y="23542"/>
                  <a:pt x="177897" y="18662"/>
                </a:cubicBezTo>
                <a:cubicBezTo>
                  <a:pt x="159327" y="17336"/>
                  <a:pt x="95988" y="4146"/>
                  <a:pt x="75260" y="0"/>
                </a:cubicBezTo>
                <a:cubicBezTo>
                  <a:pt x="53489" y="12441"/>
                  <a:pt x="25610" y="17742"/>
                  <a:pt x="9946" y="37323"/>
                </a:cubicBezTo>
                <a:cubicBezTo>
                  <a:pt x="-1872" y="52096"/>
                  <a:pt x="-285" y="74410"/>
                  <a:pt x="615" y="93307"/>
                </a:cubicBezTo>
                <a:cubicBezTo>
                  <a:pt x="2854" y="140320"/>
                  <a:pt x="9066" y="187321"/>
                  <a:pt x="19276" y="233266"/>
                </a:cubicBezTo>
                <a:cubicBezTo>
                  <a:pt x="21709" y="244213"/>
                  <a:pt x="28134" y="255812"/>
                  <a:pt x="37937" y="261258"/>
                </a:cubicBezTo>
                <a:cubicBezTo>
                  <a:pt x="57730" y="272254"/>
                  <a:pt x="80808" y="276926"/>
                  <a:pt x="103252" y="279919"/>
                </a:cubicBezTo>
                <a:cubicBezTo>
                  <a:pt x="174427" y="289409"/>
                  <a:pt x="246886" y="287662"/>
                  <a:pt x="317856" y="298580"/>
                </a:cubicBezTo>
                <a:cubicBezTo>
                  <a:pt x="451828" y="319191"/>
                  <a:pt x="399467" y="307319"/>
                  <a:pt x="476476" y="326572"/>
                </a:cubicBezTo>
                <a:cubicBezTo>
                  <a:pt x="501358" y="320352"/>
                  <a:pt x="527446" y="317775"/>
                  <a:pt x="551121" y="307911"/>
                </a:cubicBezTo>
                <a:cubicBezTo>
                  <a:pt x="565476" y="301930"/>
                  <a:pt x="574849" y="287471"/>
                  <a:pt x="588443" y="279919"/>
                </a:cubicBezTo>
                <a:cubicBezTo>
                  <a:pt x="603084" y="271785"/>
                  <a:pt x="619546" y="267478"/>
                  <a:pt x="635097" y="261258"/>
                </a:cubicBezTo>
                <a:cubicBezTo>
                  <a:pt x="641317" y="251927"/>
                  <a:pt x="650212" y="243905"/>
                  <a:pt x="653758" y="233266"/>
                </a:cubicBezTo>
                <a:cubicBezTo>
                  <a:pt x="659740" y="215318"/>
                  <a:pt x="659378" y="195833"/>
                  <a:pt x="663088" y="177282"/>
                </a:cubicBezTo>
                <a:cubicBezTo>
                  <a:pt x="665603" y="164707"/>
                  <a:pt x="669309" y="152401"/>
                  <a:pt x="672419" y="139960"/>
                </a:cubicBezTo>
                <a:cubicBezTo>
                  <a:pt x="635097" y="105748"/>
                  <a:pt x="601815" y="66521"/>
                  <a:pt x="560452" y="37323"/>
                </a:cubicBezTo>
                <a:cubicBezTo>
                  <a:pt x="547496" y="28177"/>
                  <a:pt x="529099" y="32165"/>
                  <a:pt x="513799" y="27992"/>
                </a:cubicBezTo>
                <a:cubicBezTo>
                  <a:pt x="494821" y="22816"/>
                  <a:pt x="476476" y="15551"/>
                  <a:pt x="457815" y="9331"/>
                </a:cubicBezTo>
                <a:lnTo>
                  <a:pt x="308525" y="18662"/>
                </a:lnTo>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D402BA2-9D9C-B142-8FE5-8920C5F24431}"/>
              </a:ext>
            </a:extLst>
          </p:cNvPr>
          <p:cNvSpPr txBox="1"/>
          <p:nvPr/>
        </p:nvSpPr>
        <p:spPr>
          <a:xfrm>
            <a:off x="671803" y="2931458"/>
            <a:ext cx="4833257" cy="2000548"/>
          </a:xfrm>
          <a:prstGeom prst="rect">
            <a:avLst/>
          </a:prstGeom>
          <a:noFill/>
        </p:spPr>
        <p:txBody>
          <a:bodyPr wrap="square" rtlCol="0">
            <a:spAutoFit/>
          </a:bodyPr>
          <a:lstStyle/>
          <a:p>
            <a:r>
              <a:rPr lang="en-US" sz="1800" dirty="0">
                <a:latin typeface="+mn-lt"/>
              </a:rPr>
              <a:t>Because hyperparameter tuning is computationally expensive, we compared the two models and selected </a:t>
            </a:r>
            <a:r>
              <a:rPr lang="en-US" sz="1800" dirty="0" err="1">
                <a:latin typeface="+mn-lt"/>
              </a:rPr>
              <a:t>XGBoost</a:t>
            </a:r>
            <a:r>
              <a:rPr lang="en-US" sz="1800" dirty="0">
                <a:latin typeface="+mn-lt"/>
              </a:rPr>
              <a:t> due to higher recall score and performed fine-tuning on the chosen model.</a:t>
            </a:r>
          </a:p>
          <a:p>
            <a:endParaRPr lang="en-US" sz="1800" dirty="0">
              <a:latin typeface="+mn-lt"/>
            </a:endParaRPr>
          </a:p>
          <a:p>
            <a:endParaRPr lang="en-US" sz="1600" dirty="0">
              <a:latin typeface="+mn-lt"/>
            </a:endParaRPr>
          </a:p>
        </p:txBody>
      </p:sp>
    </p:spTree>
    <p:extLst>
      <p:ext uri="{BB962C8B-B14F-4D97-AF65-F5344CB8AC3E}">
        <p14:creationId xmlns:p14="http://schemas.microsoft.com/office/powerpoint/2010/main" val="3050785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F686C22B-96D1-F324-432B-6E736E516BEB}"/>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4447BBBA-2E22-B8FE-2650-7A6F3E633629}"/>
              </a:ext>
            </a:extLst>
          </p:cNvPr>
          <p:cNvSpPr txBox="1">
            <a:spLocks noGrp="1"/>
          </p:cNvSpPr>
          <p:nvPr>
            <p:ph type="body" idx="1"/>
          </p:nvPr>
        </p:nvSpPr>
        <p:spPr>
          <a:xfrm>
            <a:off x="7119257" y="1688841"/>
            <a:ext cx="4648379" cy="4258484"/>
          </a:xfrm>
          <a:prstGeom prst="rect">
            <a:avLst/>
          </a:prstGeom>
          <a:noFill/>
          <a:ln>
            <a:noFill/>
          </a:ln>
        </p:spPr>
        <p:txBody>
          <a:bodyPr spcFirstLastPara="1" wrap="square" lIns="91425" tIns="45700" rIns="91425" bIns="45700" anchor="t" anchorCtr="0">
            <a:normAutofit/>
          </a:bodyPr>
          <a:lstStyle/>
          <a:p>
            <a:pPr marL="419100" indent="-285750">
              <a:lnSpc>
                <a:spcPct val="150000"/>
              </a:lnSpc>
              <a:spcBef>
                <a:spcPts val="0"/>
              </a:spcBef>
              <a:buClr>
                <a:srgbClr val="000000"/>
              </a:buClr>
              <a:buSzPts val="2100"/>
              <a:buFont typeface="Arial" panose="020B0604020202020204" pitchFamily="34" charset="0"/>
              <a:buChar char="•"/>
            </a:pPr>
            <a:r>
              <a:rPr lang="en-US" sz="1800" dirty="0">
                <a:solidFill>
                  <a:srgbClr val="000000"/>
                </a:solidFill>
              </a:rPr>
              <a:t>We performed hyperparameters tuning using 5 folds stratified cross validation over key </a:t>
            </a:r>
            <a:r>
              <a:rPr lang="en-US" sz="1800" dirty="0" err="1">
                <a:solidFill>
                  <a:srgbClr val="000000"/>
                </a:solidFill>
              </a:rPr>
              <a:t>XGBoost</a:t>
            </a:r>
            <a:r>
              <a:rPr lang="en-US" sz="1800" dirty="0">
                <a:solidFill>
                  <a:srgbClr val="000000"/>
                </a:solidFill>
              </a:rPr>
              <a:t> parameters. </a:t>
            </a:r>
          </a:p>
          <a:p>
            <a:pPr marL="419100" indent="-285750">
              <a:lnSpc>
                <a:spcPct val="150000"/>
              </a:lnSpc>
              <a:spcBef>
                <a:spcPts val="0"/>
              </a:spcBef>
              <a:buClr>
                <a:srgbClr val="000000"/>
              </a:buClr>
              <a:buSzPts val="2100"/>
              <a:buFont typeface="Arial" panose="020B0604020202020204" pitchFamily="34" charset="0"/>
              <a:buChar char="•"/>
            </a:pPr>
            <a:r>
              <a:rPr lang="en-US" sz="1800" dirty="0">
                <a:solidFill>
                  <a:srgbClr val="000000"/>
                </a:solidFill>
              </a:rPr>
              <a:t>For each parameter combination, the model generated churn probabilities, and we tested on multiple thresholds to control recall-precision balance. </a:t>
            </a:r>
          </a:p>
          <a:p>
            <a:pPr marL="419100" indent="-285750">
              <a:lnSpc>
                <a:spcPct val="150000"/>
              </a:lnSpc>
              <a:spcBef>
                <a:spcPts val="0"/>
              </a:spcBef>
              <a:buClr>
                <a:srgbClr val="000000"/>
              </a:buClr>
              <a:buSzPts val="2100"/>
              <a:buFont typeface="Arial" panose="020B0604020202020204" pitchFamily="34" charset="0"/>
              <a:buChar char="•"/>
            </a:pPr>
            <a:r>
              <a:rPr lang="en-US" sz="1800" dirty="0">
                <a:solidFill>
                  <a:srgbClr val="000000"/>
                </a:solidFill>
              </a:rPr>
              <a:t>Measure performance was measured using recall (primary metric) and F1-score</a:t>
            </a:r>
          </a:p>
        </p:txBody>
      </p:sp>
      <p:sp>
        <p:nvSpPr>
          <p:cNvPr id="97" name="Google Shape;97;p7">
            <a:extLst>
              <a:ext uri="{FF2B5EF4-FFF2-40B4-BE49-F238E27FC236}">
                <a16:creationId xmlns:a16="http://schemas.microsoft.com/office/drawing/2014/main" id="{72473C69-30C4-1C33-BCBA-492299DE4AA1}"/>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XGBOOST Model Tuning</a:t>
            </a:r>
            <a:endParaRPr dirty="0"/>
          </a:p>
        </p:txBody>
      </p:sp>
      <p:pic>
        <p:nvPicPr>
          <p:cNvPr id="3" name="Picture 2">
            <a:extLst>
              <a:ext uri="{FF2B5EF4-FFF2-40B4-BE49-F238E27FC236}">
                <a16:creationId xmlns:a16="http://schemas.microsoft.com/office/drawing/2014/main" id="{C0E91AA5-5353-93CE-9745-E8F3F022EB9F}"/>
              </a:ext>
            </a:extLst>
          </p:cNvPr>
          <p:cNvPicPr>
            <a:picLocks noChangeAspect="1"/>
          </p:cNvPicPr>
          <p:nvPr/>
        </p:nvPicPr>
        <p:blipFill>
          <a:blip r:embed="rId3"/>
          <a:stretch>
            <a:fillRect/>
          </a:stretch>
        </p:blipFill>
        <p:spPr>
          <a:xfrm>
            <a:off x="424363" y="1688841"/>
            <a:ext cx="6125430" cy="2583013"/>
          </a:xfrm>
          <a:prstGeom prst="rect">
            <a:avLst/>
          </a:prstGeom>
        </p:spPr>
      </p:pic>
      <p:pic>
        <p:nvPicPr>
          <p:cNvPr id="5" name="Picture 4">
            <a:extLst>
              <a:ext uri="{FF2B5EF4-FFF2-40B4-BE49-F238E27FC236}">
                <a16:creationId xmlns:a16="http://schemas.microsoft.com/office/drawing/2014/main" id="{15411F4F-6735-E95B-4A1E-8A836A79C1A6}"/>
              </a:ext>
            </a:extLst>
          </p:cNvPr>
          <p:cNvPicPr>
            <a:picLocks noChangeAspect="1"/>
          </p:cNvPicPr>
          <p:nvPr/>
        </p:nvPicPr>
        <p:blipFill>
          <a:blip r:embed="rId4"/>
          <a:stretch>
            <a:fillRect/>
          </a:stretch>
        </p:blipFill>
        <p:spPr>
          <a:xfrm>
            <a:off x="424363" y="5270956"/>
            <a:ext cx="6125430" cy="676369"/>
          </a:xfrm>
          <a:prstGeom prst="rect">
            <a:avLst/>
          </a:prstGeom>
        </p:spPr>
      </p:pic>
    </p:spTree>
    <p:extLst>
      <p:ext uri="{BB962C8B-B14F-4D97-AF65-F5344CB8AC3E}">
        <p14:creationId xmlns:p14="http://schemas.microsoft.com/office/powerpoint/2010/main" val="1837633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130F46AF-E358-1C64-D95E-C74373D871FD}"/>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D7D9C789-7F0F-314B-5BFA-4CE56A99350F}"/>
              </a:ext>
            </a:extLst>
          </p:cNvPr>
          <p:cNvSpPr txBox="1">
            <a:spLocks noGrp="1"/>
          </p:cNvSpPr>
          <p:nvPr>
            <p:ph type="body" idx="1"/>
          </p:nvPr>
        </p:nvSpPr>
        <p:spPr>
          <a:xfrm>
            <a:off x="8584164" y="1743429"/>
            <a:ext cx="2864498" cy="4450897"/>
          </a:xfrm>
          <a:prstGeom prst="rect">
            <a:avLst/>
          </a:prstGeom>
          <a:noFill/>
          <a:ln>
            <a:noFill/>
          </a:ln>
        </p:spPr>
        <p:txBody>
          <a:bodyPr spcFirstLastPara="1" wrap="square" lIns="91425" tIns="45700" rIns="91425" bIns="45700" anchor="t" anchorCtr="0">
            <a:normAutofit fontScale="85000" lnSpcReduction="20000"/>
          </a:bodyPr>
          <a:lstStyle/>
          <a:p>
            <a:pPr marL="133350" indent="0">
              <a:lnSpc>
                <a:spcPct val="150000"/>
              </a:lnSpc>
              <a:spcBef>
                <a:spcPts val="0"/>
              </a:spcBef>
              <a:buSzPts val="2100"/>
              <a:buNone/>
            </a:pPr>
            <a:r>
              <a:rPr lang="en-US" sz="1600" dirty="0">
                <a:solidFill>
                  <a:srgbClr val="000000"/>
                </a:solidFill>
              </a:rPr>
              <a:t>After perform hyperparameter tuning, we selected the best </a:t>
            </a:r>
            <a:r>
              <a:rPr lang="en-US" sz="1600" dirty="0" err="1">
                <a:solidFill>
                  <a:srgbClr val="000000"/>
                </a:solidFill>
              </a:rPr>
              <a:t>XGBoost</a:t>
            </a:r>
            <a:r>
              <a:rPr lang="en-US" sz="1600" dirty="0">
                <a:solidFill>
                  <a:srgbClr val="000000"/>
                </a:solidFill>
              </a:rPr>
              <a:t> configuration that has high recall score and high F1-score. </a:t>
            </a:r>
          </a:p>
          <a:p>
            <a:pPr marL="133350" indent="0">
              <a:lnSpc>
                <a:spcPct val="150000"/>
              </a:lnSpc>
              <a:spcBef>
                <a:spcPts val="0"/>
              </a:spcBef>
              <a:buSzPts val="2100"/>
              <a:buNone/>
            </a:pPr>
            <a:r>
              <a:rPr lang="en-US" sz="1600" dirty="0">
                <a:solidFill>
                  <a:srgbClr val="000000"/>
                </a:solidFill>
              </a:rPr>
              <a:t>The best performing model was row 149, which achieved:</a:t>
            </a:r>
          </a:p>
          <a:p>
            <a:pPr marL="133350" indent="0">
              <a:lnSpc>
                <a:spcPct val="150000"/>
              </a:lnSpc>
              <a:spcBef>
                <a:spcPts val="0"/>
              </a:spcBef>
              <a:buSzPts val="2100"/>
              <a:buNone/>
            </a:pPr>
            <a:endParaRPr lang="en-US" sz="1600" dirty="0">
              <a:solidFill>
                <a:srgbClr val="000000"/>
              </a:solidFill>
            </a:endParaRP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Recall: 0.816</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F1-score: 0.634</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Threshold: 0.5</a:t>
            </a:r>
          </a:p>
          <a:p>
            <a:pPr marL="133350" indent="0">
              <a:lnSpc>
                <a:spcPct val="150000"/>
              </a:lnSpc>
              <a:spcBef>
                <a:spcPts val="0"/>
              </a:spcBef>
              <a:buClr>
                <a:srgbClr val="000000"/>
              </a:buClr>
              <a:buSzPts val="2100"/>
              <a:buNone/>
            </a:pPr>
            <a:endParaRPr lang="en-US" sz="1600" dirty="0">
              <a:solidFill>
                <a:srgbClr val="000000"/>
              </a:solidFill>
            </a:endParaRPr>
          </a:p>
          <a:p>
            <a:pPr marL="133350" indent="0">
              <a:lnSpc>
                <a:spcPct val="150000"/>
              </a:lnSpc>
              <a:spcBef>
                <a:spcPts val="0"/>
              </a:spcBef>
              <a:buClr>
                <a:srgbClr val="000000"/>
              </a:buClr>
              <a:buSzPts val="2100"/>
              <a:buNone/>
            </a:pPr>
            <a:r>
              <a:rPr lang="en-US" sz="1600" dirty="0">
                <a:solidFill>
                  <a:srgbClr val="000000"/>
                </a:solidFill>
              </a:rPr>
              <a:t>This configuration provides the best trade-off between identifying churners and reduce false classifications. </a:t>
            </a:r>
          </a:p>
        </p:txBody>
      </p:sp>
      <p:sp>
        <p:nvSpPr>
          <p:cNvPr id="97" name="Google Shape;97;p7">
            <a:extLst>
              <a:ext uri="{FF2B5EF4-FFF2-40B4-BE49-F238E27FC236}">
                <a16:creationId xmlns:a16="http://schemas.microsoft.com/office/drawing/2014/main" id="{A0B24EA8-E114-6A94-C27D-9D55D45C0CA9}"/>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XGBOOST Parameters Exploration</a:t>
            </a:r>
            <a:endParaRPr dirty="0"/>
          </a:p>
        </p:txBody>
      </p:sp>
      <p:pic>
        <p:nvPicPr>
          <p:cNvPr id="3" name="Picture 2">
            <a:extLst>
              <a:ext uri="{FF2B5EF4-FFF2-40B4-BE49-F238E27FC236}">
                <a16:creationId xmlns:a16="http://schemas.microsoft.com/office/drawing/2014/main" id="{1B8878A9-30A0-3FBD-67F5-CD0EAD935D14}"/>
              </a:ext>
            </a:extLst>
          </p:cNvPr>
          <p:cNvPicPr>
            <a:picLocks noChangeAspect="1"/>
          </p:cNvPicPr>
          <p:nvPr/>
        </p:nvPicPr>
        <p:blipFill>
          <a:blip r:embed="rId3"/>
          <a:stretch>
            <a:fillRect/>
          </a:stretch>
        </p:blipFill>
        <p:spPr>
          <a:xfrm>
            <a:off x="838200" y="1743429"/>
            <a:ext cx="7270102" cy="4450898"/>
          </a:xfrm>
          <a:prstGeom prst="rect">
            <a:avLst/>
          </a:prstGeom>
        </p:spPr>
      </p:pic>
    </p:spTree>
    <p:extLst>
      <p:ext uri="{BB962C8B-B14F-4D97-AF65-F5344CB8AC3E}">
        <p14:creationId xmlns:p14="http://schemas.microsoft.com/office/powerpoint/2010/main" val="3649888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6395BF0-3F63-339B-63B7-535A0153C202}"/>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A121B4F0-CECB-68E3-6B3D-4DE842DB4E3C}"/>
              </a:ext>
            </a:extLst>
          </p:cNvPr>
          <p:cNvSpPr txBox="1">
            <a:spLocks noGrp="1"/>
          </p:cNvSpPr>
          <p:nvPr>
            <p:ph type="body" idx="1"/>
          </p:nvPr>
        </p:nvSpPr>
        <p:spPr>
          <a:xfrm>
            <a:off x="838200" y="3900196"/>
            <a:ext cx="9677400" cy="2528596"/>
          </a:xfrm>
          <a:prstGeom prst="rect">
            <a:avLst/>
          </a:prstGeom>
          <a:noFill/>
          <a:ln>
            <a:noFill/>
          </a:ln>
        </p:spPr>
        <p:txBody>
          <a:bodyPr spcFirstLastPara="1" wrap="square" lIns="91425" tIns="45700" rIns="91425" bIns="45700" anchor="t" anchorCtr="0">
            <a:normAutofit/>
          </a:bodyPr>
          <a:lstStyle/>
          <a:p>
            <a:pPr marL="133350" indent="0">
              <a:lnSpc>
                <a:spcPct val="110000"/>
              </a:lnSpc>
              <a:spcBef>
                <a:spcPts val="0"/>
              </a:spcBef>
              <a:buSzPts val="2100"/>
              <a:buNone/>
            </a:pPr>
            <a:r>
              <a:rPr lang="en-US" sz="1600" dirty="0">
                <a:solidFill>
                  <a:srgbClr val="000000"/>
                </a:solidFill>
              </a:rPr>
              <a:t>The final selected model has the following configurations</a:t>
            </a:r>
          </a:p>
          <a:p>
            <a:pPr marL="419100" indent="-285750" eaLnBrk="0" fontAlgn="base" hangingPunct="0">
              <a:lnSpc>
                <a:spcPct val="110000"/>
              </a:lnSpc>
              <a:spcBef>
                <a:spcPts val="0"/>
              </a:spcBef>
              <a:buSzPts val="2100"/>
            </a:pPr>
            <a:r>
              <a:rPr lang="en-US" altLang="en-US" sz="1600" dirty="0" err="1">
                <a:solidFill>
                  <a:srgbClr val="000000"/>
                </a:solidFill>
              </a:rPr>
              <a:t>n_estimators</a:t>
            </a:r>
            <a:r>
              <a:rPr lang="en-US" altLang="en-US" sz="1600" dirty="0">
                <a:solidFill>
                  <a:srgbClr val="000000"/>
                </a:solidFill>
              </a:rPr>
              <a:t>: 500 </a:t>
            </a:r>
          </a:p>
          <a:p>
            <a:pPr marL="419100" indent="-285750" eaLnBrk="0" fontAlgn="base" hangingPunct="0">
              <a:lnSpc>
                <a:spcPct val="110000"/>
              </a:lnSpc>
              <a:spcBef>
                <a:spcPts val="0"/>
              </a:spcBef>
              <a:buSzPts val="2100"/>
            </a:pPr>
            <a:r>
              <a:rPr lang="en-US" altLang="en-US" sz="1600" dirty="0" err="1">
                <a:solidFill>
                  <a:srgbClr val="000000"/>
                </a:solidFill>
              </a:rPr>
              <a:t>learning_rate</a:t>
            </a:r>
            <a:r>
              <a:rPr lang="en-US" altLang="en-US" sz="1600" dirty="0">
                <a:solidFill>
                  <a:srgbClr val="000000"/>
                </a:solidFill>
              </a:rPr>
              <a:t>: 0.01 </a:t>
            </a:r>
          </a:p>
          <a:p>
            <a:pPr marL="419100" indent="-285750" eaLnBrk="0" fontAlgn="base" hangingPunct="0">
              <a:lnSpc>
                <a:spcPct val="110000"/>
              </a:lnSpc>
              <a:spcBef>
                <a:spcPts val="0"/>
              </a:spcBef>
              <a:buSzPts val="2100"/>
            </a:pPr>
            <a:r>
              <a:rPr lang="en-US" altLang="en-US" sz="1600" dirty="0" err="1">
                <a:solidFill>
                  <a:srgbClr val="000000"/>
                </a:solidFill>
              </a:rPr>
              <a:t>max_depth</a:t>
            </a:r>
            <a:r>
              <a:rPr lang="en-US" altLang="en-US" sz="1600" dirty="0">
                <a:solidFill>
                  <a:srgbClr val="000000"/>
                </a:solidFill>
              </a:rPr>
              <a:t>: 3 </a:t>
            </a:r>
          </a:p>
          <a:p>
            <a:pPr marL="419100" indent="-285750" eaLnBrk="0" fontAlgn="base" hangingPunct="0">
              <a:lnSpc>
                <a:spcPct val="110000"/>
              </a:lnSpc>
              <a:spcBef>
                <a:spcPts val="0"/>
              </a:spcBef>
              <a:buSzPts val="2100"/>
            </a:pPr>
            <a:r>
              <a:rPr lang="en-US" altLang="en-US" sz="1600" dirty="0">
                <a:solidFill>
                  <a:srgbClr val="000000"/>
                </a:solidFill>
              </a:rPr>
              <a:t>subsample: 0.8 </a:t>
            </a:r>
          </a:p>
          <a:p>
            <a:pPr marL="419100" indent="-285750" eaLnBrk="0" fontAlgn="base" hangingPunct="0">
              <a:lnSpc>
                <a:spcPct val="110000"/>
              </a:lnSpc>
              <a:spcBef>
                <a:spcPts val="0"/>
              </a:spcBef>
              <a:buSzPts val="2100"/>
            </a:pPr>
            <a:r>
              <a:rPr lang="en-US" altLang="en-US" sz="1600" dirty="0" err="1">
                <a:solidFill>
                  <a:srgbClr val="000000"/>
                </a:solidFill>
              </a:rPr>
              <a:t>colsample_bytree</a:t>
            </a:r>
            <a:r>
              <a:rPr lang="en-US" altLang="en-US" sz="1600" dirty="0">
                <a:solidFill>
                  <a:srgbClr val="000000"/>
                </a:solidFill>
              </a:rPr>
              <a:t>: 0.8 </a:t>
            </a:r>
          </a:p>
          <a:p>
            <a:pPr marL="419100" indent="-285750" eaLnBrk="0" fontAlgn="base" hangingPunct="0">
              <a:lnSpc>
                <a:spcPct val="110000"/>
              </a:lnSpc>
              <a:spcBef>
                <a:spcPts val="0"/>
              </a:spcBef>
              <a:buSzPts val="2100"/>
            </a:pPr>
            <a:r>
              <a:rPr lang="en-US" altLang="en-US" sz="1600" dirty="0">
                <a:solidFill>
                  <a:srgbClr val="000000"/>
                </a:solidFill>
              </a:rPr>
              <a:t>Decision threshold: 0.5 </a:t>
            </a:r>
          </a:p>
          <a:p>
            <a:pPr marL="133350" indent="0" eaLnBrk="0" fontAlgn="base" hangingPunct="0">
              <a:lnSpc>
                <a:spcPct val="110000"/>
              </a:lnSpc>
              <a:spcBef>
                <a:spcPts val="0"/>
              </a:spcBef>
              <a:buSzPts val="2100"/>
              <a:buNone/>
            </a:pPr>
            <a:endParaRPr lang="en-US" altLang="en-US" sz="1600" dirty="0">
              <a:solidFill>
                <a:srgbClr val="000000"/>
              </a:solidFill>
            </a:endParaRPr>
          </a:p>
          <a:p>
            <a:pPr marL="133350" indent="0">
              <a:lnSpc>
                <a:spcPct val="90000"/>
              </a:lnSpc>
              <a:spcBef>
                <a:spcPts val="0"/>
              </a:spcBef>
              <a:buSzPts val="2100"/>
              <a:buNone/>
            </a:pPr>
            <a:r>
              <a:rPr lang="en-US" sz="1600" dirty="0">
                <a:solidFill>
                  <a:srgbClr val="000000"/>
                </a:solidFill>
              </a:rPr>
              <a:t>This configuration provides strong and stable performance while maintaining high churn detection capability.</a:t>
            </a:r>
          </a:p>
        </p:txBody>
      </p:sp>
      <p:sp>
        <p:nvSpPr>
          <p:cNvPr id="97" name="Google Shape;97;p7">
            <a:extLst>
              <a:ext uri="{FF2B5EF4-FFF2-40B4-BE49-F238E27FC236}">
                <a16:creationId xmlns:a16="http://schemas.microsoft.com/office/drawing/2014/main" id="{35B979AB-AF51-D647-480C-D3B0140143D8}"/>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Final XGBOOST Model Selection</a:t>
            </a:r>
            <a:endParaRPr dirty="0"/>
          </a:p>
        </p:txBody>
      </p:sp>
      <p:pic>
        <p:nvPicPr>
          <p:cNvPr id="6" name="Picture 5">
            <a:extLst>
              <a:ext uri="{FF2B5EF4-FFF2-40B4-BE49-F238E27FC236}">
                <a16:creationId xmlns:a16="http://schemas.microsoft.com/office/drawing/2014/main" id="{3BD726D2-8EEC-EC7C-0147-627066F71533}"/>
              </a:ext>
            </a:extLst>
          </p:cNvPr>
          <p:cNvPicPr>
            <a:picLocks noChangeAspect="1"/>
          </p:cNvPicPr>
          <p:nvPr/>
        </p:nvPicPr>
        <p:blipFill>
          <a:blip r:embed="rId3"/>
          <a:stretch>
            <a:fillRect/>
          </a:stretch>
        </p:blipFill>
        <p:spPr>
          <a:xfrm>
            <a:off x="838200" y="1761107"/>
            <a:ext cx="8907118" cy="2048161"/>
          </a:xfrm>
          <a:prstGeom prst="rect">
            <a:avLst/>
          </a:prstGeom>
        </p:spPr>
      </p:pic>
    </p:spTree>
    <p:extLst>
      <p:ext uri="{BB962C8B-B14F-4D97-AF65-F5344CB8AC3E}">
        <p14:creationId xmlns:p14="http://schemas.microsoft.com/office/powerpoint/2010/main" val="16995899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6C9FFF1B-C788-C476-D318-63C55C949E80}"/>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93344012-5D5E-C83C-4D37-BB7D2ACECC76}"/>
              </a:ext>
            </a:extLst>
          </p:cNvPr>
          <p:cNvSpPr txBox="1">
            <a:spLocks noGrp="1"/>
          </p:cNvSpPr>
          <p:nvPr>
            <p:ph type="body" idx="1"/>
          </p:nvPr>
        </p:nvSpPr>
        <p:spPr>
          <a:xfrm>
            <a:off x="7324531" y="1735494"/>
            <a:ext cx="3564293" cy="4292082"/>
          </a:xfrm>
          <a:prstGeom prst="rect">
            <a:avLst/>
          </a:prstGeom>
          <a:noFill/>
          <a:ln>
            <a:noFill/>
          </a:ln>
        </p:spPr>
        <p:txBody>
          <a:bodyPr spcFirstLastPara="1" wrap="square" lIns="91425" tIns="45700" rIns="91425" bIns="45700" anchor="t" anchorCtr="0">
            <a:normAutofit lnSpcReduction="10000"/>
          </a:bodyPr>
          <a:lstStyle/>
          <a:p>
            <a:pPr marL="476250" indent="-342900">
              <a:lnSpc>
                <a:spcPct val="150000"/>
              </a:lnSpc>
              <a:spcBef>
                <a:spcPts val="0"/>
              </a:spcBef>
              <a:buSzPts val="2100"/>
            </a:pPr>
            <a:r>
              <a:rPr lang="en-US" sz="1600" dirty="0">
                <a:solidFill>
                  <a:srgbClr val="000000"/>
                </a:solidFill>
              </a:rPr>
              <a:t>The final </a:t>
            </a:r>
            <a:r>
              <a:rPr lang="en-US" sz="1600" dirty="0" err="1">
                <a:solidFill>
                  <a:srgbClr val="000000"/>
                </a:solidFill>
              </a:rPr>
              <a:t>XGBoost</a:t>
            </a:r>
            <a:r>
              <a:rPr lang="en-US" sz="1600" dirty="0">
                <a:solidFill>
                  <a:srgbClr val="000000"/>
                </a:solidFill>
              </a:rPr>
              <a:t> model achieved ROC-AUC of 0.945, indicating strong classification capability. </a:t>
            </a:r>
          </a:p>
          <a:p>
            <a:pPr marL="476250" indent="-342900">
              <a:lnSpc>
                <a:spcPct val="150000"/>
              </a:lnSpc>
              <a:spcBef>
                <a:spcPts val="0"/>
              </a:spcBef>
              <a:buSzPts val="2100"/>
            </a:pPr>
            <a:r>
              <a:rPr lang="en-US" sz="1600" dirty="0">
                <a:solidFill>
                  <a:srgbClr val="000000"/>
                </a:solidFill>
              </a:rPr>
              <a:t>An AUC closes to 1.0 suggests that the model produces reliable probability predictions and ranks churn customers higher than non-churn customers most of the time. </a:t>
            </a:r>
          </a:p>
          <a:p>
            <a:pPr marL="476250" indent="-342900">
              <a:lnSpc>
                <a:spcPct val="150000"/>
              </a:lnSpc>
              <a:spcBef>
                <a:spcPts val="0"/>
              </a:spcBef>
              <a:buSzPts val="2100"/>
            </a:pPr>
            <a:r>
              <a:rPr lang="en-US" sz="1600" dirty="0">
                <a:solidFill>
                  <a:srgbClr val="000000"/>
                </a:solidFill>
              </a:rPr>
              <a:t>Overall, the high ROC-AUC score confirms the model generalizes well and is effective for churn prediction.</a:t>
            </a:r>
          </a:p>
        </p:txBody>
      </p:sp>
      <p:sp>
        <p:nvSpPr>
          <p:cNvPr id="97" name="Google Shape;97;p7">
            <a:extLst>
              <a:ext uri="{FF2B5EF4-FFF2-40B4-BE49-F238E27FC236}">
                <a16:creationId xmlns:a16="http://schemas.microsoft.com/office/drawing/2014/main" id="{799E0F2E-1741-E95B-B205-786255AA5FD5}"/>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Model Evaluation</a:t>
            </a:r>
            <a:endParaRPr dirty="0"/>
          </a:p>
        </p:txBody>
      </p:sp>
      <p:pic>
        <p:nvPicPr>
          <p:cNvPr id="3" name="Picture 2">
            <a:extLst>
              <a:ext uri="{FF2B5EF4-FFF2-40B4-BE49-F238E27FC236}">
                <a16:creationId xmlns:a16="http://schemas.microsoft.com/office/drawing/2014/main" id="{B50521B6-F33D-24DA-F96A-3CA457A8B767}"/>
              </a:ext>
            </a:extLst>
          </p:cNvPr>
          <p:cNvPicPr>
            <a:picLocks noChangeAspect="1"/>
          </p:cNvPicPr>
          <p:nvPr/>
        </p:nvPicPr>
        <p:blipFill>
          <a:blip r:embed="rId3"/>
          <a:stretch>
            <a:fillRect/>
          </a:stretch>
        </p:blipFill>
        <p:spPr>
          <a:xfrm>
            <a:off x="838200" y="1735494"/>
            <a:ext cx="6378079" cy="4783559"/>
          </a:xfrm>
          <a:prstGeom prst="rect">
            <a:avLst/>
          </a:prstGeom>
        </p:spPr>
      </p:pic>
    </p:spTree>
    <p:extLst>
      <p:ext uri="{BB962C8B-B14F-4D97-AF65-F5344CB8AC3E}">
        <p14:creationId xmlns:p14="http://schemas.microsoft.com/office/powerpoint/2010/main" val="9055921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892C4BFF-0F5D-5853-DDCE-95BA16F76298}"/>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9735E29E-0944-B1B4-2165-18C86AB27D02}"/>
              </a:ext>
            </a:extLst>
          </p:cNvPr>
          <p:cNvSpPr txBox="1">
            <a:spLocks noGrp="1"/>
          </p:cNvSpPr>
          <p:nvPr>
            <p:ph type="body" idx="1"/>
          </p:nvPr>
        </p:nvSpPr>
        <p:spPr>
          <a:xfrm>
            <a:off x="838199" y="1828799"/>
            <a:ext cx="10722429" cy="4310743"/>
          </a:xfrm>
          <a:prstGeom prst="rect">
            <a:avLst/>
          </a:prstGeom>
          <a:noFill/>
          <a:ln>
            <a:noFill/>
          </a:ln>
        </p:spPr>
        <p:txBody>
          <a:bodyPr spcFirstLastPara="1" wrap="square" lIns="91425" tIns="45700" rIns="91425" bIns="45700" anchor="t" anchorCtr="0">
            <a:normAutofit fontScale="92500"/>
          </a:bodyPr>
          <a:lstStyle/>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In this project, we built churn prediction models using Random Forest and </a:t>
            </a:r>
            <a:r>
              <a:rPr lang="en-US" sz="1600" dirty="0" err="1">
                <a:solidFill>
                  <a:srgbClr val="000000"/>
                </a:solidFill>
              </a:rPr>
              <a:t>XGBoost</a:t>
            </a:r>
            <a:r>
              <a:rPr lang="en-US" sz="1600" dirty="0">
                <a:solidFill>
                  <a:srgbClr val="000000"/>
                </a:solidFill>
              </a:rPr>
              <a:t> on Telco customer churn dataset.</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The business goal is to maximize customers churn detection, so we emphasize on the Recall metric. </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The final model was evaluated based on best overall performance – high recall score, high F1-score, and high ROC-AUC score.</a:t>
            </a: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The final tuned </a:t>
            </a:r>
            <a:r>
              <a:rPr lang="en-US" sz="1600" dirty="0" err="1">
                <a:solidFill>
                  <a:srgbClr val="000000"/>
                </a:solidFill>
              </a:rPr>
              <a:t>XGBoost</a:t>
            </a:r>
            <a:r>
              <a:rPr lang="en-US" sz="1600" dirty="0">
                <a:solidFill>
                  <a:srgbClr val="000000"/>
                </a:solidFill>
              </a:rPr>
              <a:t> model achieved strong results, including:</a:t>
            </a:r>
          </a:p>
          <a:p>
            <a:pPr marL="133350" indent="0">
              <a:lnSpc>
                <a:spcPct val="150000"/>
              </a:lnSpc>
              <a:spcBef>
                <a:spcPts val="0"/>
              </a:spcBef>
              <a:buClr>
                <a:srgbClr val="000000"/>
              </a:buClr>
              <a:buSzPts val="2100"/>
              <a:buNone/>
            </a:pPr>
            <a:endParaRPr lang="en-US" sz="1600" dirty="0">
              <a:solidFill>
                <a:srgbClr val="000000"/>
              </a:solidFill>
            </a:endParaRPr>
          </a:p>
          <a:p>
            <a:pPr marL="876300" lvl="2" indent="-285750" eaLnBrk="0" fontAlgn="base" hangingPunct="0">
              <a:lnSpc>
                <a:spcPct val="150000"/>
              </a:lnSpc>
              <a:spcBef>
                <a:spcPts val="0"/>
              </a:spcBef>
              <a:buClr>
                <a:srgbClr val="000000"/>
              </a:buClr>
              <a:buSzPts val="2100"/>
              <a:buFont typeface="Arial" panose="020B0604020202020204" pitchFamily="34" charset="0"/>
              <a:buChar char="•"/>
            </a:pPr>
            <a:r>
              <a:rPr lang="en-US" altLang="en-US" sz="1800" b="1" dirty="0">
                <a:solidFill>
                  <a:srgbClr val="000000"/>
                </a:solidFill>
              </a:rPr>
              <a:t>Recall ≈ 0.82 </a:t>
            </a:r>
          </a:p>
          <a:p>
            <a:pPr marL="876300" lvl="2" indent="-285750" eaLnBrk="0" fontAlgn="base" hangingPunct="0">
              <a:lnSpc>
                <a:spcPct val="150000"/>
              </a:lnSpc>
              <a:spcBef>
                <a:spcPts val="0"/>
              </a:spcBef>
              <a:buClr>
                <a:srgbClr val="000000"/>
              </a:buClr>
              <a:buSzPts val="2100"/>
              <a:buFont typeface="Arial" panose="020B0604020202020204" pitchFamily="34" charset="0"/>
              <a:buChar char="•"/>
            </a:pPr>
            <a:r>
              <a:rPr lang="en-US" altLang="en-US" sz="1800" b="1" dirty="0">
                <a:solidFill>
                  <a:srgbClr val="000000"/>
                </a:solidFill>
              </a:rPr>
              <a:t>F1-score ≈ 0.63 </a:t>
            </a:r>
          </a:p>
          <a:p>
            <a:pPr marL="876300" lvl="2" indent="-285750" eaLnBrk="0" fontAlgn="base" hangingPunct="0">
              <a:lnSpc>
                <a:spcPct val="150000"/>
              </a:lnSpc>
              <a:spcBef>
                <a:spcPts val="0"/>
              </a:spcBef>
              <a:buClr>
                <a:srgbClr val="000000"/>
              </a:buClr>
              <a:buSzPts val="2100"/>
              <a:buFont typeface="Arial" panose="020B0604020202020204" pitchFamily="34" charset="0"/>
              <a:buChar char="•"/>
            </a:pPr>
            <a:r>
              <a:rPr lang="en-US" altLang="en-US" sz="1800" b="1" dirty="0">
                <a:solidFill>
                  <a:srgbClr val="000000"/>
                </a:solidFill>
              </a:rPr>
              <a:t>ROC-AUC = 0.945 </a:t>
            </a:r>
          </a:p>
          <a:p>
            <a:pPr marL="133350" indent="0">
              <a:lnSpc>
                <a:spcPct val="150000"/>
              </a:lnSpc>
              <a:spcBef>
                <a:spcPts val="0"/>
              </a:spcBef>
              <a:buClr>
                <a:srgbClr val="000000"/>
              </a:buClr>
              <a:buSzPts val="2100"/>
              <a:buNone/>
            </a:pPr>
            <a:endParaRPr lang="en-US" sz="1600" dirty="0">
              <a:solidFill>
                <a:srgbClr val="000000"/>
              </a:solidFill>
            </a:endParaRPr>
          </a:p>
          <a:p>
            <a:pPr marL="419100" indent="-285750">
              <a:lnSpc>
                <a:spcPct val="150000"/>
              </a:lnSpc>
              <a:spcBef>
                <a:spcPts val="0"/>
              </a:spcBef>
              <a:buClr>
                <a:srgbClr val="000000"/>
              </a:buClr>
              <a:buSzPts val="2100"/>
              <a:buFont typeface="Arial" panose="020B0604020202020204" pitchFamily="34" charset="0"/>
              <a:buChar char="•"/>
            </a:pPr>
            <a:r>
              <a:rPr lang="en-US" sz="1600" dirty="0">
                <a:solidFill>
                  <a:srgbClr val="000000"/>
                </a:solidFill>
              </a:rPr>
              <a:t>In conclusion, the model effectively identifies customers with high risk of churn and can support proactive customer retention. </a:t>
            </a:r>
          </a:p>
        </p:txBody>
      </p:sp>
      <p:sp>
        <p:nvSpPr>
          <p:cNvPr id="97" name="Google Shape;97;p7">
            <a:extLst>
              <a:ext uri="{FF2B5EF4-FFF2-40B4-BE49-F238E27FC236}">
                <a16:creationId xmlns:a16="http://schemas.microsoft.com/office/drawing/2014/main" id="{8CFDD088-773C-9029-A6B9-F9DBC3596112}"/>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Conclusion</a:t>
            </a:r>
            <a:endParaRPr dirty="0"/>
          </a:p>
        </p:txBody>
      </p:sp>
    </p:spTree>
    <p:extLst>
      <p:ext uri="{BB962C8B-B14F-4D97-AF65-F5344CB8AC3E}">
        <p14:creationId xmlns:p14="http://schemas.microsoft.com/office/powerpoint/2010/main" val="40487081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35106F7E-34CD-BB07-AEDB-D4A3C6009760}"/>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D13B71E4-8C18-7673-D503-D0C7891B90CB}"/>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133350" indent="0">
              <a:lnSpc>
                <a:spcPct val="90000"/>
              </a:lnSpc>
              <a:spcBef>
                <a:spcPts val="0"/>
              </a:spcBef>
              <a:buSzPts val="2100"/>
              <a:buNone/>
            </a:pPr>
            <a:r>
              <a:rPr lang="fr-FR" dirty="0">
                <a:solidFill>
                  <a:srgbClr val="000000"/>
                </a:solidFill>
              </a:rPr>
              <a:t>Huynh, A. (2026). </a:t>
            </a:r>
            <a:r>
              <a:rPr lang="en-US" dirty="0">
                <a:solidFill>
                  <a:srgbClr val="000000"/>
                </a:solidFill>
              </a:rPr>
              <a:t>AIT736-Team3. </a:t>
            </a:r>
            <a:r>
              <a:rPr lang="en-US" dirty="0" err="1">
                <a:solidFill>
                  <a:srgbClr val="000000"/>
                </a:solidFill>
              </a:rPr>
              <a:t>Github</a:t>
            </a:r>
            <a:endParaRPr lang="en-US" dirty="0">
              <a:solidFill>
                <a:srgbClr val="000000"/>
              </a:solidFill>
            </a:endParaRPr>
          </a:p>
          <a:p>
            <a:pPr marL="133350" indent="0">
              <a:lnSpc>
                <a:spcPct val="90000"/>
              </a:lnSpc>
              <a:spcBef>
                <a:spcPts val="0"/>
              </a:spcBef>
              <a:buSzPts val="2100"/>
              <a:buNone/>
            </a:pPr>
            <a:r>
              <a:rPr lang="en-US" dirty="0">
                <a:solidFill>
                  <a:srgbClr val="000000"/>
                </a:solidFill>
                <a:hlinkClick r:id="rId3"/>
              </a:rPr>
              <a:t>https://github.com/annguyenhuynh/AIT736-Team3/tree/main</a:t>
            </a:r>
            <a:endParaRPr lang="en-US" dirty="0">
              <a:solidFill>
                <a:srgbClr val="000000"/>
              </a:solidFill>
            </a:endParaRPr>
          </a:p>
          <a:p>
            <a:pPr marL="133350" indent="0">
              <a:lnSpc>
                <a:spcPct val="90000"/>
              </a:lnSpc>
              <a:spcBef>
                <a:spcPts val="0"/>
              </a:spcBef>
              <a:buSzPts val="2100"/>
              <a:buNone/>
            </a:pPr>
            <a:endParaRPr lang="en-US" dirty="0">
              <a:solidFill>
                <a:srgbClr val="000000"/>
              </a:solidFill>
            </a:endParaRPr>
          </a:p>
          <a:p>
            <a:pPr marL="133350" indent="0">
              <a:lnSpc>
                <a:spcPct val="90000"/>
              </a:lnSpc>
              <a:spcBef>
                <a:spcPts val="0"/>
              </a:spcBef>
              <a:buSzPts val="2100"/>
              <a:buNone/>
            </a:pPr>
            <a:r>
              <a:rPr lang="fr-FR" dirty="0" err="1">
                <a:solidFill>
                  <a:srgbClr val="000000"/>
                </a:solidFill>
              </a:rPr>
              <a:t>Kaggle</a:t>
            </a:r>
            <a:r>
              <a:rPr lang="fr-FR" dirty="0">
                <a:solidFill>
                  <a:srgbClr val="000000"/>
                </a:solidFill>
              </a:rPr>
              <a:t>. (2017). </a:t>
            </a:r>
            <a:r>
              <a:rPr lang="fr-FR" i="1" dirty="0" err="1">
                <a:solidFill>
                  <a:srgbClr val="000000"/>
                </a:solidFill>
              </a:rPr>
              <a:t>Telco</a:t>
            </a:r>
            <a:r>
              <a:rPr lang="fr-FR" i="1" dirty="0">
                <a:solidFill>
                  <a:srgbClr val="000000"/>
                </a:solidFill>
              </a:rPr>
              <a:t> Customer </a:t>
            </a:r>
            <a:r>
              <a:rPr lang="fr-FR" i="1" dirty="0" err="1">
                <a:solidFill>
                  <a:srgbClr val="000000"/>
                </a:solidFill>
              </a:rPr>
              <a:t>Churn</a:t>
            </a:r>
            <a:r>
              <a:rPr lang="fr-FR" dirty="0">
                <a:solidFill>
                  <a:srgbClr val="000000"/>
                </a:solidFill>
              </a:rPr>
              <a:t>. </a:t>
            </a:r>
            <a:r>
              <a:rPr lang="fr-FR" dirty="0" err="1">
                <a:solidFill>
                  <a:srgbClr val="000000"/>
                </a:solidFill>
              </a:rPr>
              <a:t>Kaggle</a:t>
            </a:r>
            <a:r>
              <a:rPr lang="fr-FR" dirty="0">
                <a:solidFill>
                  <a:srgbClr val="000000"/>
                </a:solidFill>
              </a:rPr>
              <a:t> </a:t>
            </a:r>
          </a:p>
          <a:p>
            <a:pPr marL="133350" indent="0">
              <a:lnSpc>
                <a:spcPct val="90000"/>
              </a:lnSpc>
              <a:spcBef>
                <a:spcPts val="0"/>
              </a:spcBef>
              <a:buSzPts val="2100"/>
              <a:buNone/>
            </a:pPr>
            <a:r>
              <a:rPr lang="en-US" dirty="0">
                <a:solidFill>
                  <a:srgbClr val="000000"/>
                </a:solidFill>
                <a:hlinkClick r:id="rId4">
                  <a:extLst>
                    <a:ext uri="{A12FA001-AC4F-418D-AE19-62706E023703}">
                      <ahyp:hlinkClr xmlns:ahyp="http://schemas.microsoft.com/office/drawing/2018/hyperlinkcolor" val="tx"/>
                    </a:ext>
                  </a:extLst>
                </a:hlinkClick>
              </a:rPr>
              <a:t>https://www.kaggle.com/datasets/blastchar/telco-customer-	churn</a:t>
            </a:r>
            <a:endParaRPr lang="en-US" dirty="0">
              <a:solidFill>
                <a:srgbClr val="000000"/>
              </a:solidFill>
            </a:endParaRPr>
          </a:p>
          <a:p>
            <a:pPr marL="133350" indent="0">
              <a:lnSpc>
                <a:spcPct val="90000"/>
              </a:lnSpc>
              <a:spcBef>
                <a:spcPts val="0"/>
              </a:spcBef>
              <a:buSzPts val="2100"/>
              <a:buNone/>
            </a:pPr>
            <a:endParaRPr lang="fr-FR" dirty="0">
              <a:solidFill>
                <a:srgbClr val="000000"/>
              </a:solidFill>
            </a:endParaRPr>
          </a:p>
          <a:p>
            <a:pPr marL="133350" indent="0">
              <a:lnSpc>
                <a:spcPct val="90000"/>
              </a:lnSpc>
              <a:spcBef>
                <a:spcPts val="0"/>
              </a:spcBef>
              <a:buSzPts val="2100"/>
              <a:buNone/>
            </a:pPr>
            <a:r>
              <a:rPr lang="fr-FR" dirty="0">
                <a:solidFill>
                  <a:srgbClr val="000000"/>
                </a:solidFill>
              </a:rPr>
              <a:t>Lopez, M.(2025</a:t>
            </a:r>
            <a:r>
              <a:rPr lang="fr-FR" i="1" dirty="0">
                <a:solidFill>
                  <a:srgbClr val="000000"/>
                </a:solidFill>
              </a:rPr>
              <a:t>). </a:t>
            </a:r>
            <a:r>
              <a:rPr lang="en-US" i="1" dirty="0">
                <a:solidFill>
                  <a:srgbClr val="000000"/>
                </a:solidFill>
              </a:rPr>
              <a:t>What Is Customer Churn? A Complete Guide with Examples. </a:t>
            </a:r>
            <a:r>
              <a:rPr lang="fr-FR" dirty="0">
                <a:solidFill>
                  <a:srgbClr val="000000"/>
                </a:solidFill>
              </a:rPr>
              <a:t>Salesforce </a:t>
            </a:r>
            <a:r>
              <a:rPr lang="fr-FR" dirty="0">
                <a:solidFill>
                  <a:srgbClr val="000000"/>
                </a:solidFill>
                <a:hlinkClick r:id="rId5">
                  <a:extLst>
                    <a:ext uri="{A12FA001-AC4F-418D-AE19-62706E023703}">
                      <ahyp:hlinkClr xmlns:ahyp="http://schemas.microsoft.com/office/drawing/2018/hyperlinkcolor" val="tx"/>
                    </a:ext>
                  </a:extLst>
                </a:hlinkClick>
              </a:rPr>
              <a:t>https://www.salesforce.com/sales/analytics/customer-churn/</a:t>
            </a:r>
            <a:endParaRPr lang="fr-FR" dirty="0">
              <a:solidFill>
                <a:srgbClr val="000000"/>
              </a:solidFill>
            </a:endParaRPr>
          </a:p>
          <a:p>
            <a:pPr marL="133350" indent="0">
              <a:lnSpc>
                <a:spcPct val="90000"/>
              </a:lnSpc>
              <a:spcBef>
                <a:spcPts val="0"/>
              </a:spcBef>
              <a:buSzPts val="2100"/>
              <a:buNone/>
            </a:pPr>
            <a:endParaRPr lang="fr-FR" dirty="0">
              <a:solidFill>
                <a:srgbClr val="000000"/>
              </a:solidFill>
            </a:endParaRPr>
          </a:p>
          <a:p>
            <a:pPr marL="133350" indent="0">
              <a:lnSpc>
                <a:spcPct val="90000"/>
              </a:lnSpc>
              <a:spcBef>
                <a:spcPts val="0"/>
              </a:spcBef>
              <a:buSzPts val="2100"/>
              <a:buNone/>
            </a:pPr>
            <a:endParaRPr lang="en-US" dirty="0">
              <a:solidFill>
                <a:srgbClr val="000000"/>
              </a:solidFill>
            </a:endParaRPr>
          </a:p>
        </p:txBody>
      </p:sp>
      <p:sp>
        <p:nvSpPr>
          <p:cNvPr id="97" name="Google Shape;97;p7">
            <a:extLst>
              <a:ext uri="{FF2B5EF4-FFF2-40B4-BE49-F238E27FC236}">
                <a16:creationId xmlns:a16="http://schemas.microsoft.com/office/drawing/2014/main" id="{3299C404-C059-293F-B0E6-A14D6FBCD368}"/>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References</a:t>
            </a:r>
            <a:endParaRPr dirty="0"/>
          </a:p>
        </p:txBody>
      </p:sp>
    </p:spTree>
    <p:extLst>
      <p:ext uri="{BB962C8B-B14F-4D97-AF65-F5344CB8AC3E}">
        <p14:creationId xmlns:p14="http://schemas.microsoft.com/office/powerpoint/2010/main" val="2034706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5">
          <a:extLst>
            <a:ext uri="{FF2B5EF4-FFF2-40B4-BE49-F238E27FC236}">
              <a16:creationId xmlns:a16="http://schemas.microsoft.com/office/drawing/2014/main" id="{43EDD83E-4C54-786E-DE1D-4A9A523BD1A7}"/>
            </a:ext>
          </a:extLst>
        </p:cNvPr>
        <p:cNvGrpSpPr/>
        <p:nvPr/>
      </p:nvGrpSpPr>
      <p:grpSpPr>
        <a:xfrm>
          <a:off x="0" y="0"/>
          <a:ext cx="0" cy="0"/>
          <a:chOff x="0" y="0"/>
          <a:chExt cx="0" cy="0"/>
        </a:xfrm>
      </p:grpSpPr>
      <p:pic>
        <p:nvPicPr>
          <p:cNvPr id="3074" name="Picture 2" descr="Thank You Cartoon Images – Browse 98,342 Stock Photos, Vectors, and Video |  Adobe Stock">
            <a:extLst>
              <a:ext uri="{FF2B5EF4-FFF2-40B4-BE49-F238E27FC236}">
                <a16:creationId xmlns:a16="http://schemas.microsoft.com/office/drawing/2014/main" id="{5CB3F209-2AD4-960C-2FF9-E5D102DFC4A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43467" y="702733"/>
            <a:ext cx="10905066" cy="5452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5116134"/>
      </p:ext>
    </p:extLst>
  </p:cSld>
  <p:clrMapOvr>
    <a:masterClrMapping/>
  </p:clrMapOvr>
</p:sld>
</file>

<file path=ppt/theme/theme1.xml><?xml version="1.0" encoding="utf-8"?>
<a:theme xmlns:a="http://schemas.openxmlformats.org/drawingml/2006/main" name="Office Theme">
  <a:themeElements>
    <a:clrScheme name="Mason">
      <a:dk1>
        <a:srgbClr val="006633"/>
      </a:dk1>
      <a:lt1>
        <a:srgbClr val="FFFFFF"/>
      </a:lt1>
      <a:dk2>
        <a:srgbClr val="425195"/>
      </a:dk2>
      <a:lt2>
        <a:srgbClr val="A0C9C1"/>
      </a:lt2>
      <a:accent1>
        <a:srgbClr val="00909E"/>
      </a:accent1>
      <a:accent2>
        <a:srgbClr val="AC1D37"/>
      </a:accent2>
      <a:accent3>
        <a:srgbClr val="805732"/>
      </a:accent3>
      <a:accent4>
        <a:srgbClr val="80902B"/>
      </a:accent4>
      <a:accent5>
        <a:srgbClr val="FFCC33"/>
      </a:accent5>
      <a:accent6>
        <a:srgbClr val="D8D8C1"/>
      </a:accent6>
      <a:hlink>
        <a:srgbClr val="F79411"/>
      </a:hlink>
      <a:folHlink>
        <a:srgbClr val="87908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CA45C30C308A341BFDAB65976ABB442" ma:contentTypeVersion="17" ma:contentTypeDescription="Create a new document." ma:contentTypeScope="" ma:versionID="eeee7edb6e606ca9c644af75759c4062">
  <xsd:schema xmlns:xsd="http://www.w3.org/2001/XMLSchema" xmlns:xs="http://www.w3.org/2001/XMLSchema" xmlns:p="http://schemas.microsoft.com/office/2006/metadata/properties" xmlns:ns2="7d35bc41-1145-4875-8ed8-4b6586f43481" xmlns:ns3="ea035b0b-d4a4-4160-ae0a-32d2cf7a840d" targetNamespace="http://schemas.microsoft.com/office/2006/metadata/properties" ma:root="true" ma:fieldsID="608f77e83057bc2d9176dc756be9e826" ns2:_="" ns3:_="">
    <xsd:import namespace="7d35bc41-1145-4875-8ed8-4b6586f43481"/>
    <xsd:import namespace="ea035b0b-d4a4-4160-ae0a-32d2cf7a840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GenerationTime" minOccurs="0"/>
                <xsd:element ref="ns2:MediaServiceEventHashCode" minOccurs="0"/>
                <xsd:element ref="ns2:MediaLengthInSeconds" minOccurs="0"/>
                <xsd:element ref="ns2:MediaServiceLocation"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d35bc41-1145-4875-8ed8-4b6586f4348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87414def-154c-4d25-b3bb-ada8546948f6"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a035b0b-d4a4-4160-ae0a-32d2cf7a840d"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f6c72f63-8241-44d9-aece-f266ac0fa368}" ma:internalName="TaxCatchAll" ma:showField="CatchAllData" ma:web="ea035b0b-d4a4-4160-ae0a-32d2cf7a840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a035b0b-d4a4-4160-ae0a-32d2cf7a840d" xsi:nil="true"/>
    <lcf76f155ced4ddcb4097134ff3c332f xmlns="7d35bc41-1145-4875-8ed8-4b6586f4348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076C0E0-66E3-4F9F-9D1B-306142ACFF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d35bc41-1145-4875-8ed8-4b6586f43481"/>
    <ds:schemaRef ds:uri="ea035b0b-d4a4-4160-ae0a-32d2cf7a840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20A64D7-DC07-49E6-8411-E59672CE7BB8}">
  <ds:schemaRefs>
    <ds:schemaRef ds:uri="http://schemas.microsoft.com/sharepoint/v3/contenttype/forms"/>
  </ds:schemaRefs>
</ds:datastoreItem>
</file>

<file path=customXml/itemProps3.xml><?xml version="1.0" encoding="utf-8"?>
<ds:datastoreItem xmlns:ds="http://schemas.openxmlformats.org/officeDocument/2006/customXml" ds:itemID="{EBBB1ECE-AFD7-4208-A965-E8724EC834DC}">
  <ds:schemaRefs>
    <ds:schemaRef ds:uri="http://purl.org/dc/dcmitype/"/>
    <ds:schemaRef ds:uri="http://schemas.microsoft.com/office/infopath/2007/PartnerControls"/>
    <ds:schemaRef ds:uri="http://purl.org/dc/elements/1.1/"/>
    <ds:schemaRef ds:uri="http://schemas.microsoft.com/office/2006/metadata/properties"/>
    <ds:schemaRef ds:uri="7d35bc41-1145-4875-8ed8-4b6586f43481"/>
    <ds:schemaRef ds:uri="http://purl.org/dc/terms/"/>
    <ds:schemaRef ds:uri="http://schemas.microsoft.com/office/2006/documentManagement/types"/>
    <ds:schemaRef ds:uri="ea035b0b-d4a4-4160-ae0a-32d2cf7a840d"/>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1123</TotalTime>
  <Words>3871</Words>
  <Application>Microsoft Office PowerPoint</Application>
  <PresentationFormat>Widescreen</PresentationFormat>
  <Paragraphs>185</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AIT-736 Applied Machine Learning</vt:lpstr>
      <vt:lpstr>Introduction/Motivation</vt:lpstr>
      <vt:lpstr>Problem Statement/Business Goal</vt:lpstr>
      <vt:lpstr>Dataset Description</vt:lpstr>
      <vt:lpstr>Exploratory Data Analysis</vt:lpstr>
      <vt:lpstr>Dataset Preparation and Cleaning</vt:lpstr>
      <vt:lpstr>Dataset Visualization</vt:lpstr>
      <vt:lpstr>Multicollinearity Analysis (VIF)</vt:lpstr>
      <vt:lpstr>Train/Test Split</vt:lpstr>
      <vt:lpstr>Models Development – Random Forest Classifier Baseline Tree model</vt:lpstr>
      <vt:lpstr>Models Development – XGBOOST Classifier</vt:lpstr>
      <vt:lpstr>Models Comparison</vt:lpstr>
      <vt:lpstr>XGBOOST Model Tuning</vt:lpstr>
      <vt:lpstr>XGBOOST Parameters Exploration</vt:lpstr>
      <vt:lpstr>Final XGBOOST Model Selection</vt:lpstr>
      <vt:lpstr>Model Evaluation</vt:lpstr>
      <vt:lpstr>Conclusion</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Mason PPT Template</dc:title>
  <dc:creator>Microsoft Office User</dc:creator>
  <cp:lastModifiedBy>An Huynh</cp:lastModifiedBy>
  <cp:revision>45</cp:revision>
  <dcterms:created xsi:type="dcterms:W3CDTF">2019-06-26T16:02:10Z</dcterms:created>
  <dcterms:modified xsi:type="dcterms:W3CDTF">2026-04-30T17:02:19Z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0x010100DCA45C30C308A341BFDAB65976ABB442</vt:lpwstr>
  </property>
  <property fmtid="{D5CDD505-2E9C-101B-9397-08002B2CF9AE}" pid="3" name="MediaServiceImageTags">
    <vt:lpwstr/>
  </property>
</Properties>
</file>