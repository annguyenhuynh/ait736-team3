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24"/>
  </p:notesMasterIdLst>
  <p:sldIdLst>
    <p:sldId id="268" r:id="rId5"/>
    <p:sldId id="261" r:id="rId6"/>
    <p:sldId id="257" r:id="rId7"/>
    <p:sldId id="262" r:id="rId8"/>
    <p:sldId id="272" r:id="rId9"/>
    <p:sldId id="270" r:id="rId10"/>
    <p:sldId id="273" r:id="rId11"/>
    <p:sldId id="274" r:id="rId12"/>
    <p:sldId id="271" r:id="rId13"/>
    <p:sldId id="275" r:id="rId14"/>
    <p:sldId id="282" r:id="rId15"/>
    <p:sldId id="276" r:id="rId16"/>
    <p:sldId id="277" r:id="rId17"/>
    <p:sldId id="278" r:id="rId18"/>
    <p:sldId id="283" r:id="rId19"/>
    <p:sldId id="279" r:id="rId20"/>
    <p:sldId id="280" r:id="rId21"/>
    <p:sldId id="281" r:id="rId22"/>
    <p:sldId id="284"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oA08xUQFmVkTcOpqRfxDqbGkK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09E"/>
    <a:srgbClr val="FFFFFF"/>
    <a:srgbClr val="00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BDCCB7-286D-4459-AF97-CC0A039CD1B4}" v="29" dt="2026-04-30T17:02:14.325"/>
  </p1510:revLst>
</p1510:revInfo>
</file>

<file path=ppt/tableStyles.xml><?xml version="1.0" encoding="utf-8"?>
<a:tblStyleLst xmlns:a="http://schemas.openxmlformats.org/drawingml/2006/main" def="{9FC0CF5B-8249-4F8D-B440-F45ADADE8D9B}">
  <a:tblStyle styleId="{9FC0CF5B-8249-4F8D-B440-F45ADADE8D9B}"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20"/>
    <p:restoredTop sz="95659" autoAdjust="0"/>
  </p:normalViewPr>
  <p:slideViewPr>
    <p:cSldViewPr snapToGrid="0">
      <p:cViewPr varScale="1">
        <p:scale>
          <a:sx n="88" d="100"/>
          <a:sy n="88" d="100"/>
        </p:scale>
        <p:origin x="176"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 Huynh" userId="75d05052-a575-4016-a87b-6fc479a19c94" providerId="ADAL" clId="{5BACBA6C-47AF-465D-B8FF-42F572A60578}"/>
    <pc:docChg chg="undo custSel addSld delSld modSld">
      <pc:chgData name="An Huynh" userId="75d05052-a575-4016-a87b-6fc479a19c94" providerId="ADAL" clId="{5BACBA6C-47AF-465D-B8FF-42F572A60578}" dt="2026-04-30T17:02:17.311" v="4712" actId="26606"/>
      <pc:docMkLst>
        <pc:docMk/>
      </pc:docMkLst>
      <pc:sldChg chg="del">
        <pc:chgData name="An Huynh" userId="75d05052-a575-4016-a87b-6fc479a19c94" providerId="ADAL" clId="{5BACBA6C-47AF-465D-B8FF-42F572A60578}" dt="2026-04-30T16:17:07.127" v="4698" actId="47"/>
        <pc:sldMkLst>
          <pc:docMk/>
          <pc:sldMk cId="0" sldId="256"/>
        </pc:sldMkLst>
      </pc:sldChg>
      <pc:sldChg chg="del">
        <pc:chgData name="An Huynh" userId="75d05052-a575-4016-a87b-6fc479a19c94" providerId="ADAL" clId="{5BACBA6C-47AF-465D-B8FF-42F572A60578}" dt="2026-04-30T16:17:00.153" v="4697" actId="47"/>
        <pc:sldMkLst>
          <pc:docMk/>
          <pc:sldMk cId="0" sldId="258"/>
        </pc:sldMkLst>
      </pc:sldChg>
      <pc:sldChg chg="del">
        <pc:chgData name="An Huynh" userId="75d05052-a575-4016-a87b-6fc479a19c94" providerId="ADAL" clId="{5BACBA6C-47AF-465D-B8FF-42F572A60578}" dt="2026-04-30T16:16:59.257" v="4696" actId="47"/>
        <pc:sldMkLst>
          <pc:docMk/>
          <pc:sldMk cId="0" sldId="259"/>
        </pc:sldMkLst>
      </pc:sldChg>
      <pc:sldChg chg="del">
        <pc:chgData name="An Huynh" userId="75d05052-a575-4016-a87b-6fc479a19c94" providerId="ADAL" clId="{5BACBA6C-47AF-465D-B8FF-42F572A60578}" dt="2026-04-30T16:16:57.544" v="4695" actId="47"/>
        <pc:sldMkLst>
          <pc:docMk/>
          <pc:sldMk cId="0" sldId="260"/>
        </pc:sldMkLst>
      </pc:sldChg>
      <pc:sldChg chg="addSp delSp modSp mod">
        <pc:chgData name="An Huynh" userId="75d05052-a575-4016-a87b-6fc479a19c94" providerId="ADAL" clId="{5BACBA6C-47AF-465D-B8FF-42F572A60578}" dt="2026-04-30T02:12:33.125" v="194" actId="1076"/>
        <pc:sldMkLst>
          <pc:docMk/>
          <pc:sldMk cId="0" sldId="262"/>
        </pc:sldMkLst>
        <pc:spChg chg="mod">
          <ac:chgData name="An Huynh" userId="75d05052-a575-4016-a87b-6fc479a19c94" providerId="ADAL" clId="{5BACBA6C-47AF-465D-B8FF-42F572A60578}" dt="2026-04-30T02:12:26.502" v="191" actId="14100"/>
          <ac:spMkLst>
            <pc:docMk/>
            <pc:sldMk cId="0" sldId="262"/>
            <ac:spMk id="96" creationId="{00000000-0000-0000-0000-000000000000}"/>
          </ac:spMkLst>
        </pc:spChg>
        <pc:picChg chg="mod">
          <ac:chgData name="An Huynh" userId="75d05052-a575-4016-a87b-6fc479a19c94" providerId="ADAL" clId="{5BACBA6C-47AF-465D-B8FF-42F572A60578}" dt="2026-04-30T02:12:30.014" v="193" actId="1076"/>
          <ac:picMkLst>
            <pc:docMk/>
            <pc:sldMk cId="0" sldId="262"/>
            <ac:picMk id="3" creationId="{2BC88856-E273-7FCC-68B7-02A5B2831DC2}"/>
          </ac:picMkLst>
        </pc:picChg>
        <pc:picChg chg="del">
          <ac:chgData name="An Huynh" userId="75d05052-a575-4016-a87b-6fc479a19c94" providerId="ADAL" clId="{5BACBA6C-47AF-465D-B8FF-42F572A60578}" dt="2026-04-30T02:06:06.767" v="160" actId="21"/>
          <ac:picMkLst>
            <pc:docMk/>
            <pc:sldMk cId="0" sldId="262"/>
            <ac:picMk id="4" creationId="{11D32B43-6D97-D07D-541D-7F8B28109CBC}"/>
          </ac:picMkLst>
        </pc:picChg>
        <pc:picChg chg="add mod">
          <ac:chgData name="An Huynh" userId="75d05052-a575-4016-a87b-6fc479a19c94" providerId="ADAL" clId="{5BACBA6C-47AF-465D-B8FF-42F572A60578}" dt="2026-04-30T02:12:33.125" v="194" actId="1076"/>
          <ac:picMkLst>
            <pc:docMk/>
            <pc:sldMk cId="0" sldId="262"/>
            <ac:picMk id="6" creationId="{60C0A333-7C7D-AB48-38BD-F042E2A66C8A}"/>
          </ac:picMkLst>
        </pc:picChg>
      </pc:sldChg>
      <pc:sldChg chg="addSp delSp modSp mod">
        <pc:chgData name="An Huynh" userId="75d05052-a575-4016-a87b-6fc479a19c94" providerId="ADAL" clId="{5BACBA6C-47AF-465D-B8FF-42F572A60578}" dt="2026-04-30T02:10:49.789" v="187" actId="1076"/>
        <pc:sldMkLst>
          <pc:docMk/>
          <pc:sldMk cId="1376291174" sldId="272"/>
        </pc:sldMkLst>
        <pc:spChg chg="mod">
          <ac:chgData name="An Huynh" userId="75d05052-a575-4016-a87b-6fc479a19c94" providerId="ADAL" clId="{5BACBA6C-47AF-465D-B8FF-42F572A60578}" dt="2026-04-30T02:08:28.264" v="173" actId="14100"/>
          <ac:spMkLst>
            <pc:docMk/>
            <pc:sldMk cId="1376291174" sldId="272"/>
            <ac:spMk id="96" creationId="{79EF9916-657D-A356-C8CB-EE41BF232E89}"/>
          </ac:spMkLst>
        </pc:spChg>
        <pc:picChg chg="add mod">
          <ac:chgData name="An Huynh" userId="75d05052-a575-4016-a87b-6fc479a19c94" providerId="ADAL" clId="{5BACBA6C-47AF-465D-B8FF-42F572A60578}" dt="2026-04-30T02:10:49.789" v="187" actId="1076"/>
          <ac:picMkLst>
            <pc:docMk/>
            <pc:sldMk cId="1376291174" sldId="272"/>
            <ac:picMk id="3" creationId="{D274203B-337D-013A-DB29-DAE2A3AD47CB}"/>
          </ac:picMkLst>
        </pc:picChg>
        <pc:picChg chg="add mod">
          <ac:chgData name="An Huynh" userId="75d05052-a575-4016-a87b-6fc479a19c94" providerId="ADAL" clId="{5BACBA6C-47AF-465D-B8FF-42F572A60578}" dt="2026-04-30T02:08:35.515" v="175" actId="1076"/>
          <ac:picMkLst>
            <pc:docMk/>
            <pc:sldMk cId="1376291174" sldId="272"/>
            <ac:picMk id="5" creationId="{0D0135E7-2538-3C40-1619-FF5D36297DD3}"/>
          </ac:picMkLst>
        </pc:picChg>
        <pc:picChg chg="add mod">
          <ac:chgData name="An Huynh" userId="75d05052-a575-4016-a87b-6fc479a19c94" providerId="ADAL" clId="{5BACBA6C-47AF-465D-B8FF-42F572A60578}" dt="2026-04-30T02:08:31.969" v="174" actId="1076"/>
          <ac:picMkLst>
            <pc:docMk/>
            <pc:sldMk cId="1376291174" sldId="272"/>
            <ac:picMk id="7" creationId="{EE978D28-7CD5-B324-C506-CDC298B9BE10}"/>
          </ac:picMkLst>
        </pc:picChg>
        <pc:picChg chg="add mod">
          <ac:chgData name="An Huynh" userId="75d05052-a575-4016-a87b-6fc479a19c94" providerId="ADAL" clId="{5BACBA6C-47AF-465D-B8FF-42F572A60578}" dt="2026-04-30T02:08:44.694" v="179" actId="1076"/>
          <ac:picMkLst>
            <pc:docMk/>
            <pc:sldMk cId="1376291174" sldId="272"/>
            <ac:picMk id="8" creationId="{11D32B43-6D97-D07D-541D-7F8B28109CBC}"/>
          </ac:picMkLst>
        </pc:picChg>
        <pc:picChg chg="add del mod">
          <ac:chgData name="An Huynh" userId="75d05052-a575-4016-a87b-6fc479a19c94" providerId="ADAL" clId="{5BACBA6C-47AF-465D-B8FF-42F572A60578}" dt="2026-04-30T02:09:00.649" v="181" actId="478"/>
          <ac:picMkLst>
            <pc:docMk/>
            <pc:sldMk cId="1376291174" sldId="272"/>
            <ac:picMk id="10" creationId="{9E373D4F-1AE9-4299-29CC-DAC4741C4C6F}"/>
          </ac:picMkLst>
        </pc:picChg>
        <pc:picChg chg="add mod">
          <ac:chgData name="An Huynh" userId="75d05052-a575-4016-a87b-6fc479a19c94" providerId="ADAL" clId="{5BACBA6C-47AF-465D-B8FF-42F572A60578}" dt="2026-04-30T02:10:45.747" v="186" actId="14100"/>
          <ac:picMkLst>
            <pc:docMk/>
            <pc:sldMk cId="1376291174" sldId="272"/>
            <ac:picMk id="12" creationId="{1B72B12C-AE1A-EC74-A13A-9D841AB184BE}"/>
          </ac:picMkLst>
        </pc:picChg>
      </pc:sldChg>
      <pc:sldChg chg="addSp modSp mod">
        <pc:chgData name="An Huynh" userId="75d05052-a575-4016-a87b-6fc479a19c94" providerId="ADAL" clId="{5BACBA6C-47AF-465D-B8FF-42F572A60578}" dt="2026-04-30T13:23:09.121" v="1006" actId="403"/>
        <pc:sldMkLst>
          <pc:docMk/>
          <pc:sldMk cId="3279804841" sldId="273"/>
        </pc:sldMkLst>
        <pc:spChg chg="mod">
          <ac:chgData name="An Huynh" userId="75d05052-a575-4016-a87b-6fc479a19c94" providerId="ADAL" clId="{5BACBA6C-47AF-465D-B8FF-42F572A60578}" dt="2026-04-30T13:23:09.121" v="1006" actId="403"/>
          <ac:spMkLst>
            <pc:docMk/>
            <pc:sldMk cId="3279804841" sldId="273"/>
            <ac:spMk id="96" creationId="{F83B0704-1788-0BB9-DE51-9BC1518211D2}"/>
          </ac:spMkLst>
        </pc:spChg>
        <pc:picChg chg="add mod">
          <ac:chgData name="An Huynh" userId="75d05052-a575-4016-a87b-6fc479a19c94" providerId="ADAL" clId="{5BACBA6C-47AF-465D-B8FF-42F572A60578}" dt="2026-04-30T02:05:13.631" v="159" actId="14100"/>
          <ac:picMkLst>
            <pc:docMk/>
            <pc:sldMk cId="3279804841" sldId="273"/>
            <ac:picMk id="3" creationId="{856C206C-BC31-FDB8-CE2F-5A55A5AD8A10}"/>
          </ac:picMkLst>
        </pc:picChg>
      </pc:sldChg>
      <pc:sldChg chg="addSp delSp modSp mod">
        <pc:chgData name="An Huynh" userId="75d05052-a575-4016-a87b-6fc479a19c94" providerId="ADAL" clId="{5BACBA6C-47AF-465D-B8FF-42F572A60578}" dt="2026-04-30T02:31:29.243" v="956" actId="27636"/>
        <pc:sldMkLst>
          <pc:docMk/>
          <pc:sldMk cId="3355173984" sldId="275"/>
        </pc:sldMkLst>
        <pc:spChg chg="add del mod">
          <ac:chgData name="An Huynh" userId="75d05052-a575-4016-a87b-6fc479a19c94" providerId="ADAL" clId="{5BACBA6C-47AF-465D-B8FF-42F572A60578}" dt="2026-04-30T01:57:53.664" v="47" actId="478"/>
          <ac:spMkLst>
            <pc:docMk/>
            <pc:sldMk cId="3355173984" sldId="275"/>
            <ac:spMk id="2" creationId="{A216BAB3-56DC-BBE1-9957-D955DE8BA545}"/>
          </ac:spMkLst>
        </pc:spChg>
        <pc:spChg chg="add del mod">
          <ac:chgData name="An Huynh" userId="75d05052-a575-4016-a87b-6fc479a19c94" providerId="ADAL" clId="{5BACBA6C-47AF-465D-B8FF-42F572A60578}" dt="2026-04-30T02:19:52.379" v="365"/>
          <ac:spMkLst>
            <pc:docMk/>
            <pc:sldMk cId="3355173984" sldId="275"/>
            <ac:spMk id="4" creationId="{AF93D5FC-2F1F-C676-1397-3D9EFE36142C}"/>
          </ac:spMkLst>
        </pc:spChg>
        <pc:spChg chg="mod">
          <ac:chgData name="An Huynh" userId="75d05052-a575-4016-a87b-6fc479a19c94" providerId="ADAL" clId="{5BACBA6C-47AF-465D-B8FF-42F572A60578}" dt="2026-04-30T02:31:29.243" v="956" actId="27636"/>
          <ac:spMkLst>
            <pc:docMk/>
            <pc:sldMk cId="3355173984" sldId="275"/>
            <ac:spMk id="96" creationId="{A87696EE-E8C3-8890-0695-A7FCE62ECA0E}"/>
          </ac:spMkLst>
        </pc:spChg>
        <pc:spChg chg="mod">
          <ac:chgData name="An Huynh" userId="75d05052-a575-4016-a87b-6fc479a19c94" providerId="ADAL" clId="{5BACBA6C-47AF-465D-B8FF-42F572A60578}" dt="2026-04-30T02:03:19.801" v="95" actId="122"/>
          <ac:spMkLst>
            <pc:docMk/>
            <pc:sldMk cId="3355173984" sldId="275"/>
            <ac:spMk id="97" creationId="{C018BC81-6E33-DB97-0FE4-0F37056005C9}"/>
          </ac:spMkLst>
        </pc:spChg>
      </pc:sldChg>
      <pc:sldChg chg="addSp modSp mod">
        <pc:chgData name="An Huynh" userId="75d05052-a575-4016-a87b-6fc479a19c94" providerId="ADAL" clId="{5BACBA6C-47AF-465D-B8FF-42F572A60578}" dt="2026-04-30T14:47:05.789" v="2228" actId="20577"/>
        <pc:sldMkLst>
          <pc:docMk/>
          <pc:sldMk cId="3050785399" sldId="276"/>
        </pc:sldMkLst>
        <pc:spChg chg="add mod">
          <ac:chgData name="An Huynh" userId="75d05052-a575-4016-a87b-6fc479a19c94" providerId="ADAL" clId="{5BACBA6C-47AF-465D-B8FF-42F572A60578}" dt="2026-04-30T14:24:28.958" v="1975" actId="1076"/>
          <ac:spMkLst>
            <pc:docMk/>
            <pc:sldMk cId="3050785399" sldId="276"/>
            <ac:spMk id="4" creationId="{1EF49C88-68FA-1B1D-65BE-E4486ABFA75F}"/>
          </ac:spMkLst>
        </pc:spChg>
        <pc:spChg chg="add mod">
          <ac:chgData name="An Huynh" userId="75d05052-a575-4016-a87b-6fc479a19c94" providerId="ADAL" clId="{5BACBA6C-47AF-465D-B8FF-42F572A60578}" dt="2026-04-30T13:43:24.046" v="1069" actId="1076"/>
          <ac:spMkLst>
            <pc:docMk/>
            <pc:sldMk cId="3050785399" sldId="276"/>
            <ac:spMk id="7" creationId="{F05CABCF-592E-0C88-D4CD-E545E0B4BD13}"/>
          </ac:spMkLst>
        </pc:spChg>
        <pc:spChg chg="add mod">
          <ac:chgData name="An Huynh" userId="75d05052-a575-4016-a87b-6fc479a19c94" providerId="ADAL" clId="{5BACBA6C-47AF-465D-B8FF-42F572A60578}" dt="2026-04-30T13:43:30.528" v="1071" actId="1076"/>
          <ac:spMkLst>
            <pc:docMk/>
            <pc:sldMk cId="3050785399" sldId="276"/>
            <ac:spMk id="8" creationId="{5EAB36E5-48CE-EEC3-F3D0-D89B14B20C83}"/>
          </ac:spMkLst>
        </pc:spChg>
        <pc:spChg chg="add mod">
          <ac:chgData name="An Huynh" userId="75d05052-a575-4016-a87b-6fc479a19c94" providerId="ADAL" clId="{5BACBA6C-47AF-465D-B8FF-42F572A60578}" dt="2026-04-30T14:47:05.789" v="2228" actId="20577"/>
          <ac:spMkLst>
            <pc:docMk/>
            <pc:sldMk cId="3050785399" sldId="276"/>
            <ac:spMk id="9" creationId="{CD402BA2-9D9C-B142-8FE5-8920C5F24431}"/>
          </ac:spMkLst>
        </pc:spChg>
        <pc:spChg chg="mod">
          <ac:chgData name="An Huynh" userId="75d05052-a575-4016-a87b-6fc479a19c94" providerId="ADAL" clId="{5BACBA6C-47AF-465D-B8FF-42F572A60578}" dt="2026-04-30T14:24:36.315" v="1977" actId="1076"/>
          <ac:spMkLst>
            <pc:docMk/>
            <pc:sldMk cId="3050785399" sldId="276"/>
            <ac:spMk id="96" creationId="{6999B294-2A12-7D0C-C1AE-27D81F40A2C6}"/>
          </ac:spMkLst>
        </pc:spChg>
        <pc:picChg chg="add mod">
          <ac:chgData name="An Huynh" userId="75d05052-a575-4016-a87b-6fc479a19c94" providerId="ADAL" clId="{5BACBA6C-47AF-465D-B8FF-42F572A60578}" dt="2026-04-30T13:43:25.954" v="1070" actId="1076"/>
          <ac:picMkLst>
            <pc:docMk/>
            <pc:sldMk cId="3050785399" sldId="276"/>
            <ac:picMk id="3" creationId="{D327C488-A455-C8B0-044F-095A5D22A597}"/>
          </ac:picMkLst>
        </pc:picChg>
        <pc:picChg chg="add mod">
          <ac:chgData name="An Huynh" userId="75d05052-a575-4016-a87b-6fc479a19c94" providerId="ADAL" clId="{5BACBA6C-47AF-465D-B8FF-42F572A60578}" dt="2026-04-30T13:42:11.008" v="1065" actId="1076"/>
          <ac:picMkLst>
            <pc:docMk/>
            <pc:sldMk cId="3050785399" sldId="276"/>
            <ac:picMk id="6" creationId="{C8A055A6-D29D-038F-418A-9DAAF31624B2}"/>
          </ac:picMkLst>
        </pc:picChg>
      </pc:sldChg>
      <pc:sldChg chg="modSp mod">
        <pc:chgData name="An Huynh" userId="75d05052-a575-4016-a87b-6fc479a19c94" providerId="ADAL" clId="{5BACBA6C-47AF-465D-B8FF-42F572A60578}" dt="2026-04-30T14:54:11.552" v="2418" actId="27636"/>
        <pc:sldMkLst>
          <pc:docMk/>
          <pc:sldMk cId="1837633993" sldId="277"/>
        </pc:sldMkLst>
        <pc:spChg chg="mod">
          <ac:chgData name="An Huynh" userId="75d05052-a575-4016-a87b-6fc479a19c94" providerId="ADAL" clId="{5BACBA6C-47AF-465D-B8FF-42F572A60578}" dt="2026-04-30T14:54:11.552" v="2418" actId="27636"/>
          <ac:spMkLst>
            <pc:docMk/>
            <pc:sldMk cId="1837633993" sldId="277"/>
            <ac:spMk id="96" creationId="{4447BBBA-2E22-B8FE-2650-7A6F3E633629}"/>
          </ac:spMkLst>
        </pc:spChg>
      </pc:sldChg>
      <pc:sldChg chg="modSp mod">
        <pc:chgData name="An Huynh" userId="75d05052-a575-4016-a87b-6fc479a19c94" providerId="ADAL" clId="{5BACBA6C-47AF-465D-B8FF-42F572A60578}" dt="2026-04-30T15:01:37.331" v="2828" actId="27636"/>
        <pc:sldMkLst>
          <pc:docMk/>
          <pc:sldMk cId="3649888072" sldId="278"/>
        </pc:sldMkLst>
        <pc:spChg chg="mod">
          <ac:chgData name="An Huynh" userId="75d05052-a575-4016-a87b-6fc479a19c94" providerId="ADAL" clId="{5BACBA6C-47AF-465D-B8FF-42F572A60578}" dt="2026-04-30T15:01:37.331" v="2828" actId="27636"/>
          <ac:spMkLst>
            <pc:docMk/>
            <pc:sldMk cId="3649888072" sldId="278"/>
            <ac:spMk id="96" creationId="{D7D9C789-7F0F-314B-5BFA-4CE56A99350F}"/>
          </ac:spMkLst>
        </pc:spChg>
      </pc:sldChg>
      <pc:sldChg chg="modSp mod">
        <pc:chgData name="An Huynh" userId="75d05052-a575-4016-a87b-6fc479a19c94" providerId="ADAL" clId="{5BACBA6C-47AF-465D-B8FF-42F572A60578}" dt="2026-04-30T15:22:35.874" v="3574" actId="27636"/>
        <pc:sldMkLst>
          <pc:docMk/>
          <pc:sldMk cId="905592136" sldId="279"/>
        </pc:sldMkLst>
        <pc:spChg chg="mod">
          <ac:chgData name="An Huynh" userId="75d05052-a575-4016-a87b-6fc479a19c94" providerId="ADAL" clId="{5BACBA6C-47AF-465D-B8FF-42F572A60578}" dt="2026-04-30T15:22:35.874" v="3574" actId="27636"/>
          <ac:spMkLst>
            <pc:docMk/>
            <pc:sldMk cId="905592136" sldId="279"/>
            <ac:spMk id="96" creationId="{93344012-5D5E-C83C-4D37-BB7D2ACECC76}"/>
          </ac:spMkLst>
        </pc:spChg>
      </pc:sldChg>
      <pc:sldChg chg="addSp delSp modSp mod">
        <pc:chgData name="An Huynh" userId="75d05052-a575-4016-a87b-6fc479a19c94" providerId="ADAL" clId="{5BACBA6C-47AF-465D-B8FF-42F572A60578}" dt="2026-04-30T16:59:05.689" v="4703" actId="403"/>
        <pc:sldMkLst>
          <pc:docMk/>
          <pc:sldMk cId="4048708171" sldId="280"/>
        </pc:sldMkLst>
        <pc:spChg chg="add del mod">
          <ac:chgData name="An Huynh" userId="75d05052-a575-4016-a87b-6fc479a19c94" providerId="ADAL" clId="{5BACBA6C-47AF-465D-B8FF-42F572A60578}" dt="2026-04-30T15:35:10.164" v="4346" actId="478"/>
          <ac:spMkLst>
            <pc:docMk/>
            <pc:sldMk cId="4048708171" sldId="280"/>
            <ac:spMk id="2" creationId="{F8540020-A82B-0552-856D-4067AB92EFF4}"/>
          </ac:spMkLst>
        </pc:spChg>
        <pc:spChg chg="mod">
          <ac:chgData name="An Huynh" userId="75d05052-a575-4016-a87b-6fc479a19c94" providerId="ADAL" clId="{5BACBA6C-47AF-465D-B8FF-42F572A60578}" dt="2026-04-30T16:59:05.689" v="4703" actId="403"/>
          <ac:spMkLst>
            <pc:docMk/>
            <pc:sldMk cId="4048708171" sldId="280"/>
            <ac:spMk id="96" creationId="{9735E29E-0944-B1B4-2165-18C86AB27D02}"/>
          </ac:spMkLst>
        </pc:spChg>
      </pc:sldChg>
      <pc:sldChg chg="modSp mod">
        <pc:chgData name="An Huynh" userId="75d05052-a575-4016-a87b-6fc479a19c94" providerId="ADAL" clId="{5BACBA6C-47AF-465D-B8FF-42F572A60578}" dt="2026-04-30T16:16:41.851" v="4694" actId="20577"/>
        <pc:sldMkLst>
          <pc:docMk/>
          <pc:sldMk cId="2034706252" sldId="281"/>
        </pc:sldMkLst>
        <pc:spChg chg="mod">
          <ac:chgData name="An Huynh" userId="75d05052-a575-4016-a87b-6fc479a19c94" providerId="ADAL" clId="{5BACBA6C-47AF-465D-B8FF-42F572A60578}" dt="2026-04-30T16:16:41.851" v="4694" actId="20577"/>
          <ac:spMkLst>
            <pc:docMk/>
            <pc:sldMk cId="2034706252" sldId="281"/>
            <ac:spMk id="96" creationId="{D13B71E4-8C18-7673-D503-D0C7891B90CB}"/>
          </ac:spMkLst>
        </pc:spChg>
      </pc:sldChg>
      <pc:sldChg chg="modSp mod">
        <pc:chgData name="An Huynh" userId="75d05052-a575-4016-a87b-6fc479a19c94" providerId="ADAL" clId="{5BACBA6C-47AF-465D-B8FF-42F572A60578}" dt="2026-04-30T02:31:17.333" v="951" actId="20577"/>
        <pc:sldMkLst>
          <pc:docMk/>
          <pc:sldMk cId="789851464" sldId="282"/>
        </pc:sldMkLst>
        <pc:spChg chg="mod">
          <ac:chgData name="An Huynh" userId="75d05052-a575-4016-a87b-6fc479a19c94" providerId="ADAL" clId="{5BACBA6C-47AF-465D-B8FF-42F572A60578}" dt="2026-04-30T02:31:17.333" v="951" actId="20577"/>
          <ac:spMkLst>
            <pc:docMk/>
            <pc:sldMk cId="789851464" sldId="282"/>
            <ac:spMk id="96" creationId="{84895E27-06B9-2661-6445-C2D8EA743E30}"/>
          </ac:spMkLst>
        </pc:spChg>
      </pc:sldChg>
      <pc:sldChg chg="addSp delSp modSp mod">
        <pc:chgData name="An Huynh" userId="75d05052-a575-4016-a87b-6fc479a19c94" providerId="ADAL" clId="{5BACBA6C-47AF-465D-B8FF-42F572A60578}" dt="2026-04-30T15:09:36.468" v="3064" actId="5793"/>
        <pc:sldMkLst>
          <pc:docMk/>
          <pc:sldMk cId="1699589979" sldId="283"/>
        </pc:sldMkLst>
        <pc:spChg chg="add del mod">
          <ac:chgData name="An Huynh" userId="75d05052-a575-4016-a87b-6fc479a19c94" providerId="ADAL" clId="{5BACBA6C-47AF-465D-B8FF-42F572A60578}" dt="2026-04-30T15:07:39.819" v="2918"/>
          <ac:spMkLst>
            <pc:docMk/>
            <pc:sldMk cId="1699589979" sldId="283"/>
            <ac:spMk id="2" creationId="{C1BA7E22-283E-24EC-D2CD-5CFCE6C2E734}"/>
          </ac:spMkLst>
        </pc:spChg>
        <pc:spChg chg="mod">
          <ac:chgData name="An Huynh" userId="75d05052-a575-4016-a87b-6fc479a19c94" providerId="ADAL" clId="{5BACBA6C-47AF-465D-B8FF-42F572A60578}" dt="2026-04-30T15:09:36.468" v="3064" actId="5793"/>
          <ac:spMkLst>
            <pc:docMk/>
            <pc:sldMk cId="1699589979" sldId="283"/>
            <ac:spMk id="96" creationId="{A121B4F0-CECB-68E3-6B3D-4DE842DB4E3C}"/>
          </ac:spMkLst>
        </pc:spChg>
      </pc:sldChg>
      <pc:sldChg chg="addSp delSp modSp add mod setBg">
        <pc:chgData name="An Huynh" userId="75d05052-a575-4016-a87b-6fc479a19c94" providerId="ADAL" clId="{5BACBA6C-47AF-465D-B8FF-42F572A60578}" dt="2026-04-30T17:02:17.311" v="4712" actId="26606"/>
        <pc:sldMkLst>
          <pc:docMk/>
          <pc:sldMk cId="3715116134" sldId="284"/>
        </pc:sldMkLst>
        <pc:spChg chg="add del mod">
          <ac:chgData name="An Huynh" userId="75d05052-a575-4016-a87b-6fc479a19c94" providerId="ADAL" clId="{5BACBA6C-47AF-465D-B8FF-42F572A60578}" dt="2026-04-30T17:00:28.912" v="4709" actId="478"/>
          <ac:spMkLst>
            <pc:docMk/>
            <pc:sldMk cId="3715116134" sldId="284"/>
            <ac:spMk id="3" creationId="{702A5F4D-9108-5FEC-E048-34AFD614183A}"/>
          </ac:spMkLst>
        </pc:spChg>
        <pc:spChg chg="del mod">
          <ac:chgData name="An Huynh" userId="75d05052-a575-4016-a87b-6fc479a19c94" providerId="ADAL" clId="{5BACBA6C-47AF-465D-B8FF-42F572A60578}" dt="2026-04-30T17:00:24.729" v="4708" actId="478"/>
          <ac:spMkLst>
            <pc:docMk/>
            <pc:sldMk cId="3715116134" sldId="284"/>
            <ac:spMk id="96" creationId="{6B4AC4EB-A123-8764-F336-E57CE22E53F8}"/>
          </ac:spMkLst>
        </pc:spChg>
        <pc:spChg chg="del mod">
          <ac:chgData name="An Huynh" userId="75d05052-a575-4016-a87b-6fc479a19c94" providerId="ADAL" clId="{5BACBA6C-47AF-465D-B8FF-42F572A60578}" dt="2026-04-30T17:00:18.309" v="4707" actId="478"/>
          <ac:spMkLst>
            <pc:docMk/>
            <pc:sldMk cId="3715116134" sldId="284"/>
            <ac:spMk id="97" creationId="{7F2C2286-8496-0C11-8B25-2A76477B94E4}"/>
          </ac:spMkLst>
        </pc:spChg>
        <pc:picChg chg="add mod">
          <ac:chgData name="An Huynh" userId="75d05052-a575-4016-a87b-6fc479a19c94" providerId="ADAL" clId="{5BACBA6C-47AF-465D-B8FF-42F572A60578}" dt="2026-04-30T17:02:17.311" v="4712" actId="26606"/>
          <ac:picMkLst>
            <pc:docMk/>
            <pc:sldMk cId="3715116134" sldId="284"/>
            <ac:picMk id="3074" creationId="{5CB3F209-2AD4-960C-2FF9-E5D102DFC4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aseline="0" dirty="0"/>
          </a:p>
        </p:txBody>
      </p:sp>
      <p:sp>
        <p:nvSpPr>
          <p:cNvPr id="58" name="Google Shape;5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844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slide is a Section Header</a:t>
            </a:r>
            <a:r>
              <a:rPr lang="en-US" baseline="0" dirty="0"/>
              <a:t>. </a:t>
            </a:r>
            <a:r>
              <a:rPr lang="en-US" b="1" baseline="0" dirty="0"/>
              <a:t>Repeat this slide for each segment of your presentation. And remember, each group member should present at least one </a:t>
            </a:r>
            <a:r>
              <a:rPr lang="en-US" b="1" baseline="0"/>
              <a:t>segment. </a:t>
            </a:r>
            <a:r>
              <a:rPr lang="en-US" baseline="0"/>
              <a:t>Update </a:t>
            </a:r>
            <a:r>
              <a:rPr lang="en-US" baseline="0" dirty="0"/>
              <a:t>the title; you are not required to do anything else on this slide.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dirty="0"/>
          </a:p>
        </p:txBody>
      </p:sp>
      <p:sp>
        <p:nvSpPr>
          <p:cNvPr id="89" name="Google Shape;8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 slide that will be used </a:t>
            </a:r>
            <a:r>
              <a:rPr lang="en-US" baseline="0" dirty="0"/>
              <a:t>often.  It is set up for a title, subtitle, and text. Do not change the fonts/colors in any way. The only formatting adjustment you should need to make is the size of the text if your presentation has a long title or subtitle.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the Subtitle – If you don’t have one, you can delete that text box or ignore it.</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p:txBody>
      </p:sp>
      <p:sp>
        <p:nvSpPr>
          <p:cNvPr id="64" name="Google Shape;6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0B1AEDF-8D48-F02D-55B2-069958D3FE4B}"/>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3544076E-02CA-A494-9323-99B0AEDDFEB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8F9B4C84-5D73-847F-6C02-477C3DEEE3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749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729EAC-19EB-9041-391D-49797CDEC7E6}"/>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ED3DEC94-AA5B-941E-F040-9E9AACC3DA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EA096668-0FDC-4C08-0357-BCD510E20E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6124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093E49E-0B64-0785-0307-8A54C004626E}"/>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09661981-4BDE-C4B5-CFBD-2D939DC96F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3A36DE25-DE82-3CF8-C4D9-066BFFE4ED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616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0F2C582-6DB9-C5C5-050E-A79CD9765F54}"/>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801A10D8-CBAB-2D90-750C-DFFB8384E2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2F7CD7A8-6323-940E-2201-8E60B90766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253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C5E5E10-C8CF-A99D-5E5D-1A5E62ACD9FF}"/>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390C7DEB-7601-5C6F-BEE0-96F3F408F2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4853AB09-D486-0D6F-E2BC-1CE21941E9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2727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9DC43EA-7EB0-0226-F2FF-6F968FB1A67E}"/>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E067F006-E7C7-1A89-3350-57E65621CD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5D2C6C0B-E07B-D3EA-5F97-4EB3C33C42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1413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2CB186E-D212-553A-1F20-4422CC20D6F6}"/>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4787D0D8-E906-2B5F-33AB-FDD08BE8F0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04B7049B-E971-2133-E967-6446E397CB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5695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605D422-7022-41DD-9483-97E07F581E94}"/>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B9230C17-56D8-1F5E-54D7-1A2EF1788F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DF01F52D-8337-4420-AAA9-99443D813D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4416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65C2926-77EF-3A5E-1A01-66CC94718D57}"/>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855858CF-5293-302F-CD33-1E18C0A9D0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6F17474E-D2A1-E7DB-7F17-427624DC7E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1578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0C93CB5-92F6-E684-8BF7-E9F92C97263F}"/>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0EE8E1CD-3831-F2EF-9965-75CD24CE7D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3AD3FE10-D7F9-7494-B4F7-0E2582BF0D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9446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8EA0DF6-47DD-80B5-4BA4-95148038AADF}"/>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394527A3-3174-7F15-CB96-ED1814551C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11BAA7DB-32A4-7473-C830-E28F9AF42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2240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836D930-211F-5032-262E-5B2DB8892E9C}"/>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79D9E866-E083-1C19-440E-648CFA98F9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9F4E4D4D-59F7-4A00-169F-FDC368E114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6357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9E21695-D800-E552-7A2D-9446AFE4FA32}"/>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CEEB0279-22C3-8DBA-4851-DC4442A5B7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ED7C4531-1744-DBD8-EB0A-E9017BDCF9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6476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D4ED127-0C96-8951-1C09-E9248234DA19}"/>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557D6893-A768-97FA-D156-7DF9D88DD8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51D9DA99-C2A9-20AA-5C1B-E5951AB9BD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6763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FBE2BA5-406D-86B4-0402-61FB8EBB2C79}"/>
            </a:ext>
          </a:extLst>
        </p:cNvPr>
        <p:cNvGrpSpPr/>
        <p:nvPr/>
      </p:nvGrpSpPr>
      <p:grpSpPr>
        <a:xfrm>
          <a:off x="0" y="0"/>
          <a:ext cx="0" cy="0"/>
          <a:chOff x="0" y="0"/>
          <a:chExt cx="0" cy="0"/>
        </a:xfrm>
      </p:grpSpPr>
      <p:sp>
        <p:nvSpPr>
          <p:cNvPr id="93" name="Google Shape;93;p7:notes">
            <a:extLst>
              <a:ext uri="{FF2B5EF4-FFF2-40B4-BE49-F238E27FC236}">
                <a16:creationId xmlns:a16="http://schemas.microsoft.com/office/drawing/2014/main" id="{0AD0FAA4-F44D-8F7A-BF75-B2A865AAD7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This is another slide that you may want to use frequently. This slide </a:t>
            </a:r>
            <a:r>
              <a:rPr lang="en-US" baseline="0" dirty="0"/>
              <a:t>is set up for a title and text. Do not change the fonts/colors in any way. The only adjustment you should need to make is the size of the text if your presentation has a long title. </a:t>
            </a:r>
          </a:p>
          <a:p>
            <a:pPr marL="228600" lvl="0" indent="-228600" algn="l" rtl="0">
              <a:spcBef>
                <a:spcPts val="0"/>
              </a:spcBef>
              <a:spcAft>
                <a:spcPts val="0"/>
              </a:spcAft>
              <a:buAutoNum type="arabicPeriod"/>
            </a:pPr>
            <a:r>
              <a:rPr lang="en-US" baseline="0" dirty="0"/>
              <a:t>Add the Title.  </a:t>
            </a:r>
          </a:p>
          <a:p>
            <a:pPr marL="228600" lvl="0" indent="-228600" algn="l" rtl="0">
              <a:spcBef>
                <a:spcPts val="0"/>
              </a:spcBef>
              <a:spcAft>
                <a:spcPts val="0"/>
              </a:spcAft>
              <a:buAutoNum type="arabicPeriod"/>
            </a:pPr>
            <a:r>
              <a:rPr lang="en-US" baseline="0" dirty="0"/>
              <a:t>Add your content to the Text box. If you copy/paste information into this slide, make sure to Clear Formatting to ensure that the formatting for accessibility remains. You can find the Clear Formatting button on the Home Tab, within the Font section.  It looks like a Capital Letter A with an eraser.  The text will increase or decrease as you type to ensure that the proper sizing is used.</a:t>
            </a:r>
          </a:p>
          <a:p>
            <a:pPr marL="228600" marR="0" lvl="0" indent="-2286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baseline="0" dirty="0"/>
              <a:t>Delete this text in the Notes section when you are finished.</a:t>
            </a:r>
          </a:p>
          <a:p>
            <a:pPr marL="0" lvl="0" indent="0" algn="l" rtl="0">
              <a:spcBef>
                <a:spcPts val="0"/>
              </a:spcBef>
              <a:spcAft>
                <a:spcPts val="0"/>
              </a:spcAft>
              <a:buNone/>
            </a:pPr>
            <a:endParaRPr lang="en-US" baseline="0" dirty="0"/>
          </a:p>
          <a:p>
            <a:pPr marL="0" lvl="0" indent="0" algn="l" rtl="0">
              <a:spcBef>
                <a:spcPts val="0"/>
              </a:spcBef>
              <a:spcAft>
                <a:spcPts val="0"/>
              </a:spcAft>
              <a:buNone/>
            </a:pPr>
            <a:endParaRPr lang="en-US" dirty="0"/>
          </a:p>
        </p:txBody>
      </p:sp>
      <p:sp>
        <p:nvSpPr>
          <p:cNvPr id="94" name="Google Shape;94;p7:notes">
            <a:extLst>
              <a:ext uri="{FF2B5EF4-FFF2-40B4-BE49-F238E27FC236}">
                <a16:creationId xmlns:a16="http://schemas.microsoft.com/office/drawing/2014/main" id="{1BD416A4-9BF1-8031-EA8F-B144C5F557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6599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14"/>
          <p:cNvSpPr txBox="1">
            <a:spLocks noGrp="1"/>
          </p:cNvSpPr>
          <p:nvPr>
            <p:ph type="subTitle" idx="1"/>
          </p:nvPr>
        </p:nvSpPr>
        <p:spPr>
          <a:xfrm>
            <a:off x="838200" y="3536724"/>
            <a:ext cx="7200900" cy="144323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SzPts val="2100"/>
              <a:buNone/>
              <a:defRPr sz="2800">
                <a:solidFill>
                  <a:srgbClr val="FFCC33"/>
                </a:solidFill>
              </a:defRPr>
            </a:lvl1pPr>
            <a:lvl2pPr lvl="1" algn="ctr">
              <a:lnSpc>
                <a:spcPct val="90000"/>
              </a:lnSpc>
              <a:spcBef>
                <a:spcPts val="500"/>
              </a:spcBef>
              <a:spcAft>
                <a:spcPts val="0"/>
              </a:spcAft>
              <a:buSzPts val="1500"/>
              <a:buNone/>
              <a:defRPr sz="2000"/>
            </a:lvl2pPr>
            <a:lvl3pPr lvl="2" algn="ctr">
              <a:lnSpc>
                <a:spcPct val="90000"/>
              </a:lnSpc>
              <a:spcBef>
                <a:spcPts val="500"/>
              </a:spcBef>
              <a:spcAft>
                <a:spcPts val="0"/>
              </a:spcAft>
              <a:buSzPts val="1350"/>
              <a:buNone/>
              <a:defRPr sz="1800"/>
            </a:lvl3pPr>
            <a:lvl4pPr lvl="3" algn="ctr">
              <a:lnSpc>
                <a:spcPct val="90000"/>
              </a:lnSpc>
              <a:spcBef>
                <a:spcPts val="500"/>
              </a:spcBef>
              <a:spcAft>
                <a:spcPts val="0"/>
              </a:spcAft>
              <a:buSzPts val="1200"/>
              <a:buNone/>
              <a:defRPr sz="1600"/>
            </a:lvl4pPr>
            <a:lvl5pPr lvl="4" algn="ctr">
              <a:lnSpc>
                <a:spcPct val="90000"/>
              </a:lnSpc>
              <a:spcBef>
                <a:spcPts val="500"/>
              </a:spcBef>
              <a:spcAft>
                <a:spcPts val="0"/>
              </a:spcAft>
              <a:buSzPts val="12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sp>
        <p:nvSpPr>
          <p:cNvPr id="15" name="Google Shape;15;p14"/>
          <p:cNvSpPr txBox="1">
            <a:spLocks noGrp="1"/>
          </p:cNvSpPr>
          <p:nvPr>
            <p:ph type="ctrTitle"/>
          </p:nvPr>
        </p:nvSpPr>
        <p:spPr>
          <a:xfrm>
            <a:off x="838200" y="802432"/>
            <a:ext cx="7200900" cy="220367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6"/>
        <p:cNvGrpSpPr/>
        <p:nvPr/>
      </p:nvGrpSpPr>
      <p:grpSpPr>
        <a:xfrm>
          <a:off x="0" y="0"/>
          <a:ext cx="0" cy="0"/>
          <a:chOff x="0" y="0"/>
          <a:chExt cx="0" cy="0"/>
        </a:xfrm>
      </p:grpSpPr>
      <p:sp>
        <p:nvSpPr>
          <p:cNvPr id="17" name="Google Shape;17;p15"/>
          <p:cNvSpPr txBox="1">
            <a:spLocks noGrp="1"/>
          </p:cNvSpPr>
          <p:nvPr>
            <p:ph type="body" idx="1"/>
          </p:nvPr>
        </p:nvSpPr>
        <p:spPr>
          <a:xfrm>
            <a:off x="839788" y="2493818"/>
            <a:ext cx="10515600" cy="4364182"/>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8" name="Google Shape;18;p15"/>
          <p:cNvSpPr txBox="1">
            <a:spLocks noGrp="1"/>
          </p:cNvSpPr>
          <p:nvPr>
            <p:ph type="body" idx="2"/>
          </p:nvPr>
        </p:nvSpPr>
        <p:spPr>
          <a:xfrm>
            <a:off x="839788" y="1828800"/>
            <a:ext cx="10515600" cy="498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3200" b="1">
                <a:solidFill>
                  <a:srgbClr val="006633"/>
                </a:solidFill>
                <a:latin typeface="Calibri"/>
                <a:ea typeface="Calibri"/>
                <a:cs typeface="Calibri"/>
                <a:sym typeface="Calibri"/>
              </a:defRPr>
            </a:lvl1pPr>
            <a:lvl2pPr marL="914400" lvl="1" indent="-228600" algn="l">
              <a:lnSpc>
                <a:spcPct val="90000"/>
              </a:lnSpc>
              <a:spcBef>
                <a:spcPts val="500"/>
              </a:spcBef>
              <a:spcAft>
                <a:spcPts val="0"/>
              </a:spcAft>
              <a:buSzPts val="1500"/>
              <a:buNone/>
              <a:defRPr sz="2000" b="1"/>
            </a:lvl2pPr>
            <a:lvl3pPr marL="1371600" lvl="2" indent="-228600" algn="l">
              <a:lnSpc>
                <a:spcPct val="90000"/>
              </a:lnSpc>
              <a:spcBef>
                <a:spcPts val="500"/>
              </a:spcBef>
              <a:spcAft>
                <a:spcPts val="0"/>
              </a:spcAft>
              <a:buSzPts val="1350"/>
              <a:buNone/>
              <a:defRPr sz="1800" b="1"/>
            </a:lvl3pPr>
            <a:lvl4pPr marL="1828800" lvl="3" indent="-228600" algn="l">
              <a:lnSpc>
                <a:spcPct val="90000"/>
              </a:lnSpc>
              <a:spcBef>
                <a:spcPts val="500"/>
              </a:spcBef>
              <a:spcAft>
                <a:spcPts val="0"/>
              </a:spcAft>
              <a:buSzPts val="1200"/>
              <a:buNone/>
              <a:defRPr sz="1600" b="1"/>
            </a:lvl4pPr>
            <a:lvl5pPr marL="2286000" lvl="4" indent="-228600" algn="l">
              <a:lnSpc>
                <a:spcPct val="90000"/>
              </a:lnSpc>
              <a:spcBef>
                <a:spcPts val="500"/>
              </a:spcBef>
              <a:spcAft>
                <a:spcPts val="0"/>
              </a:spcAft>
              <a:buSzPts val="12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 name="Google Shape;19;p15"/>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7"/>
          <p:cNvSpPr txBox="1">
            <a:spLocks noGrp="1"/>
          </p:cNvSpPr>
          <p:nvPr>
            <p:ph type="body" idx="1"/>
          </p:nvPr>
        </p:nvSpPr>
        <p:spPr>
          <a:xfrm>
            <a:off x="838200" y="1828800"/>
            <a:ext cx="10515600" cy="4711148"/>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10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17"/>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23"/>
          <p:cNvSpPr txBox="1">
            <a:spLocks noGrp="1"/>
          </p:cNvSpPr>
          <p:nvPr>
            <p:ph type="body" idx="1"/>
          </p:nvPr>
        </p:nvSpPr>
        <p:spPr>
          <a:xfrm>
            <a:off x="531226" y="4846638"/>
            <a:ext cx="10515600" cy="162931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sz="2400">
                <a:solidFill>
                  <a:schemeClr val="dk1"/>
                </a:solidFill>
              </a:defRPr>
            </a:lvl1pPr>
            <a:lvl2pPr marL="914400" lvl="1" indent="-228600" algn="l">
              <a:lnSpc>
                <a:spcPct val="90000"/>
              </a:lnSpc>
              <a:spcBef>
                <a:spcPts val="500"/>
              </a:spcBef>
              <a:spcAft>
                <a:spcPts val="0"/>
              </a:spcAft>
              <a:buSzPts val="1500"/>
              <a:buNone/>
              <a:defRPr sz="2000">
                <a:solidFill>
                  <a:srgbClr val="888888"/>
                </a:solidFill>
              </a:defRPr>
            </a:lvl2pPr>
            <a:lvl3pPr marL="1371600" lvl="2" indent="-228600" algn="l">
              <a:lnSpc>
                <a:spcPct val="90000"/>
              </a:lnSpc>
              <a:spcBef>
                <a:spcPts val="500"/>
              </a:spcBef>
              <a:spcAft>
                <a:spcPts val="0"/>
              </a:spcAft>
              <a:buSzPts val="1350"/>
              <a:buNone/>
              <a:defRPr sz="1800">
                <a:solidFill>
                  <a:srgbClr val="888888"/>
                </a:solidFill>
              </a:defRPr>
            </a:lvl3pPr>
            <a:lvl4pPr marL="1828800" lvl="3" indent="-228600" algn="l">
              <a:lnSpc>
                <a:spcPct val="90000"/>
              </a:lnSpc>
              <a:spcBef>
                <a:spcPts val="500"/>
              </a:spcBef>
              <a:spcAft>
                <a:spcPts val="0"/>
              </a:spcAft>
              <a:buSzPts val="1200"/>
              <a:buNone/>
              <a:defRPr sz="1600">
                <a:solidFill>
                  <a:srgbClr val="888888"/>
                </a:solidFill>
              </a:defRPr>
            </a:lvl4pPr>
            <a:lvl5pPr marL="2286000" lvl="4" indent="-228600" algn="l">
              <a:lnSpc>
                <a:spcPct val="90000"/>
              </a:lnSpc>
              <a:spcBef>
                <a:spcPts val="500"/>
              </a:spcBef>
              <a:spcAft>
                <a:spcPts val="0"/>
              </a:spcAft>
              <a:buSzPts val="12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47" name="Google Shape;47;p23"/>
          <p:cNvSpPr txBox="1">
            <a:spLocks noGrp="1"/>
          </p:cNvSpPr>
          <p:nvPr>
            <p:ph type="title"/>
          </p:nvPr>
        </p:nvSpPr>
        <p:spPr>
          <a:xfrm>
            <a:off x="531225" y="4045907"/>
            <a:ext cx="10515600" cy="64442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24"/>
          <p:cNvSpPr txBox="1">
            <a:spLocks noGrp="1"/>
          </p:cNvSpPr>
          <p:nvPr>
            <p:ph type="body" idx="1"/>
          </p:nvPr>
        </p:nvSpPr>
        <p:spPr>
          <a:xfrm>
            <a:off x="838200" y="4864295"/>
            <a:ext cx="7504134" cy="150018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00"/>
              </a:spcBef>
              <a:spcAft>
                <a:spcPts val="0"/>
              </a:spcAft>
              <a:buClr>
                <a:schemeClr val="dk1"/>
              </a:buClr>
              <a:buSzPts val="2000"/>
              <a:buFont typeface="Calibri"/>
              <a:buNone/>
              <a:defRPr sz="2000">
                <a:solidFill>
                  <a:schemeClr val="dk1"/>
                </a:solidFill>
              </a:defRPr>
            </a:lvl1pPr>
            <a:lvl2pPr marL="914400" lvl="1" indent="-228600" algn="l">
              <a:lnSpc>
                <a:spcPct val="90000"/>
              </a:lnSpc>
              <a:spcBef>
                <a:spcPts val="500"/>
              </a:spcBef>
              <a:spcAft>
                <a:spcPts val="0"/>
              </a:spcAft>
              <a:buSzPts val="1500"/>
              <a:buNone/>
              <a:defRPr sz="2000">
                <a:solidFill>
                  <a:srgbClr val="888888"/>
                </a:solidFill>
              </a:defRPr>
            </a:lvl2pPr>
            <a:lvl3pPr marL="1371600" lvl="2" indent="-228600" algn="l">
              <a:lnSpc>
                <a:spcPct val="90000"/>
              </a:lnSpc>
              <a:spcBef>
                <a:spcPts val="500"/>
              </a:spcBef>
              <a:spcAft>
                <a:spcPts val="0"/>
              </a:spcAft>
              <a:buSzPts val="1350"/>
              <a:buNone/>
              <a:defRPr sz="1800">
                <a:solidFill>
                  <a:srgbClr val="888888"/>
                </a:solidFill>
              </a:defRPr>
            </a:lvl3pPr>
            <a:lvl4pPr marL="1828800" lvl="3" indent="-228600" algn="l">
              <a:lnSpc>
                <a:spcPct val="90000"/>
              </a:lnSpc>
              <a:spcBef>
                <a:spcPts val="500"/>
              </a:spcBef>
              <a:spcAft>
                <a:spcPts val="0"/>
              </a:spcAft>
              <a:buSzPts val="1200"/>
              <a:buNone/>
              <a:defRPr sz="1600">
                <a:solidFill>
                  <a:srgbClr val="888888"/>
                </a:solidFill>
              </a:defRPr>
            </a:lvl4pPr>
            <a:lvl5pPr marL="2286000" lvl="4" indent="-228600" algn="l">
              <a:lnSpc>
                <a:spcPct val="90000"/>
              </a:lnSpc>
              <a:spcBef>
                <a:spcPts val="500"/>
              </a:spcBef>
              <a:spcAft>
                <a:spcPts val="0"/>
              </a:spcAft>
              <a:buSzPts val="12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50" name="Google Shape;50;p24"/>
          <p:cNvSpPr txBox="1">
            <a:spLocks noGrp="1"/>
          </p:cNvSpPr>
          <p:nvPr>
            <p:ph type="title"/>
          </p:nvPr>
        </p:nvSpPr>
        <p:spPr>
          <a:xfrm>
            <a:off x="122724" y="4057812"/>
            <a:ext cx="10515600" cy="5316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Section Header">
  <p:cSld name="2_Section Header">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0" y="493518"/>
            <a:ext cx="10515600" cy="5316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26"/>
          <p:cNvSpPr txBox="1">
            <a:spLocks noGrp="1"/>
          </p:cNvSpPr>
          <p:nvPr>
            <p:ph type="body" idx="1"/>
          </p:nvPr>
        </p:nvSpPr>
        <p:spPr>
          <a:xfrm rot="5400000">
            <a:off x="4038600" y="-1371600"/>
            <a:ext cx="4114800" cy="10515600"/>
          </a:xfrm>
          <a:prstGeom prst="rect">
            <a:avLst/>
          </a:prstGeom>
          <a:noFill/>
          <a:ln>
            <a:noFill/>
          </a:ln>
        </p:spPr>
        <p:txBody>
          <a:bodyPr spcFirstLastPara="1" wrap="square" lIns="91425" tIns="45700" rIns="91425" bIns="45700" anchor="t" anchorCtr="0">
            <a:normAutofit/>
          </a:bodyPr>
          <a:lstStyle>
            <a:lvl1pPr marL="457200" lvl="0" indent="-314325" algn="l">
              <a:lnSpc>
                <a:spcPct val="100000"/>
              </a:lnSpc>
              <a:spcBef>
                <a:spcPts val="600"/>
              </a:spcBef>
              <a:spcAft>
                <a:spcPts val="0"/>
              </a:spcAft>
              <a:buSzPts val="1350"/>
              <a:buChar char="•"/>
              <a:defRPr/>
            </a:lvl1pPr>
            <a:lvl2pPr marL="914400" lvl="1" indent="-314325" algn="l">
              <a:lnSpc>
                <a:spcPct val="90000"/>
              </a:lnSpc>
              <a:spcBef>
                <a:spcPts val="500"/>
              </a:spcBef>
              <a:spcAft>
                <a:spcPts val="0"/>
              </a:spcAft>
              <a:buSzPts val="1350"/>
              <a:buChar char="•"/>
              <a:defRPr/>
            </a:lvl2pPr>
            <a:lvl3pPr marL="1371600" lvl="2" indent="-314325" algn="l">
              <a:lnSpc>
                <a:spcPct val="90000"/>
              </a:lnSpc>
              <a:spcBef>
                <a:spcPts val="500"/>
              </a:spcBef>
              <a:spcAft>
                <a:spcPts val="0"/>
              </a:spcAft>
              <a:buSzPts val="1350"/>
              <a:buChar char="•"/>
              <a:defRPr/>
            </a:lvl3pPr>
            <a:lvl4pPr marL="1828800" lvl="3" indent="-314325" algn="l">
              <a:lnSpc>
                <a:spcPct val="90000"/>
              </a:lnSpc>
              <a:spcBef>
                <a:spcPts val="500"/>
              </a:spcBef>
              <a:spcAft>
                <a:spcPts val="0"/>
              </a:spcAft>
              <a:buSzPts val="1350"/>
              <a:buChar char="•"/>
              <a:defRPr/>
            </a:lvl4pPr>
            <a:lvl5pPr marL="2286000" lvl="4" indent="-314325" algn="l">
              <a:lnSpc>
                <a:spcPct val="9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body" idx="1"/>
          </p:nvPr>
        </p:nvSpPr>
        <p:spPr>
          <a:xfrm>
            <a:off x="838200" y="1828800"/>
            <a:ext cx="10515600" cy="411852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1000"/>
              </a:spcBef>
              <a:spcAft>
                <a:spcPts val="0"/>
              </a:spcAft>
              <a:buClr>
                <a:srgbClr val="006633"/>
              </a:buClr>
              <a:buSzPts val="21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6633"/>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500"/>
              </a:spcBef>
              <a:spcAft>
                <a:spcPts val="0"/>
              </a:spcAft>
              <a:buClr>
                <a:srgbClr val="006633"/>
              </a:buClr>
              <a:buSzPts val="1500"/>
              <a:buFont typeface="Arial"/>
              <a:buChar char="•"/>
              <a:defRPr sz="20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6633"/>
              </a:buClr>
              <a:buSzPts val="4400"/>
              <a:buFont typeface="Calibri"/>
              <a:buNone/>
              <a:defRPr sz="4400" b="1" i="0" u="none" strike="noStrike" cap="none">
                <a:solidFill>
                  <a:srgbClr val="00663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3"/>
          <p:cNvSpPr txBox="1">
            <a:spLocks noGrp="1"/>
          </p:cNvSpPr>
          <p:nvPr>
            <p:ph type="sldNum" idx="12"/>
          </p:nvPr>
        </p:nvSpPr>
        <p:spPr>
          <a:xfrm>
            <a:off x="838200" y="6260122"/>
            <a:ext cx="2743200" cy="323557"/>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87908F"/>
                </a:solidFill>
                <a:latin typeface="Calibri"/>
                <a:ea typeface="Calibri"/>
                <a:cs typeface="Calibri"/>
                <a:sym typeface="Calibri"/>
              </a:defRPr>
            </a:lvl1pPr>
            <a:lvl2pPr marL="0" marR="0" lvl="1" indent="0" algn="l" rtl="0">
              <a:spcBef>
                <a:spcPts val="0"/>
              </a:spcBef>
              <a:buNone/>
              <a:defRPr sz="1200" b="0" i="0" u="none" strike="noStrike" cap="none">
                <a:solidFill>
                  <a:srgbClr val="87908F"/>
                </a:solidFill>
                <a:latin typeface="Calibri"/>
                <a:ea typeface="Calibri"/>
                <a:cs typeface="Calibri"/>
                <a:sym typeface="Calibri"/>
              </a:defRPr>
            </a:lvl2pPr>
            <a:lvl3pPr marL="0" marR="0" lvl="2" indent="0" algn="l" rtl="0">
              <a:spcBef>
                <a:spcPts val="0"/>
              </a:spcBef>
              <a:buNone/>
              <a:defRPr sz="1200" b="0" i="0" u="none" strike="noStrike" cap="none">
                <a:solidFill>
                  <a:srgbClr val="87908F"/>
                </a:solidFill>
                <a:latin typeface="Calibri"/>
                <a:ea typeface="Calibri"/>
                <a:cs typeface="Calibri"/>
                <a:sym typeface="Calibri"/>
              </a:defRPr>
            </a:lvl3pPr>
            <a:lvl4pPr marL="0" marR="0" lvl="3" indent="0" algn="l" rtl="0">
              <a:spcBef>
                <a:spcPts val="0"/>
              </a:spcBef>
              <a:buNone/>
              <a:defRPr sz="1200" b="0" i="0" u="none" strike="noStrike" cap="none">
                <a:solidFill>
                  <a:srgbClr val="87908F"/>
                </a:solidFill>
                <a:latin typeface="Calibri"/>
                <a:ea typeface="Calibri"/>
                <a:cs typeface="Calibri"/>
                <a:sym typeface="Calibri"/>
              </a:defRPr>
            </a:lvl4pPr>
            <a:lvl5pPr marL="0" marR="0" lvl="4" indent="0" algn="l" rtl="0">
              <a:spcBef>
                <a:spcPts val="0"/>
              </a:spcBef>
              <a:buNone/>
              <a:defRPr sz="1200" b="0" i="0" u="none" strike="noStrike" cap="none">
                <a:solidFill>
                  <a:srgbClr val="87908F"/>
                </a:solidFill>
                <a:latin typeface="Calibri"/>
                <a:ea typeface="Calibri"/>
                <a:cs typeface="Calibri"/>
                <a:sym typeface="Calibri"/>
              </a:defRPr>
            </a:lvl5pPr>
            <a:lvl6pPr marL="0" marR="0" lvl="5" indent="0" algn="l" rtl="0">
              <a:spcBef>
                <a:spcPts val="0"/>
              </a:spcBef>
              <a:buNone/>
              <a:defRPr sz="1200" b="0" i="0" u="none" strike="noStrike" cap="none">
                <a:solidFill>
                  <a:srgbClr val="87908F"/>
                </a:solidFill>
                <a:latin typeface="Calibri"/>
                <a:ea typeface="Calibri"/>
                <a:cs typeface="Calibri"/>
                <a:sym typeface="Calibri"/>
              </a:defRPr>
            </a:lvl6pPr>
            <a:lvl7pPr marL="0" marR="0" lvl="6" indent="0" algn="l" rtl="0">
              <a:spcBef>
                <a:spcPts val="0"/>
              </a:spcBef>
              <a:buNone/>
              <a:defRPr sz="1200" b="0" i="0" u="none" strike="noStrike" cap="none">
                <a:solidFill>
                  <a:srgbClr val="87908F"/>
                </a:solidFill>
                <a:latin typeface="Calibri"/>
                <a:ea typeface="Calibri"/>
                <a:cs typeface="Calibri"/>
                <a:sym typeface="Calibri"/>
              </a:defRPr>
            </a:lvl7pPr>
            <a:lvl8pPr marL="0" marR="0" lvl="7" indent="0" algn="l" rtl="0">
              <a:spcBef>
                <a:spcPts val="0"/>
              </a:spcBef>
              <a:buNone/>
              <a:defRPr sz="1200" b="0" i="0" u="none" strike="noStrike" cap="none">
                <a:solidFill>
                  <a:srgbClr val="87908F"/>
                </a:solidFill>
                <a:latin typeface="Calibri"/>
                <a:ea typeface="Calibri"/>
                <a:cs typeface="Calibri"/>
                <a:sym typeface="Calibri"/>
              </a:defRPr>
            </a:lvl8pPr>
            <a:lvl9pPr marL="0" marR="0" lvl="8" indent="0" algn="l" rtl="0">
              <a:spcBef>
                <a:spcPts val="0"/>
              </a:spcBef>
              <a:buNone/>
              <a:defRPr sz="1200" b="0" i="0" u="none" strike="noStrike" cap="none">
                <a:solidFill>
                  <a:srgbClr val="87908F"/>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8" r:id="rId5"/>
    <p:sldLayoutId id="2147483659" r:id="rId6"/>
    <p:sldLayoutId id="2147483660" r:id="rId7"/>
    <p:sldLayoutId id="214748366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nnguyenhuynh/AIT736-Team3/tree/main"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hyperlink" Target="https://www.salesforce.com/sales/analytics/customer-churn/" TargetMode="External"/><Relationship Id="rId4" Type="http://schemas.openxmlformats.org/officeDocument/2006/relationships/hyperlink" Target="https://www.kaggle.com/datasets/blastchar/telco-customer-chur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a:spLocks noGrp="1"/>
          </p:cNvSpPr>
          <p:nvPr>
            <p:ph type="ctrTitle"/>
          </p:nvPr>
        </p:nvSpPr>
        <p:spPr>
          <a:xfrm>
            <a:off x="838200" y="802432"/>
            <a:ext cx="10516566" cy="220367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6000"/>
              <a:buFont typeface="Calibri"/>
              <a:buNone/>
            </a:pPr>
            <a:r>
              <a:rPr lang="en-US" dirty="0"/>
              <a:t>AIT-736 Applied Machine Learning</a:t>
            </a:r>
            <a:endParaRPr dirty="0"/>
          </a:p>
        </p:txBody>
      </p:sp>
      <p:sp>
        <p:nvSpPr>
          <p:cNvPr id="61" name="Google Shape;61;p1"/>
          <p:cNvSpPr txBox="1">
            <a:spLocks noGrp="1"/>
          </p:cNvSpPr>
          <p:nvPr>
            <p:ph type="subTitle" idx="1"/>
          </p:nvPr>
        </p:nvSpPr>
        <p:spPr>
          <a:xfrm>
            <a:off x="731520" y="3536724"/>
            <a:ext cx="7205472" cy="1443239"/>
          </a:xfrm>
          <a:prstGeom prst="rect">
            <a:avLst/>
          </a:prstGeom>
          <a:noFill/>
          <a:ln>
            <a:noFill/>
          </a:ln>
        </p:spPr>
        <p:txBody>
          <a:bodyPr spcFirstLastPara="1" wrap="square" lIns="91425" tIns="45700" rIns="91425" bIns="45700" anchor="t" anchorCtr="0">
            <a:normAutofit fontScale="70000" lnSpcReduction="20000"/>
          </a:bodyPr>
          <a:lstStyle/>
          <a:p>
            <a:pPr marL="0" lvl="0" indent="0" rtl="0">
              <a:lnSpc>
                <a:spcPct val="90000"/>
              </a:lnSpc>
              <a:spcBef>
                <a:spcPts val="0"/>
              </a:spcBef>
              <a:spcAft>
                <a:spcPts val="0"/>
              </a:spcAft>
              <a:buSzPts val="2100"/>
              <a:buNone/>
            </a:pPr>
            <a:r>
              <a:rPr lang="en-US" sz="3400" b="1" dirty="0"/>
              <a:t>Group Presentation: Team 3 – An Huynh</a:t>
            </a:r>
          </a:p>
          <a:p>
            <a:pPr marL="0" lvl="0" indent="0" rtl="0">
              <a:lnSpc>
                <a:spcPct val="90000"/>
              </a:lnSpc>
              <a:spcBef>
                <a:spcPts val="0"/>
              </a:spcBef>
              <a:spcAft>
                <a:spcPts val="0"/>
              </a:spcAft>
              <a:buSzPts val="2100"/>
              <a:buNone/>
            </a:pPr>
            <a:r>
              <a:rPr lang="en-US" sz="3400" b="1" dirty="0"/>
              <a:t>Telco Customer Churn Prediction</a:t>
            </a:r>
          </a:p>
          <a:p>
            <a:pPr marL="0" lvl="0" indent="0">
              <a:spcBef>
                <a:spcPts val="0"/>
              </a:spcBef>
            </a:pPr>
            <a:r>
              <a:rPr lang="en-US" sz="3200" dirty="0"/>
              <a:t>Course: AIT736 Applied Machine Learning (Spring 2026)</a:t>
            </a:r>
            <a:endParaRPr lang="en-US" sz="3200" b="1" dirty="0"/>
          </a:p>
          <a:p>
            <a:pPr marL="0" lvl="0" indent="0" rtl="0">
              <a:lnSpc>
                <a:spcPct val="90000"/>
              </a:lnSpc>
              <a:spcBef>
                <a:spcPts val="0"/>
              </a:spcBef>
              <a:spcAft>
                <a:spcPts val="0"/>
              </a:spcAft>
              <a:buSzPts val="2100"/>
              <a:buNone/>
            </a:pPr>
            <a:endParaRPr lang="en-US" dirty="0"/>
          </a:p>
          <a:p>
            <a:pPr marL="0" lvl="0" indent="0" rtl="0">
              <a:lnSpc>
                <a:spcPct val="90000"/>
              </a:lnSpc>
              <a:spcBef>
                <a:spcPts val="0"/>
              </a:spcBef>
              <a:spcAft>
                <a:spcPts val="0"/>
              </a:spcAft>
              <a:buSzPts val="2100"/>
              <a:buNone/>
            </a:pPr>
            <a:r>
              <a:rPr lang="en-US" dirty="0"/>
              <a:t>Faculty Course Developer: Dr. Emanuela Marasco</a:t>
            </a:r>
          </a:p>
        </p:txBody>
      </p:sp>
    </p:spTree>
    <p:extLst>
      <p:ext uri="{BB962C8B-B14F-4D97-AF65-F5344CB8AC3E}">
        <p14:creationId xmlns:p14="http://schemas.microsoft.com/office/powerpoint/2010/main" val="332577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Introduction/Motivation</a:t>
            </a:r>
            <a:endParaRPr dirty="0"/>
          </a:p>
        </p:txBody>
      </p:sp>
      <p:sp>
        <p:nvSpPr>
          <p:cNvPr id="2" name="TextBox 1">
            <a:extLst>
              <a:ext uri="{FF2B5EF4-FFF2-40B4-BE49-F238E27FC236}">
                <a16:creationId xmlns:a16="http://schemas.microsoft.com/office/drawing/2014/main" id="{7CF2D029-C269-57F6-BA63-7480209B09D2}"/>
              </a:ext>
            </a:extLst>
          </p:cNvPr>
          <p:cNvSpPr txBox="1"/>
          <p:nvPr/>
        </p:nvSpPr>
        <p:spPr>
          <a:xfrm>
            <a:off x="672353" y="1909482"/>
            <a:ext cx="11228294" cy="48320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Customer churn is the rate/percentage of customers who end relationship with a business. </a:t>
            </a:r>
          </a:p>
          <a:p>
            <a:pPr marL="285750" indent="-28575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Customer churn matters because it impacts a company’s revenue, profit, and growth. </a:t>
            </a:r>
          </a:p>
          <a:p>
            <a:pPr marL="285750" indent="-28575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Customer churn prediction is useful as it helps the company to save on high acquisition cost, consolidate the company’s position in the industry, and strengthen company’s lifetime value.</a:t>
            </a:r>
          </a:p>
          <a:p>
            <a:pPr marL="285750" indent="-285750">
              <a:buFont typeface="Arial" panose="020B0604020202020204" pitchFamily="34" charset="0"/>
              <a:buChar char="•"/>
            </a:pPr>
            <a:endParaRPr lang="en-US"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body" idx="1"/>
          </p:nvPr>
        </p:nvSpPr>
        <p:spPr>
          <a:xfrm>
            <a:off x="839788" y="1909482"/>
            <a:ext cx="10515600" cy="4061827"/>
          </a:xfrm>
          <a:prstGeom prst="rect">
            <a:avLst/>
          </a:prstGeom>
          <a:noFill/>
          <a:ln>
            <a:noFill/>
          </a:ln>
        </p:spPr>
        <p:txBody>
          <a:bodyPr spcFirstLastPara="1" wrap="square" lIns="91425" tIns="45700" rIns="91425" bIns="45700" anchor="t" anchorCtr="0">
            <a:normAutofit fontScale="85000" lnSpcReduction="20000"/>
          </a:bodyPr>
          <a:lstStyle/>
          <a:p>
            <a:pPr marL="590550" indent="-457200">
              <a:lnSpc>
                <a:spcPct val="150000"/>
              </a:lnSpc>
              <a:spcBef>
                <a:spcPts val="0"/>
              </a:spcBef>
              <a:buSzPts val="2100"/>
            </a:pPr>
            <a:r>
              <a:rPr lang="en-US" dirty="0">
                <a:solidFill>
                  <a:srgbClr val="000000"/>
                </a:solidFill>
              </a:rPr>
              <a:t>Problem statement: This project aims at building different machine learning models to predict customer churn at Telco company by analyzing customer related factors.</a:t>
            </a:r>
          </a:p>
          <a:p>
            <a:pPr marL="590550" indent="-457200">
              <a:lnSpc>
                <a:spcPct val="150000"/>
              </a:lnSpc>
              <a:spcBef>
                <a:spcPts val="0"/>
              </a:spcBef>
              <a:buSzPts val="2100"/>
            </a:pPr>
            <a:r>
              <a:rPr lang="en-US" dirty="0">
                <a:solidFill>
                  <a:srgbClr val="000000"/>
                </a:solidFill>
              </a:rPr>
              <a:t>Target variable: Churn (Yes/No)</a:t>
            </a:r>
          </a:p>
          <a:p>
            <a:pPr marL="590550" indent="-457200">
              <a:lnSpc>
                <a:spcPct val="150000"/>
              </a:lnSpc>
              <a:spcBef>
                <a:spcPts val="0"/>
              </a:spcBef>
              <a:buSzPts val="2100"/>
            </a:pPr>
            <a:r>
              <a:rPr lang="en-US" dirty="0">
                <a:solidFill>
                  <a:srgbClr val="000000"/>
                </a:solidFill>
              </a:rPr>
              <a:t>Business goal: The primary goal is to maximize churn detection (recall) while minimizing the number of missed churner, enabling the company to proactively retain customers</a:t>
            </a:r>
          </a:p>
          <a:p>
            <a:pPr marL="590550" indent="-457200">
              <a:lnSpc>
                <a:spcPct val="150000"/>
              </a:lnSpc>
              <a:spcBef>
                <a:spcPts val="0"/>
              </a:spcBef>
              <a:buSzPts val="2100"/>
            </a:pPr>
            <a:r>
              <a:rPr lang="en-US" dirty="0">
                <a:solidFill>
                  <a:srgbClr val="000000"/>
                </a:solidFill>
              </a:rPr>
              <a:t>Challenge: class imbalance</a:t>
            </a:r>
            <a:endParaRPr dirty="0">
              <a:solidFill>
                <a:srgbClr val="000000"/>
              </a:solidFill>
            </a:endParaRPr>
          </a:p>
        </p:txBody>
      </p:sp>
      <p:sp>
        <p:nvSpPr>
          <p:cNvPr id="68" name="Google Shape;68;p2"/>
          <p:cNvSpPr txBox="1">
            <a:spLocks noGrp="1"/>
          </p:cNvSpPr>
          <p:nvPr>
            <p:ph type="title"/>
          </p:nvPr>
        </p:nvSpPr>
        <p:spPr>
          <a:xfrm>
            <a:off x="839788"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Problem Statement/Business Goal</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body" idx="1"/>
          </p:nvPr>
        </p:nvSpPr>
        <p:spPr>
          <a:xfrm>
            <a:off x="838199" y="1828799"/>
            <a:ext cx="4110991" cy="3760471"/>
          </a:xfrm>
          <a:prstGeom prst="rect">
            <a:avLst/>
          </a:prstGeom>
          <a:noFill/>
          <a:ln>
            <a:noFill/>
          </a:ln>
        </p:spPr>
        <p:txBody>
          <a:bodyPr spcFirstLastPara="1" wrap="square" lIns="91425" tIns="45700" rIns="91425" bIns="45700" anchor="t" anchorCtr="0">
            <a:normAutofit/>
          </a:bodyPr>
          <a:lstStyle/>
          <a:p>
            <a:pPr marL="590550" indent="-457200">
              <a:lnSpc>
                <a:spcPct val="90000"/>
              </a:lnSpc>
              <a:spcBef>
                <a:spcPts val="0"/>
              </a:spcBef>
              <a:buClr>
                <a:srgbClr val="000000"/>
              </a:buClr>
              <a:buSzPts val="2100"/>
              <a:buFont typeface="Arial" panose="020B0604020202020204" pitchFamily="34" charset="0"/>
              <a:buChar char="•"/>
            </a:pPr>
            <a:r>
              <a:rPr lang="en-US" sz="2400" dirty="0">
                <a:solidFill>
                  <a:srgbClr val="000000"/>
                </a:solidFill>
              </a:rPr>
              <a:t>Dataset name: Telco Customer Churn</a:t>
            </a:r>
          </a:p>
          <a:p>
            <a:pPr marL="590550" indent="-457200">
              <a:lnSpc>
                <a:spcPct val="90000"/>
              </a:lnSpc>
              <a:spcBef>
                <a:spcPts val="0"/>
              </a:spcBef>
              <a:buClr>
                <a:srgbClr val="000000"/>
              </a:buClr>
              <a:buSzPts val="2100"/>
              <a:buFont typeface="Arial" panose="020B0604020202020204" pitchFamily="34" charset="0"/>
              <a:buChar char="•"/>
            </a:pPr>
            <a:r>
              <a:rPr lang="en-US" sz="2400" dirty="0">
                <a:solidFill>
                  <a:srgbClr val="000000"/>
                </a:solidFill>
              </a:rPr>
              <a:t>Source: Kaggle</a:t>
            </a:r>
          </a:p>
          <a:p>
            <a:pPr marL="590550" indent="-457200">
              <a:lnSpc>
                <a:spcPct val="90000"/>
              </a:lnSpc>
              <a:spcBef>
                <a:spcPts val="0"/>
              </a:spcBef>
              <a:buClr>
                <a:srgbClr val="000000"/>
              </a:buClr>
              <a:buSzPts val="2100"/>
              <a:buFont typeface="Arial" panose="020B0604020202020204" pitchFamily="34" charset="0"/>
              <a:buChar char="•"/>
            </a:pPr>
            <a:endParaRPr lang="en-US" sz="2400" dirty="0">
              <a:solidFill>
                <a:srgbClr val="000000"/>
              </a:solidFill>
            </a:endParaRPr>
          </a:p>
          <a:p>
            <a:pPr marL="590550" indent="-457200">
              <a:lnSpc>
                <a:spcPct val="90000"/>
              </a:lnSpc>
              <a:spcBef>
                <a:spcPts val="0"/>
              </a:spcBef>
              <a:buClr>
                <a:srgbClr val="000000"/>
              </a:buClr>
              <a:buSzPts val="2100"/>
              <a:buFont typeface="Arial" panose="020B0604020202020204" pitchFamily="34" charset="0"/>
              <a:buChar char="•"/>
            </a:pPr>
            <a:r>
              <a:rPr lang="en-US" sz="2400" dirty="0">
                <a:solidFill>
                  <a:srgbClr val="000000"/>
                </a:solidFill>
              </a:rPr>
              <a:t>Size: 7043 rows, 21 columns</a:t>
            </a:r>
          </a:p>
          <a:p>
            <a:pPr marL="590550" indent="-457200">
              <a:lnSpc>
                <a:spcPct val="90000"/>
              </a:lnSpc>
              <a:spcBef>
                <a:spcPts val="0"/>
              </a:spcBef>
              <a:buClr>
                <a:srgbClr val="000000"/>
              </a:buClr>
              <a:buSzPts val="2100"/>
              <a:buFont typeface="Arial" panose="020B0604020202020204" pitchFamily="34" charset="0"/>
              <a:buChar char="•"/>
            </a:pPr>
            <a:endParaRPr lang="en-US" sz="2400" dirty="0">
              <a:solidFill>
                <a:srgbClr val="000000"/>
              </a:solidFill>
            </a:endParaRPr>
          </a:p>
          <a:p>
            <a:pPr marL="590550" indent="-457200">
              <a:lnSpc>
                <a:spcPct val="90000"/>
              </a:lnSpc>
              <a:spcBef>
                <a:spcPts val="0"/>
              </a:spcBef>
              <a:buClr>
                <a:srgbClr val="000000"/>
              </a:buClr>
              <a:buSzPts val="2100"/>
              <a:buFont typeface="Arial" panose="020B0604020202020204" pitchFamily="34" charset="0"/>
              <a:buChar char="•"/>
            </a:pPr>
            <a:r>
              <a:rPr lang="en-US" sz="2400" dirty="0">
                <a:solidFill>
                  <a:srgbClr val="000000"/>
                </a:solidFill>
              </a:rPr>
              <a:t>Feature types: There are 20 independent features. </a:t>
            </a:r>
          </a:p>
        </p:txBody>
      </p:sp>
      <p:sp>
        <p:nvSpPr>
          <p:cNvPr id="97" name="Google Shape;97;p7"/>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Dataset Description</a:t>
            </a:r>
            <a:endParaRPr dirty="0"/>
          </a:p>
        </p:txBody>
      </p:sp>
      <p:pic>
        <p:nvPicPr>
          <p:cNvPr id="3" name="Picture 2">
            <a:extLst>
              <a:ext uri="{FF2B5EF4-FFF2-40B4-BE49-F238E27FC236}">
                <a16:creationId xmlns:a16="http://schemas.microsoft.com/office/drawing/2014/main" id="{2BC88856-E273-7FCC-68B7-02A5B2831DC2}"/>
              </a:ext>
            </a:extLst>
          </p:cNvPr>
          <p:cNvPicPr>
            <a:picLocks noChangeAspect="1"/>
          </p:cNvPicPr>
          <p:nvPr/>
        </p:nvPicPr>
        <p:blipFill>
          <a:blip r:embed="rId3"/>
          <a:stretch>
            <a:fillRect/>
          </a:stretch>
        </p:blipFill>
        <p:spPr>
          <a:xfrm>
            <a:off x="5274029" y="1801066"/>
            <a:ext cx="4262298" cy="989046"/>
          </a:xfrm>
          <a:prstGeom prst="rect">
            <a:avLst/>
          </a:prstGeom>
        </p:spPr>
      </p:pic>
      <p:pic>
        <p:nvPicPr>
          <p:cNvPr id="6" name="Picture 5">
            <a:extLst>
              <a:ext uri="{FF2B5EF4-FFF2-40B4-BE49-F238E27FC236}">
                <a16:creationId xmlns:a16="http://schemas.microsoft.com/office/drawing/2014/main" id="{60C0A333-7C7D-AB48-38BD-F042E2A66C8A}"/>
              </a:ext>
            </a:extLst>
          </p:cNvPr>
          <p:cNvPicPr>
            <a:picLocks noChangeAspect="1"/>
          </p:cNvPicPr>
          <p:nvPr/>
        </p:nvPicPr>
        <p:blipFill>
          <a:blip r:embed="rId4"/>
          <a:stretch>
            <a:fillRect/>
          </a:stretch>
        </p:blipFill>
        <p:spPr>
          <a:xfrm>
            <a:off x="5171159" y="3333879"/>
            <a:ext cx="6563641" cy="18671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28C029E-1034-89DC-D7A2-63B016445F50}"/>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79EF9916-657D-A356-C8CB-EE41BF232E89}"/>
              </a:ext>
            </a:extLst>
          </p:cNvPr>
          <p:cNvSpPr txBox="1">
            <a:spLocks noGrp="1"/>
          </p:cNvSpPr>
          <p:nvPr>
            <p:ph type="body" idx="1"/>
          </p:nvPr>
        </p:nvSpPr>
        <p:spPr>
          <a:xfrm>
            <a:off x="838200" y="1828800"/>
            <a:ext cx="3799114" cy="2388638"/>
          </a:xfrm>
          <a:prstGeom prst="rect">
            <a:avLst/>
          </a:prstGeom>
          <a:noFill/>
          <a:ln>
            <a:noFill/>
          </a:ln>
        </p:spPr>
        <p:txBody>
          <a:bodyPr spcFirstLastPara="1" wrap="square" lIns="91425" tIns="45700" rIns="91425" bIns="45700" anchor="t" anchorCtr="0">
            <a:normAutofit/>
          </a:bodyPr>
          <a:lstStyle/>
          <a:p>
            <a:pPr marL="590550" indent="-457200">
              <a:lnSpc>
                <a:spcPct val="90000"/>
              </a:lnSpc>
              <a:spcBef>
                <a:spcPts val="0"/>
              </a:spcBef>
              <a:buSzPts val="2100"/>
            </a:pPr>
            <a:r>
              <a:rPr lang="en-US" sz="2000" dirty="0">
                <a:solidFill>
                  <a:srgbClr val="000000"/>
                </a:solidFill>
              </a:rPr>
              <a:t>Check missing values</a:t>
            </a:r>
          </a:p>
          <a:p>
            <a:pPr marL="590550" indent="-457200">
              <a:lnSpc>
                <a:spcPct val="90000"/>
              </a:lnSpc>
              <a:spcBef>
                <a:spcPts val="0"/>
              </a:spcBef>
              <a:buSzPts val="2100"/>
            </a:pPr>
            <a:r>
              <a:rPr lang="en-US" sz="2000" dirty="0">
                <a:solidFill>
                  <a:srgbClr val="000000"/>
                </a:solidFill>
              </a:rPr>
              <a:t>Check data type of each feature</a:t>
            </a:r>
          </a:p>
          <a:p>
            <a:pPr marL="590550" indent="-457200">
              <a:lnSpc>
                <a:spcPct val="90000"/>
              </a:lnSpc>
              <a:spcBef>
                <a:spcPts val="0"/>
              </a:spcBef>
              <a:buSzPts val="2100"/>
            </a:pPr>
            <a:r>
              <a:rPr lang="en-US" sz="2000" dirty="0">
                <a:solidFill>
                  <a:srgbClr val="000000"/>
                </a:solidFill>
              </a:rPr>
              <a:t>Understand data distribution using descriptive statistics</a:t>
            </a:r>
          </a:p>
          <a:p>
            <a:pPr marL="590550" indent="-457200">
              <a:lnSpc>
                <a:spcPct val="90000"/>
              </a:lnSpc>
              <a:spcBef>
                <a:spcPts val="0"/>
              </a:spcBef>
              <a:buSzPts val="2100"/>
            </a:pPr>
            <a:r>
              <a:rPr lang="en-US" sz="2000" dirty="0">
                <a:solidFill>
                  <a:srgbClr val="000000"/>
                </a:solidFill>
              </a:rPr>
              <a:t>Check the values in categorical features</a:t>
            </a:r>
          </a:p>
          <a:p>
            <a:pPr marL="590550" indent="-457200">
              <a:lnSpc>
                <a:spcPct val="90000"/>
              </a:lnSpc>
              <a:spcBef>
                <a:spcPts val="0"/>
              </a:spcBef>
              <a:buSzPts val="2100"/>
            </a:pPr>
            <a:endParaRPr lang="en-US" dirty="0">
              <a:solidFill>
                <a:srgbClr val="000000"/>
              </a:solidFill>
            </a:endParaRPr>
          </a:p>
        </p:txBody>
      </p:sp>
      <p:sp>
        <p:nvSpPr>
          <p:cNvPr id="97" name="Google Shape;97;p7">
            <a:extLst>
              <a:ext uri="{FF2B5EF4-FFF2-40B4-BE49-F238E27FC236}">
                <a16:creationId xmlns:a16="http://schemas.microsoft.com/office/drawing/2014/main" id="{B132F64C-766A-6C66-FCB4-B2F61AEBA58E}"/>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Exploratory Data Analysis</a:t>
            </a:r>
            <a:endParaRPr dirty="0"/>
          </a:p>
        </p:txBody>
      </p:sp>
      <p:pic>
        <p:nvPicPr>
          <p:cNvPr id="3" name="Picture 2">
            <a:extLst>
              <a:ext uri="{FF2B5EF4-FFF2-40B4-BE49-F238E27FC236}">
                <a16:creationId xmlns:a16="http://schemas.microsoft.com/office/drawing/2014/main" id="{D274203B-337D-013A-DB29-DAE2A3AD47CB}"/>
              </a:ext>
            </a:extLst>
          </p:cNvPr>
          <p:cNvPicPr>
            <a:picLocks noChangeAspect="1"/>
          </p:cNvPicPr>
          <p:nvPr/>
        </p:nvPicPr>
        <p:blipFill>
          <a:blip r:embed="rId3"/>
          <a:stretch>
            <a:fillRect/>
          </a:stretch>
        </p:blipFill>
        <p:spPr>
          <a:xfrm>
            <a:off x="4637314" y="1828800"/>
            <a:ext cx="2353003" cy="714475"/>
          </a:xfrm>
          <a:prstGeom prst="rect">
            <a:avLst/>
          </a:prstGeom>
        </p:spPr>
      </p:pic>
      <p:pic>
        <p:nvPicPr>
          <p:cNvPr id="5" name="Picture 4">
            <a:extLst>
              <a:ext uri="{FF2B5EF4-FFF2-40B4-BE49-F238E27FC236}">
                <a16:creationId xmlns:a16="http://schemas.microsoft.com/office/drawing/2014/main" id="{0D0135E7-2538-3C40-1619-FF5D36297DD3}"/>
              </a:ext>
            </a:extLst>
          </p:cNvPr>
          <p:cNvPicPr>
            <a:picLocks noChangeAspect="1"/>
          </p:cNvPicPr>
          <p:nvPr/>
        </p:nvPicPr>
        <p:blipFill>
          <a:blip r:embed="rId4"/>
          <a:stretch>
            <a:fillRect/>
          </a:stretch>
        </p:blipFill>
        <p:spPr>
          <a:xfrm>
            <a:off x="719707" y="5196360"/>
            <a:ext cx="3296110" cy="714475"/>
          </a:xfrm>
          <a:prstGeom prst="rect">
            <a:avLst/>
          </a:prstGeom>
        </p:spPr>
      </p:pic>
      <p:pic>
        <p:nvPicPr>
          <p:cNvPr id="7" name="Picture 6">
            <a:extLst>
              <a:ext uri="{FF2B5EF4-FFF2-40B4-BE49-F238E27FC236}">
                <a16:creationId xmlns:a16="http://schemas.microsoft.com/office/drawing/2014/main" id="{EE978D28-7CD5-B324-C506-CDC298B9BE10}"/>
              </a:ext>
            </a:extLst>
          </p:cNvPr>
          <p:cNvPicPr>
            <a:picLocks noChangeAspect="1"/>
          </p:cNvPicPr>
          <p:nvPr/>
        </p:nvPicPr>
        <p:blipFill>
          <a:blip r:embed="rId5"/>
          <a:stretch>
            <a:fillRect/>
          </a:stretch>
        </p:blipFill>
        <p:spPr>
          <a:xfrm>
            <a:off x="719707" y="4336453"/>
            <a:ext cx="2981741" cy="676369"/>
          </a:xfrm>
          <a:prstGeom prst="rect">
            <a:avLst/>
          </a:prstGeom>
        </p:spPr>
      </p:pic>
      <p:pic>
        <p:nvPicPr>
          <p:cNvPr id="8" name="Picture 7">
            <a:extLst>
              <a:ext uri="{FF2B5EF4-FFF2-40B4-BE49-F238E27FC236}">
                <a16:creationId xmlns:a16="http://schemas.microsoft.com/office/drawing/2014/main" id="{11D32B43-6D97-D07D-541D-7F8B28109CBC}"/>
              </a:ext>
            </a:extLst>
          </p:cNvPr>
          <p:cNvPicPr>
            <a:picLocks noChangeAspect="1"/>
          </p:cNvPicPr>
          <p:nvPr/>
        </p:nvPicPr>
        <p:blipFill>
          <a:blip r:embed="rId6"/>
          <a:stretch>
            <a:fillRect/>
          </a:stretch>
        </p:blipFill>
        <p:spPr>
          <a:xfrm>
            <a:off x="8548914" y="1783901"/>
            <a:ext cx="3032449" cy="3769696"/>
          </a:xfrm>
          <a:prstGeom prst="rect">
            <a:avLst/>
          </a:prstGeom>
        </p:spPr>
      </p:pic>
      <p:pic>
        <p:nvPicPr>
          <p:cNvPr id="12" name="Picture 11">
            <a:extLst>
              <a:ext uri="{FF2B5EF4-FFF2-40B4-BE49-F238E27FC236}">
                <a16:creationId xmlns:a16="http://schemas.microsoft.com/office/drawing/2014/main" id="{1B72B12C-AE1A-EC74-A13A-9D841AB184BE}"/>
              </a:ext>
            </a:extLst>
          </p:cNvPr>
          <p:cNvPicPr>
            <a:picLocks noChangeAspect="1"/>
          </p:cNvPicPr>
          <p:nvPr/>
        </p:nvPicPr>
        <p:blipFill>
          <a:blip r:embed="rId7"/>
          <a:stretch>
            <a:fillRect/>
          </a:stretch>
        </p:blipFill>
        <p:spPr>
          <a:xfrm>
            <a:off x="4637314" y="2696546"/>
            <a:ext cx="3797741" cy="3214290"/>
          </a:xfrm>
          <a:prstGeom prst="rect">
            <a:avLst/>
          </a:prstGeom>
        </p:spPr>
      </p:pic>
    </p:spTree>
    <p:extLst>
      <p:ext uri="{BB962C8B-B14F-4D97-AF65-F5344CB8AC3E}">
        <p14:creationId xmlns:p14="http://schemas.microsoft.com/office/powerpoint/2010/main" val="137629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3BA4B89-D9E8-647D-1388-E6A29CBD0CA9}"/>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6DAA00DE-A237-7490-0F82-0DEF7DC04885}"/>
              </a:ext>
            </a:extLst>
          </p:cNvPr>
          <p:cNvSpPr txBox="1">
            <a:spLocks noGrp="1"/>
          </p:cNvSpPr>
          <p:nvPr>
            <p:ph type="body" idx="1"/>
          </p:nvPr>
        </p:nvSpPr>
        <p:spPr>
          <a:xfrm>
            <a:off x="838200" y="1828801"/>
            <a:ext cx="4384198" cy="2136710"/>
          </a:xfrm>
          <a:prstGeom prst="rect">
            <a:avLst/>
          </a:prstGeom>
          <a:noFill/>
          <a:ln>
            <a:noFill/>
          </a:ln>
        </p:spPr>
        <p:txBody>
          <a:bodyPr spcFirstLastPara="1" wrap="square" lIns="91425" tIns="45700" rIns="91425" bIns="45700" anchor="t" anchorCtr="0">
            <a:normAutofit fontScale="92500"/>
          </a:bodyPr>
          <a:lstStyle/>
          <a:p>
            <a:pPr marL="590550" indent="-457200">
              <a:lnSpc>
                <a:spcPct val="90000"/>
              </a:lnSpc>
              <a:spcBef>
                <a:spcPts val="0"/>
              </a:spcBef>
              <a:buClr>
                <a:srgbClr val="000000"/>
              </a:buClr>
              <a:buSzPts val="2100"/>
            </a:pPr>
            <a:r>
              <a:rPr lang="en-US" sz="1600" dirty="0">
                <a:solidFill>
                  <a:srgbClr val="000000"/>
                </a:solidFill>
              </a:rPr>
              <a:t>Encoding categorical variables</a:t>
            </a:r>
          </a:p>
          <a:p>
            <a:pPr marL="876300" lvl="1" indent="-285750">
              <a:spcBef>
                <a:spcPts val="0"/>
              </a:spcBef>
              <a:buClr>
                <a:srgbClr val="000000"/>
              </a:buClr>
              <a:buSzPts val="2100"/>
              <a:buFont typeface="Arial" panose="020B0604020202020204" pitchFamily="34" charset="0"/>
              <a:buChar char="•"/>
            </a:pPr>
            <a:r>
              <a:rPr lang="en-US" sz="1600" dirty="0">
                <a:solidFill>
                  <a:srgbClr val="000000"/>
                </a:solidFill>
              </a:rPr>
              <a:t>For columns with two unique categories, map one value to 1 and the other to 0.</a:t>
            </a:r>
          </a:p>
          <a:p>
            <a:pPr marL="876300" lvl="2" indent="-285750">
              <a:spcBef>
                <a:spcPts val="0"/>
              </a:spcBef>
              <a:buClr>
                <a:srgbClr val="000000"/>
              </a:buClr>
              <a:buSzPts val="2100"/>
            </a:pPr>
            <a:r>
              <a:rPr lang="en-US" sz="1500" dirty="0">
                <a:solidFill>
                  <a:srgbClr val="000000"/>
                </a:solidFill>
              </a:rPr>
              <a:t>For columns with three unique values or more, apply one-hot encoding. </a:t>
            </a:r>
          </a:p>
          <a:p>
            <a:pPr marL="590550" indent="-457200">
              <a:lnSpc>
                <a:spcPct val="90000"/>
              </a:lnSpc>
              <a:spcBef>
                <a:spcPts val="0"/>
              </a:spcBef>
              <a:buClr>
                <a:srgbClr val="000000"/>
              </a:buClr>
              <a:buSzPts val="2100"/>
            </a:pPr>
            <a:r>
              <a:rPr lang="en-US" sz="1600" dirty="0">
                <a:solidFill>
                  <a:srgbClr val="000000"/>
                </a:solidFill>
              </a:rPr>
              <a:t>Convert ‘</a:t>
            </a:r>
            <a:r>
              <a:rPr lang="en-US" sz="1600" dirty="0" err="1">
                <a:solidFill>
                  <a:srgbClr val="000000"/>
                </a:solidFill>
              </a:rPr>
              <a:t>TotalCharges</a:t>
            </a:r>
            <a:r>
              <a:rPr lang="en-US" sz="1600" dirty="0">
                <a:solidFill>
                  <a:srgbClr val="000000"/>
                </a:solidFill>
              </a:rPr>
              <a:t>’ column to numeric type. </a:t>
            </a:r>
          </a:p>
          <a:p>
            <a:pPr marL="590550" indent="-457200">
              <a:lnSpc>
                <a:spcPct val="90000"/>
              </a:lnSpc>
              <a:spcBef>
                <a:spcPts val="0"/>
              </a:spcBef>
              <a:buClr>
                <a:srgbClr val="000000"/>
              </a:buClr>
              <a:buSzPts val="2100"/>
            </a:pPr>
            <a:r>
              <a:rPr lang="en-US" sz="1600" dirty="0">
                <a:solidFill>
                  <a:srgbClr val="000000"/>
                </a:solidFill>
              </a:rPr>
              <a:t>Handling missing values (drop 11 rows with null values)</a:t>
            </a:r>
          </a:p>
          <a:p>
            <a:pPr marL="590550" indent="-457200">
              <a:lnSpc>
                <a:spcPct val="90000"/>
              </a:lnSpc>
              <a:spcBef>
                <a:spcPts val="0"/>
              </a:spcBef>
              <a:buClr>
                <a:srgbClr val="000000"/>
              </a:buClr>
              <a:buSzPts val="2100"/>
            </a:pPr>
            <a:r>
              <a:rPr lang="en-US" sz="1600" dirty="0">
                <a:solidFill>
                  <a:srgbClr val="000000"/>
                </a:solidFill>
              </a:rPr>
              <a:t>Transform Boolean values into 1 and 0</a:t>
            </a:r>
          </a:p>
        </p:txBody>
      </p:sp>
      <p:sp>
        <p:nvSpPr>
          <p:cNvPr id="97" name="Google Shape;97;p7">
            <a:extLst>
              <a:ext uri="{FF2B5EF4-FFF2-40B4-BE49-F238E27FC236}">
                <a16:creationId xmlns:a16="http://schemas.microsoft.com/office/drawing/2014/main" id="{13A6A0C3-4469-32D4-BAE4-B837717EE04A}"/>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Dataset Preparation and Cleaning</a:t>
            </a:r>
            <a:endParaRPr dirty="0"/>
          </a:p>
        </p:txBody>
      </p:sp>
      <p:pic>
        <p:nvPicPr>
          <p:cNvPr id="3" name="Picture 2">
            <a:extLst>
              <a:ext uri="{FF2B5EF4-FFF2-40B4-BE49-F238E27FC236}">
                <a16:creationId xmlns:a16="http://schemas.microsoft.com/office/drawing/2014/main" id="{780B8B1A-DF7F-63A6-8ECB-F7B7FC4666A3}"/>
              </a:ext>
            </a:extLst>
          </p:cNvPr>
          <p:cNvPicPr>
            <a:picLocks noChangeAspect="1"/>
          </p:cNvPicPr>
          <p:nvPr/>
        </p:nvPicPr>
        <p:blipFill>
          <a:blip r:embed="rId3"/>
          <a:stretch>
            <a:fillRect/>
          </a:stretch>
        </p:blipFill>
        <p:spPr>
          <a:xfrm>
            <a:off x="5537024" y="1828800"/>
            <a:ext cx="5991943" cy="1739142"/>
          </a:xfrm>
          <a:prstGeom prst="rect">
            <a:avLst/>
          </a:prstGeom>
        </p:spPr>
      </p:pic>
      <p:pic>
        <p:nvPicPr>
          <p:cNvPr id="5" name="Picture 4">
            <a:extLst>
              <a:ext uri="{FF2B5EF4-FFF2-40B4-BE49-F238E27FC236}">
                <a16:creationId xmlns:a16="http://schemas.microsoft.com/office/drawing/2014/main" id="{721401BE-71B2-09CE-C28B-0EB0417CD81E}"/>
              </a:ext>
            </a:extLst>
          </p:cNvPr>
          <p:cNvPicPr>
            <a:picLocks noChangeAspect="1"/>
          </p:cNvPicPr>
          <p:nvPr/>
        </p:nvPicPr>
        <p:blipFill>
          <a:blip r:embed="rId4"/>
          <a:stretch>
            <a:fillRect/>
          </a:stretch>
        </p:blipFill>
        <p:spPr>
          <a:xfrm>
            <a:off x="5537024" y="3429000"/>
            <a:ext cx="5991943" cy="1507252"/>
          </a:xfrm>
          <a:prstGeom prst="rect">
            <a:avLst/>
          </a:prstGeom>
        </p:spPr>
      </p:pic>
      <p:pic>
        <p:nvPicPr>
          <p:cNvPr id="7" name="Picture 6">
            <a:extLst>
              <a:ext uri="{FF2B5EF4-FFF2-40B4-BE49-F238E27FC236}">
                <a16:creationId xmlns:a16="http://schemas.microsoft.com/office/drawing/2014/main" id="{2B40D631-AE2C-7569-4705-572B544C5BF7}"/>
              </a:ext>
            </a:extLst>
          </p:cNvPr>
          <p:cNvPicPr>
            <a:picLocks noChangeAspect="1"/>
          </p:cNvPicPr>
          <p:nvPr/>
        </p:nvPicPr>
        <p:blipFill>
          <a:blip r:embed="rId5"/>
          <a:stretch>
            <a:fillRect/>
          </a:stretch>
        </p:blipFill>
        <p:spPr>
          <a:xfrm>
            <a:off x="813137" y="4114800"/>
            <a:ext cx="4409261" cy="2579417"/>
          </a:xfrm>
          <a:prstGeom prst="rect">
            <a:avLst/>
          </a:prstGeom>
        </p:spPr>
      </p:pic>
      <p:sp>
        <p:nvSpPr>
          <p:cNvPr id="10" name="TextBox 9">
            <a:extLst>
              <a:ext uri="{FF2B5EF4-FFF2-40B4-BE49-F238E27FC236}">
                <a16:creationId xmlns:a16="http://schemas.microsoft.com/office/drawing/2014/main" id="{974CDE1E-B863-54F5-3DFF-39E87F2C075B}"/>
              </a:ext>
            </a:extLst>
          </p:cNvPr>
          <p:cNvSpPr txBox="1"/>
          <p:nvPr/>
        </p:nvSpPr>
        <p:spPr>
          <a:xfrm>
            <a:off x="5537023" y="5113176"/>
            <a:ext cx="5991943" cy="646331"/>
          </a:xfrm>
          <a:prstGeom prst="rect">
            <a:avLst/>
          </a:prstGeom>
          <a:noFill/>
        </p:spPr>
        <p:txBody>
          <a:bodyPr wrap="square" rtlCol="0">
            <a:spAutoFit/>
          </a:bodyPr>
          <a:lstStyle/>
          <a:p>
            <a:pPr marL="133350">
              <a:lnSpc>
                <a:spcPct val="90000"/>
              </a:lnSpc>
              <a:buSzPts val="2100"/>
            </a:pPr>
            <a:r>
              <a:rPr lang="en-US" sz="2000" dirty="0">
                <a:latin typeface="Calibri"/>
                <a:ea typeface="Calibri"/>
                <a:cs typeface="Calibri"/>
                <a:sym typeface="Calibri"/>
              </a:rPr>
              <a:t>After the transformation and cleaning, the final dataset has 31 columns with 7032 rows. </a:t>
            </a:r>
          </a:p>
        </p:txBody>
      </p:sp>
    </p:spTree>
    <p:extLst>
      <p:ext uri="{BB962C8B-B14F-4D97-AF65-F5344CB8AC3E}">
        <p14:creationId xmlns:p14="http://schemas.microsoft.com/office/powerpoint/2010/main" val="2024343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71C434B-C169-7AE7-6C92-DE7A9D63BD65}"/>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F83B0704-1788-0BB9-DE51-9BC1518211D2}"/>
              </a:ext>
            </a:extLst>
          </p:cNvPr>
          <p:cNvSpPr txBox="1">
            <a:spLocks noGrp="1"/>
          </p:cNvSpPr>
          <p:nvPr>
            <p:ph type="body" idx="1"/>
          </p:nvPr>
        </p:nvSpPr>
        <p:spPr>
          <a:xfrm>
            <a:off x="5383763" y="1726162"/>
            <a:ext cx="6428792" cy="4217438"/>
          </a:xfrm>
          <a:prstGeom prst="rect">
            <a:avLst/>
          </a:prstGeom>
          <a:noFill/>
          <a:ln>
            <a:noFill/>
          </a:ln>
        </p:spPr>
        <p:txBody>
          <a:bodyPr spcFirstLastPara="1" wrap="square" lIns="91425" tIns="45700" rIns="91425" bIns="45700" anchor="t" anchorCtr="0">
            <a:normAutofit fontScale="92500"/>
          </a:bodyPr>
          <a:lstStyle/>
          <a:p>
            <a:pPr>
              <a:lnSpc>
                <a:spcPct val="150000"/>
              </a:lnSpc>
              <a:buClr>
                <a:srgbClr val="000000"/>
              </a:buClr>
            </a:pPr>
            <a:r>
              <a:rPr lang="en-US" sz="1800" dirty="0">
                <a:solidFill>
                  <a:srgbClr val="000000"/>
                </a:solidFill>
              </a:rPr>
              <a:t>Positive (higher the value = higher the churn likelihood)</a:t>
            </a:r>
          </a:p>
          <a:p>
            <a:pPr lvl="1">
              <a:lnSpc>
                <a:spcPct val="150000"/>
              </a:lnSpc>
              <a:buClr>
                <a:srgbClr val="000000"/>
              </a:buClr>
            </a:pPr>
            <a:r>
              <a:rPr lang="en-US" sz="1800" dirty="0">
                <a:solidFill>
                  <a:srgbClr val="000000"/>
                </a:solidFill>
              </a:rPr>
              <a:t>Customer who use fiber optic internet is more likely to churn.</a:t>
            </a:r>
          </a:p>
          <a:p>
            <a:pPr lvl="1">
              <a:lnSpc>
                <a:spcPct val="150000"/>
              </a:lnSpc>
              <a:buClr>
                <a:srgbClr val="000000"/>
              </a:buClr>
            </a:pPr>
            <a:r>
              <a:rPr lang="en-US" sz="1800" dirty="0">
                <a:solidFill>
                  <a:srgbClr val="000000"/>
                </a:solidFill>
              </a:rPr>
              <a:t>Customers who pay electronically also churn more compared to those who mail checks or use credit card.</a:t>
            </a:r>
          </a:p>
          <a:p>
            <a:pPr>
              <a:lnSpc>
                <a:spcPct val="150000"/>
              </a:lnSpc>
              <a:buClr>
                <a:srgbClr val="000000"/>
              </a:buClr>
            </a:pPr>
            <a:r>
              <a:rPr lang="en-US" sz="1800" dirty="0">
                <a:solidFill>
                  <a:srgbClr val="000000"/>
                </a:solidFill>
              </a:rPr>
              <a:t>Negative (higher the value = lower the churn probability)</a:t>
            </a:r>
          </a:p>
          <a:p>
            <a:pPr lvl="1">
              <a:lnSpc>
                <a:spcPct val="150000"/>
              </a:lnSpc>
              <a:buClr>
                <a:srgbClr val="000000"/>
              </a:buClr>
            </a:pPr>
            <a:r>
              <a:rPr lang="en-US" sz="1800" dirty="0">
                <a:solidFill>
                  <a:srgbClr val="000000"/>
                </a:solidFill>
              </a:rPr>
              <a:t>Customers who stay longer are less likely to churn.</a:t>
            </a:r>
          </a:p>
          <a:p>
            <a:pPr lvl="1">
              <a:lnSpc>
                <a:spcPct val="150000"/>
              </a:lnSpc>
              <a:buClr>
                <a:srgbClr val="000000"/>
              </a:buClr>
            </a:pPr>
            <a:r>
              <a:rPr lang="en-US" sz="1800" dirty="0">
                <a:solidFill>
                  <a:srgbClr val="000000"/>
                </a:solidFill>
              </a:rPr>
              <a:t>Customers who have 2-year contract are also less likely to churn compared to those who contracted for 1 year only.</a:t>
            </a:r>
          </a:p>
          <a:p>
            <a:pPr marL="133350" indent="0">
              <a:lnSpc>
                <a:spcPct val="150000"/>
              </a:lnSpc>
              <a:spcBef>
                <a:spcPts val="0"/>
              </a:spcBef>
              <a:buSzPts val="2100"/>
              <a:buNone/>
            </a:pPr>
            <a:endParaRPr lang="en-US" sz="1800" dirty="0">
              <a:solidFill>
                <a:srgbClr val="000000"/>
              </a:solidFill>
            </a:endParaRPr>
          </a:p>
        </p:txBody>
      </p:sp>
      <p:sp>
        <p:nvSpPr>
          <p:cNvPr id="97" name="Google Shape;97;p7">
            <a:extLst>
              <a:ext uri="{FF2B5EF4-FFF2-40B4-BE49-F238E27FC236}">
                <a16:creationId xmlns:a16="http://schemas.microsoft.com/office/drawing/2014/main" id="{43020209-81C1-A326-AF7A-E4F040CBAB8D}"/>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Dataset Visualization</a:t>
            </a:r>
            <a:endParaRPr dirty="0"/>
          </a:p>
        </p:txBody>
      </p:sp>
      <p:pic>
        <p:nvPicPr>
          <p:cNvPr id="3" name="Picture 2">
            <a:extLst>
              <a:ext uri="{FF2B5EF4-FFF2-40B4-BE49-F238E27FC236}">
                <a16:creationId xmlns:a16="http://schemas.microsoft.com/office/drawing/2014/main" id="{856C206C-BC31-FDB8-CE2F-5A55A5AD8A10}"/>
              </a:ext>
            </a:extLst>
          </p:cNvPr>
          <p:cNvPicPr>
            <a:picLocks noChangeAspect="1"/>
          </p:cNvPicPr>
          <p:nvPr/>
        </p:nvPicPr>
        <p:blipFill>
          <a:blip r:embed="rId3"/>
          <a:stretch>
            <a:fillRect/>
          </a:stretch>
        </p:blipFill>
        <p:spPr>
          <a:xfrm>
            <a:off x="717365" y="1586204"/>
            <a:ext cx="4069239" cy="5131046"/>
          </a:xfrm>
          <a:prstGeom prst="rect">
            <a:avLst/>
          </a:prstGeom>
        </p:spPr>
      </p:pic>
    </p:spTree>
    <p:extLst>
      <p:ext uri="{BB962C8B-B14F-4D97-AF65-F5344CB8AC3E}">
        <p14:creationId xmlns:p14="http://schemas.microsoft.com/office/powerpoint/2010/main" val="3279804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E46CF19-62A2-AEC3-FE7F-6D34443D002B}"/>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95D219DD-FBDE-66E7-ECE8-FB875C16BB16}"/>
              </a:ext>
            </a:extLst>
          </p:cNvPr>
          <p:cNvSpPr txBox="1">
            <a:spLocks noGrp="1"/>
          </p:cNvSpPr>
          <p:nvPr>
            <p:ph type="body" idx="1"/>
          </p:nvPr>
        </p:nvSpPr>
        <p:spPr>
          <a:xfrm>
            <a:off x="838200" y="1828799"/>
            <a:ext cx="6411686" cy="4898571"/>
          </a:xfrm>
          <a:prstGeom prst="rect">
            <a:avLst/>
          </a:prstGeom>
          <a:noFill/>
          <a:ln>
            <a:noFill/>
          </a:ln>
        </p:spPr>
        <p:txBody>
          <a:bodyPr spcFirstLastPara="1" wrap="square" lIns="91425" tIns="45700" rIns="91425" bIns="45700" anchor="t" anchorCtr="0">
            <a:normAutofit fontScale="92500" lnSpcReduction="10000"/>
          </a:bodyPr>
          <a:lstStyle/>
          <a:p>
            <a:pPr>
              <a:lnSpc>
                <a:spcPct val="150000"/>
              </a:lnSpc>
              <a:buClr>
                <a:srgbClr val="000000"/>
              </a:buClr>
              <a:buSzPct val="100000"/>
              <a:buFont typeface="Arial" panose="020B0604020202020204" pitchFamily="34" charset="0"/>
              <a:buChar char="•"/>
            </a:pPr>
            <a:r>
              <a:rPr lang="en-US" sz="2000" dirty="0">
                <a:solidFill>
                  <a:srgbClr val="000000"/>
                </a:solidFill>
              </a:rPr>
              <a:t>VIF - Variance Inflation Vector quantify the extent of correlation between a predictor to other predictors in a model. In other words, it measures multicollinearity problem.</a:t>
            </a:r>
          </a:p>
          <a:p>
            <a:pPr>
              <a:lnSpc>
                <a:spcPct val="160000"/>
              </a:lnSpc>
              <a:buClr>
                <a:srgbClr val="000000"/>
              </a:buClr>
              <a:buSzPct val="100000"/>
              <a:buFont typeface="Arial" panose="020B0604020202020204" pitchFamily="34" charset="0"/>
              <a:buChar char="•"/>
            </a:pPr>
            <a:r>
              <a:rPr lang="en-US" sz="2000" dirty="0">
                <a:solidFill>
                  <a:srgbClr val="000000"/>
                </a:solidFill>
              </a:rPr>
              <a:t>VIF ranges from 1 to infinite, which 1 indicates no collinearity, and infinitive indicates perfect collinearity. In case of VIF &gt; 5 to inf, predictor(s) need to be removed.</a:t>
            </a:r>
          </a:p>
          <a:p>
            <a:pPr>
              <a:lnSpc>
                <a:spcPct val="160000"/>
              </a:lnSpc>
              <a:buClr>
                <a:srgbClr val="000000"/>
              </a:buClr>
              <a:buSzPct val="100000"/>
              <a:buFont typeface="Arial" panose="020B0604020202020204" pitchFamily="34" charset="0"/>
              <a:buChar char="•"/>
            </a:pPr>
            <a:r>
              <a:rPr lang="en-US" sz="2100" dirty="0">
                <a:solidFill>
                  <a:srgbClr val="000000"/>
                </a:solidFill>
              </a:rPr>
              <a:t>Due to multicollinearity, we decided to go with tree-based models as tree-based models handle multicollinearity better than regression models. </a:t>
            </a:r>
          </a:p>
        </p:txBody>
      </p:sp>
      <p:sp>
        <p:nvSpPr>
          <p:cNvPr id="97" name="Google Shape;97;p7">
            <a:extLst>
              <a:ext uri="{FF2B5EF4-FFF2-40B4-BE49-F238E27FC236}">
                <a16:creationId xmlns:a16="http://schemas.microsoft.com/office/drawing/2014/main" id="{FA2C7981-F6F6-65C8-FF62-D2C559BD6F67}"/>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Multicollinearity Analysis (VIF)</a:t>
            </a:r>
            <a:endParaRPr dirty="0"/>
          </a:p>
        </p:txBody>
      </p:sp>
      <p:pic>
        <p:nvPicPr>
          <p:cNvPr id="3" name="Picture 2">
            <a:extLst>
              <a:ext uri="{FF2B5EF4-FFF2-40B4-BE49-F238E27FC236}">
                <a16:creationId xmlns:a16="http://schemas.microsoft.com/office/drawing/2014/main" id="{13C163EA-B84D-1A49-3B01-2746BE00CEFA}"/>
              </a:ext>
            </a:extLst>
          </p:cNvPr>
          <p:cNvPicPr>
            <a:picLocks noChangeAspect="1"/>
          </p:cNvPicPr>
          <p:nvPr/>
        </p:nvPicPr>
        <p:blipFill>
          <a:blip r:embed="rId3"/>
          <a:stretch>
            <a:fillRect/>
          </a:stretch>
        </p:blipFill>
        <p:spPr>
          <a:xfrm>
            <a:off x="7727975" y="1828799"/>
            <a:ext cx="4381416" cy="4096140"/>
          </a:xfrm>
          <a:prstGeom prst="rect">
            <a:avLst/>
          </a:prstGeom>
        </p:spPr>
      </p:pic>
    </p:spTree>
    <p:extLst>
      <p:ext uri="{BB962C8B-B14F-4D97-AF65-F5344CB8AC3E}">
        <p14:creationId xmlns:p14="http://schemas.microsoft.com/office/powerpoint/2010/main" val="283420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6F7301D-C962-29E6-5507-F2754EF8EC48}"/>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E9F0994C-C424-A3E5-9BC2-03F0A2BDEB96}"/>
              </a:ext>
            </a:extLst>
          </p:cNvPr>
          <p:cNvSpPr txBox="1">
            <a:spLocks noGrp="1"/>
          </p:cNvSpPr>
          <p:nvPr>
            <p:ph type="body" idx="1"/>
          </p:nvPr>
        </p:nvSpPr>
        <p:spPr>
          <a:xfrm>
            <a:off x="838200" y="4814596"/>
            <a:ext cx="7675563" cy="1514389"/>
          </a:xfrm>
          <a:prstGeom prst="rect">
            <a:avLst/>
          </a:prstGeom>
          <a:noFill/>
          <a:ln>
            <a:noFill/>
          </a:ln>
        </p:spPr>
        <p:txBody>
          <a:bodyPr spcFirstLastPara="1" wrap="square" lIns="91425" tIns="45700" rIns="91425" bIns="45700" anchor="t" anchorCtr="0">
            <a:normAutofit/>
          </a:bodyPr>
          <a:lstStyle/>
          <a:p>
            <a:pPr marL="590550" indent="-457200">
              <a:lnSpc>
                <a:spcPct val="90000"/>
              </a:lnSpc>
              <a:spcBef>
                <a:spcPts val="0"/>
              </a:spcBef>
              <a:buSzPts val="2100"/>
            </a:pPr>
            <a:r>
              <a:rPr lang="en-US" dirty="0">
                <a:solidFill>
                  <a:srgbClr val="000000"/>
                </a:solidFill>
              </a:rPr>
              <a:t>Train – test – split with 80% reserved for training, and 20% reserved for testing</a:t>
            </a:r>
          </a:p>
          <a:p>
            <a:pPr marL="590550" indent="-457200">
              <a:lnSpc>
                <a:spcPct val="90000"/>
              </a:lnSpc>
              <a:spcBef>
                <a:spcPts val="0"/>
              </a:spcBef>
              <a:buSzPts val="2100"/>
            </a:pPr>
            <a:r>
              <a:rPr lang="en-US" dirty="0">
                <a:solidFill>
                  <a:srgbClr val="000000"/>
                </a:solidFill>
              </a:rPr>
              <a:t>Random state ensures reproducibility. </a:t>
            </a:r>
          </a:p>
          <a:p>
            <a:pPr marL="133350" indent="0">
              <a:lnSpc>
                <a:spcPct val="90000"/>
              </a:lnSpc>
              <a:spcBef>
                <a:spcPts val="0"/>
              </a:spcBef>
              <a:buSzPts val="2100"/>
              <a:buNone/>
            </a:pPr>
            <a:endParaRPr lang="en-US" dirty="0">
              <a:solidFill>
                <a:srgbClr val="000000"/>
              </a:solidFill>
            </a:endParaRPr>
          </a:p>
          <a:p>
            <a:pPr marL="133350" indent="0">
              <a:lnSpc>
                <a:spcPct val="90000"/>
              </a:lnSpc>
              <a:spcBef>
                <a:spcPts val="0"/>
              </a:spcBef>
              <a:buSzPts val="2100"/>
              <a:buNone/>
            </a:pPr>
            <a:endParaRPr lang="en-US" dirty="0">
              <a:solidFill>
                <a:srgbClr val="000000"/>
              </a:solidFill>
            </a:endParaRPr>
          </a:p>
        </p:txBody>
      </p:sp>
      <p:sp>
        <p:nvSpPr>
          <p:cNvPr id="97" name="Google Shape;97;p7">
            <a:extLst>
              <a:ext uri="{FF2B5EF4-FFF2-40B4-BE49-F238E27FC236}">
                <a16:creationId xmlns:a16="http://schemas.microsoft.com/office/drawing/2014/main" id="{0ECDD2A7-67DF-B22F-9993-B707F5420D39}"/>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Train/Test Split</a:t>
            </a:r>
            <a:endParaRPr dirty="0"/>
          </a:p>
        </p:txBody>
      </p:sp>
      <p:pic>
        <p:nvPicPr>
          <p:cNvPr id="3" name="Picture 2">
            <a:extLst>
              <a:ext uri="{FF2B5EF4-FFF2-40B4-BE49-F238E27FC236}">
                <a16:creationId xmlns:a16="http://schemas.microsoft.com/office/drawing/2014/main" id="{71D921E7-4C8B-141D-8969-1AC90B23BFC2}"/>
              </a:ext>
            </a:extLst>
          </p:cNvPr>
          <p:cNvPicPr>
            <a:picLocks noChangeAspect="1"/>
          </p:cNvPicPr>
          <p:nvPr/>
        </p:nvPicPr>
        <p:blipFill>
          <a:blip r:embed="rId3"/>
          <a:stretch>
            <a:fillRect/>
          </a:stretch>
        </p:blipFill>
        <p:spPr>
          <a:xfrm>
            <a:off x="838200" y="1940767"/>
            <a:ext cx="7675563" cy="2438120"/>
          </a:xfrm>
          <a:prstGeom prst="rect">
            <a:avLst/>
          </a:prstGeom>
        </p:spPr>
      </p:pic>
      <p:sp>
        <p:nvSpPr>
          <p:cNvPr id="4" name="Google Shape;96;p7">
            <a:extLst>
              <a:ext uri="{FF2B5EF4-FFF2-40B4-BE49-F238E27FC236}">
                <a16:creationId xmlns:a16="http://schemas.microsoft.com/office/drawing/2014/main" id="{11073C42-174E-B100-6D6B-754BF2C584A4}"/>
              </a:ext>
            </a:extLst>
          </p:cNvPr>
          <p:cNvSpPr txBox="1">
            <a:spLocks/>
          </p:cNvSpPr>
          <p:nvPr/>
        </p:nvSpPr>
        <p:spPr>
          <a:xfrm>
            <a:off x="8798767" y="1940767"/>
            <a:ext cx="2976465" cy="3259214"/>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14325" algn="l" rtl="0">
              <a:lnSpc>
                <a:spcPct val="100000"/>
              </a:lnSpc>
              <a:spcBef>
                <a:spcPts val="1000"/>
              </a:spcBef>
              <a:spcAft>
                <a:spcPts val="0"/>
              </a:spcAft>
              <a:buClr>
                <a:srgbClr val="006633"/>
              </a:buClr>
              <a:buSzPts val="1350"/>
              <a:buFont typeface="Arial"/>
              <a:buChar char="•"/>
              <a:defRPr sz="2800" b="0" i="0" u="none" strike="noStrike" cap="none">
                <a:solidFill>
                  <a:schemeClr val="dk1"/>
                </a:solidFill>
                <a:latin typeface="Calibri"/>
                <a:ea typeface="Calibri"/>
                <a:cs typeface="Calibri"/>
                <a:sym typeface="Calibri"/>
              </a:defRPr>
            </a:lvl1pPr>
            <a:lvl2pPr marL="914400" marR="0" lvl="1" indent="-314325" algn="l" rtl="0">
              <a:lnSpc>
                <a:spcPct val="90000"/>
              </a:lnSpc>
              <a:spcBef>
                <a:spcPts val="500"/>
              </a:spcBef>
              <a:spcAft>
                <a:spcPts val="0"/>
              </a:spcAft>
              <a:buClr>
                <a:srgbClr val="006633"/>
              </a:buClr>
              <a:buSzPts val="1350"/>
              <a:buFont typeface="Arial"/>
              <a:buChar char="•"/>
              <a:defRPr sz="2400" b="0" i="0" u="none" strike="noStrike" cap="none">
                <a:solidFill>
                  <a:schemeClr val="dk1"/>
                </a:solidFill>
                <a:latin typeface="Calibri"/>
                <a:ea typeface="Calibri"/>
                <a:cs typeface="Calibri"/>
                <a:sym typeface="Calibri"/>
              </a:defRPr>
            </a:lvl2pPr>
            <a:lvl3pPr marL="1371600" marR="0" lvl="2" indent="-314325" algn="l" rtl="0">
              <a:lnSpc>
                <a:spcPct val="90000"/>
              </a:lnSpc>
              <a:spcBef>
                <a:spcPts val="500"/>
              </a:spcBef>
              <a:spcAft>
                <a:spcPts val="0"/>
              </a:spcAft>
              <a:buClr>
                <a:srgbClr val="006633"/>
              </a:buClr>
              <a:buSzPts val="1350"/>
              <a:buFont typeface="Arial"/>
              <a:buChar char="•"/>
              <a:defRPr sz="20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76250" indent="-342900">
              <a:lnSpc>
                <a:spcPct val="90000"/>
              </a:lnSpc>
              <a:spcBef>
                <a:spcPts val="0"/>
              </a:spcBef>
              <a:buClr>
                <a:srgbClr val="000000"/>
              </a:buClr>
              <a:buSzPts val="2100"/>
            </a:pPr>
            <a:r>
              <a:rPr lang="en-US" dirty="0">
                <a:solidFill>
                  <a:srgbClr val="000000"/>
                </a:solidFill>
              </a:rPr>
              <a:t>X is independent variable, including all features except for “Churn”</a:t>
            </a:r>
          </a:p>
          <a:p>
            <a:pPr marL="133350" indent="0">
              <a:lnSpc>
                <a:spcPct val="90000"/>
              </a:lnSpc>
              <a:spcBef>
                <a:spcPts val="0"/>
              </a:spcBef>
              <a:buClr>
                <a:srgbClr val="000000"/>
              </a:buClr>
              <a:buSzPts val="2100"/>
              <a:buNone/>
            </a:pPr>
            <a:endParaRPr lang="en-US" dirty="0">
              <a:solidFill>
                <a:srgbClr val="000000"/>
              </a:solidFill>
            </a:endParaRPr>
          </a:p>
          <a:p>
            <a:pPr marL="476250" indent="-342900">
              <a:lnSpc>
                <a:spcPct val="90000"/>
              </a:lnSpc>
              <a:spcBef>
                <a:spcPts val="0"/>
              </a:spcBef>
              <a:buClr>
                <a:srgbClr val="000000"/>
              </a:buClr>
              <a:buSzPts val="2100"/>
            </a:pPr>
            <a:r>
              <a:rPr lang="en-US" dirty="0">
                <a:solidFill>
                  <a:srgbClr val="000000"/>
                </a:solidFill>
              </a:rPr>
              <a:t>y is the dependent factor, or the target variable, which is </a:t>
            </a:r>
            <a:r>
              <a:rPr lang="en-US">
                <a:solidFill>
                  <a:srgbClr val="000000"/>
                </a:solidFill>
              </a:rPr>
              <a:t>“Churn”</a:t>
            </a:r>
            <a:endParaRPr lang="en-US" dirty="0">
              <a:solidFill>
                <a:srgbClr val="000000"/>
              </a:solidFill>
            </a:endParaRPr>
          </a:p>
        </p:txBody>
      </p:sp>
    </p:spTree>
    <p:extLst>
      <p:ext uri="{BB962C8B-B14F-4D97-AF65-F5344CB8AC3E}">
        <p14:creationId xmlns:p14="http://schemas.microsoft.com/office/powerpoint/2010/main" val="4095634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29ABF07-67D2-04BF-6145-5A0E410314DE}"/>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A87696EE-E8C3-8890-0695-A7FCE62ECA0E}"/>
              </a:ext>
            </a:extLst>
          </p:cNvPr>
          <p:cNvSpPr txBox="1">
            <a:spLocks noGrp="1"/>
          </p:cNvSpPr>
          <p:nvPr>
            <p:ph type="body" idx="1"/>
          </p:nvPr>
        </p:nvSpPr>
        <p:spPr>
          <a:xfrm>
            <a:off x="8593494" y="1799469"/>
            <a:ext cx="3128134" cy="4078817"/>
          </a:xfrm>
          <a:prstGeom prst="rect">
            <a:avLst/>
          </a:prstGeom>
          <a:noFill/>
          <a:ln>
            <a:noFill/>
          </a:ln>
        </p:spPr>
        <p:txBody>
          <a:bodyPr spcFirstLastPara="1" wrap="square" lIns="91425" tIns="45700" rIns="91425" bIns="45700" anchor="t" anchorCtr="0">
            <a:normAutofit lnSpcReduction="10000"/>
          </a:bodyPr>
          <a:lstStyle/>
          <a:p>
            <a:pPr marL="476250" indent="-342900">
              <a:lnSpc>
                <a:spcPct val="150000"/>
              </a:lnSpc>
              <a:spcBef>
                <a:spcPts val="0"/>
              </a:spcBef>
              <a:buClr>
                <a:srgbClr val="000000"/>
              </a:buClr>
              <a:buSzPts val="2100"/>
              <a:buFont typeface="Arial" panose="020B0604020202020204" pitchFamily="34" charset="0"/>
              <a:buChar char="•"/>
            </a:pPr>
            <a:r>
              <a:rPr lang="en-US" sz="1400" dirty="0">
                <a:solidFill>
                  <a:srgbClr val="000000"/>
                </a:solidFill>
              </a:rPr>
              <a:t>The model was built using 500 decision trees to reduce variance.</a:t>
            </a:r>
          </a:p>
          <a:p>
            <a:pPr marL="476250" indent="-342900">
              <a:lnSpc>
                <a:spcPct val="150000"/>
              </a:lnSpc>
              <a:spcBef>
                <a:spcPts val="0"/>
              </a:spcBef>
              <a:buClr>
                <a:srgbClr val="000000"/>
              </a:buClr>
              <a:buSzPts val="2100"/>
              <a:buFont typeface="Arial" panose="020B0604020202020204" pitchFamily="34" charset="0"/>
              <a:buChar char="•"/>
            </a:pPr>
            <a:r>
              <a:rPr lang="en-US" sz="1400" dirty="0">
                <a:solidFill>
                  <a:srgbClr val="000000"/>
                </a:solidFill>
              </a:rPr>
              <a:t>Since the data is imbalanced (more non-churn than churn), we applied ‘balanced’ class weights. </a:t>
            </a:r>
            <a:endParaRPr lang="en-US" altLang="en-US" sz="1400" dirty="0">
              <a:solidFill>
                <a:schemeClr val="tx1"/>
              </a:solidFill>
              <a:latin typeface="Arial" panose="020B0604020202020204" pitchFamily="34" charset="0"/>
            </a:endParaRPr>
          </a:p>
          <a:p>
            <a:pPr marL="476250" lvl="0" indent="-342900" eaLnBrk="0" fontAlgn="base" hangingPunct="0">
              <a:lnSpc>
                <a:spcPct val="150000"/>
              </a:lnSpc>
              <a:spcBef>
                <a:spcPts val="0"/>
              </a:spcBef>
              <a:buClr>
                <a:srgbClr val="000000"/>
              </a:buClr>
              <a:buSzPts val="2100"/>
              <a:buFont typeface="Arial" panose="020B0604020202020204" pitchFamily="34" charset="0"/>
              <a:buChar char="•"/>
            </a:pPr>
            <a:r>
              <a:rPr lang="en-US" altLang="en-US" sz="1400" dirty="0">
                <a:solidFill>
                  <a:srgbClr val="000000"/>
                </a:solidFill>
              </a:rPr>
              <a:t>The model outputs churn probabilities using </a:t>
            </a:r>
            <a:r>
              <a:rPr lang="en-US" altLang="en-US" sz="1400" dirty="0" err="1">
                <a:solidFill>
                  <a:srgbClr val="000000"/>
                </a:solidFill>
              </a:rPr>
              <a:t>predict_proba</a:t>
            </a:r>
            <a:r>
              <a:rPr lang="en-US" altLang="en-US" sz="1400" dirty="0">
                <a:solidFill>
                  <a:srgbClr val="000000"/>
                </a:solidFill>
              </a:rPr>
              <a:t>(). </a:t>
            </a:r>
          </a:p>
          <a:p>
            <a:pPr marL="476250" lvl="0" indent="-342900" eaLnBrk="0" fontAlgn="base" hangingPunct="0">
              <a:lnSpc>
                <a:spcPct val="150000"/>
              </a:lnSpc>
              <a:spcBef>
                <a:spcPts val="0"/>
              </a:spcBef>
              <a:buClr>
                <a:srgbClr val="000000"/>
              </a:buClr>
              <a:buSzPts val="2100"/>
              <a:buFont typeface="Arial" panose="020B0604020202020204" pitchFamily="34" charset="0"/>
              <a:buChar char="•"/>
            </a:pPr>
            <a:r>
              <a:rPr lang="en-US" altLang="en-US" sz="1400" dirty="0">
                <a:solidFill>
                  <a:srgbClr val="000000"/>
                </a:solidFill>
              </a:rPr>
              <a:t>To better capture churners, we adjusted the decision threshold from the default 0.5 to 0.3, which increases recall by predicting churn more aggressively. </a:t>
            </a:r>
          </a:p>
          <a:p>
            <a:pPr marL="476250" indent="-342900">
              <a:lnSpc>
                <a:spcPct val="90000"/>
              </a:lnSpc>
              <a:spcBef>
                <a:spcPts val="0"/>
              </a:spcBef>
              <a:buClr>
                <a:srgbClr val="000000"/>
              </a:buClr>
              <a:buSzPts val="2100"/>
              <a:buFont typeface="Arial" panose="020B0604020202020204" pitchFamily="34" charset="0"/>
              <a:buChar char="•"/>
            </a:pPr>
            <a:endParaRPr lang="en-US" sz="1400" dirty="0">
              <a:solidFill>
                <a:srgbClr val="000000"/>
              </a:solidFill>
            </a:endParaRPr>
          </a:p>
        </p:txBody>
      </p:sp>
      <p:sp>
        <p:nvSpPr>
          <p:cNvPr id="97" name="Google Shape;97;p7">
            <a:extLst>
              <a:ext uri="{FF2B5EF4-FFF2-40B4-BE49-F238E27FC236}">
                <a16:creationId xmlns:a16="http://schemas.microsoft.com/office/drawing/2014/main" id="{C018BC81-6E33-DB97-0FE4-0F37056005C9}"/>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6633"/>
              </a:buClr>
              <a:buSzPts val="4400"/>
              <a:buFont typeface="Calibri"/>
              <a:buNone/>
            </a:pPr>
            <a:r>
              <a:rPr lang="en-US" sz="4000" dirty="0"/>
              <a:t>Models Development – Random Forest Classifier</a:t>
            </a:r>
            <a:br>
              <a:rPr lang="en-US" sz="4000" dirty="0"/>
            </a:br>
            <a:r>
              <a:rPr lang="en-US" sz="4000" dirty="0"/>
              <a:t>Baseline Tree model</a:t>
            </a:r>
            <a:endParaRPr sz="4000" dirty="0"/>
          </a:p>
        </p:txBody>
      </p:sp>
      <p:pic>
        <p:nvPicPr>
          <p:cNvPr id="3" name="Picture 2">
            <a:extLst>
              <a:ext uri="{FF2B5EF4-FFF2-40B4-BE49-F238E27FC236}">
                <a16:creationId xmlns:a16="http://schemas.microsoft.com/office/drawing/2014/main" id="{04FB4312-10EA-08CF-A221-5AC9B568D08D}"/>
              </a:ext>
            </a:extLst>
          </p:cNvPr>
          <p:cNvPicPr>
            <a:picLocks noChangeAspect="1"/>
          </p:cNvPicPr>
          <p:nvPr/>
        </p:nvPicPr>
        <p:blipFill>
          <a:blip r:embed="rId3"/>
          <a:stretch>
            <a:fillRect/>
          </a:stretch>
        </p:blipFill>
        <p:spPr>
          <a:xfrm>
            <a:off x="470372" y="1799468"/>
            <a:ext cx="7962436" cy="4629323"/>
          </a:xfrm>
          <a:prstGeom prst="rect">
            <a:avLst/>
          </a:prstGeom>
        </p:spPr>
      </p:pic>
    </p:spTree>
    <p:extLst>
      <p:ext uri="{BB962C8B-B14F-4D97-AF65-F5344CB8AC3E}">
        <p14:creationId xmlns:p14="http://schemas.microsoft.com/office/powerpoint/2010/main" val="3355173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87DB74F-9BF0-FBF9-9263-B18ACB0820E9}"/>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84895E27-06B9-2661-6445-C2D8EA743E30}"/>
              </a:ext>
            </a:extLst>
          </p:cNvPr>
          <p:cNvSpPr txBox="1">
            <a:spLocks noGrp="1"/>
          </p:cNvSpPr>
          <p:nvPr>
            <p:ph type="body" idx="1"/>
          </p:nvPr>
        </p:nvSpPr>
        <p:spPr>
          <a:xfrm>
            <a:off x="6606074" y="1830102"/>
            <a:ext cx="4747726" cy="4117222"/>
          </a:xfrm>
          <a:prstGeom prst="rect">
            <a:avLst/>
          </a:prstGeom>
          <a:noFill/>
          <a:ln>
            <a:noFill/>
          </a:ln>
        </p:spPr>
        <p:txBody>
          <a:bodyPr spcFirstLastPara="1" wrap="square" lIns="91425" tIns="45700" rIns="91425" bIns="45700" anchor="t" anchorCtr="0">
            <a:normAutofit fontScale="92500"/>
          </a:bodyPr>
          <a:lstStyle/>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The XGBOOST model was trained on 500 decision trees to reduce prediction error.</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We use </a:t>
            </a:r>
            <a:r>
              <a:rPr lang="en-US" sz="1600" dirty="0" err="1">
                <a:solidFill>
                  <a:srgbClr val="000000"/>
                </a:solidFill>
              </a:rPr>
              <a:t>scale_pos_weight</a:t>
            </a:r>
            <a:r>
              <a:rPr lang="en-US" sz="1600" dirty="0">
                <a:solidFill>
                  <a:srgbClr val="000000"/>
                </a:solidFill>
              </a:rPr>
              <a:t> to handle class imbalance.</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A learning rate of 0.05 determines how each trees contribute to the final decision, which helps reduce overfitting. </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The model was optimized using ‘</a:t>
            </a:r>
            <a:r>
              <a:rPr lang="en-US" sz="1600" dirty="0" err="1">
                <a:solidFill>
                  <a:srgbClr val="000000"/>
                </a:solidFill>
              </a:rPr>
              <a:t>logloss</a:t>
            </a:r>
            <a:r>
              <a:rPr lang="en-US" sz="1600" dirty="0">
                <a:solidFill>
                  <a:srgbClr val="000000"/>
                </a:solidFill>
              </a:rPr>
              <a:t>’, which evaluate probability prediction quality</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Predicted probabilities were converted to churn label using threshold of 0.3 to aggressively capture churn. </a:t>
            </a:r>
          </a:p>
        </p:txBody>
      </p:sp>
      <p:sp>
        <p:nvSpPr>
          <p:cNvPr id="97" name="Google Shape;97;p7">
            <a:extLst>
              <a:ext uri="{FF2B5EF4-FFF2-40B4-BE49-F238E27FC236}">
                <a16:creationId xmlns:a16="http://schemas.microsoft.com/office/drawing/2014/main" id="{5790211D-5EEA-6255-BE31-F896E2876827}"/>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sz="4000" dirty="0"/>
              <a:t>Models Development – XGBOOST Classifier</a:t>
            </a:r>
            <a:endParaRPr sz="4000" dirty="0"/>
          </a:p>
        </p:txBody>
      </p:sp>
      <p:pic>
        <p:nvPicPr>
          <p:cNvPr id="3" name="Picture 2">
            <a:extLst>
              <a:ext uri="{FF2B5EF4-FFF2-40B4-BE49-F238E27FC236}">
                <a16:creationId xmlns:a16="http://schemas.microsoft.com/office/drawing/2014/main" id="{3800D490-1BE4-8E30-E0EF-93AF1E28DBA2}"/>
              </a:ext>
            </a:extLst>
          </p:cNvPr>
          <p:cNvPicPr>
            <a:picLocks noChangeAspect="1"/>
          </p:cNvPicPr>
          <p:nvPr/>
        </p:nvPicPr>
        <p:blipFill>
          <a:blip r:embed="rId3"/>
          <a:stretch>
            <a:fillRect/>
          </a:stretch>
        </p:blipFill>
        <p:spPr>
          <a:xfrm>
            <a:off x="412953" y="1830102"/>
            <a:ext cx="5782573" cy="4541188"/>
          </a:xfrm>
          <a:prstGeom prst="rect">
            <a:avLst/>
          </a:prstGeom>
        </p:spPr>
      </p:pic>
    </p:spTree>
    <p:extLst>
      <p:ext uri="{BB962C8B-B14F-4D97-AF65-F5344CB8AC3E}">
        <p14:creationId xmlns:p14="http://schemas.microsoft.com/office/powerpoint/2010/main" val="789851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16D56A4-10B8-983D-733F-8D882AD046AB}"/>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6999B294-2A12-7D0C-C1AE-27D81F40A2C6}"/>
              </a:ext>
            </a:extLst>
          </p:cNvPr>
          <p:cNvSpPr txBox="1">
            <a:spLocks noGrp="1"/>
          </p:cNvSpPr>
          <p:nvPr>
            <p:ph type="body" idx="1"/>
          </p:nvPr>
        </p:nvSpPr>
        <p:spPr>
          <a:xfrm>
            <a:off x="838198" y="2008493"/>
            <a:ext cx="4666861" cy="734008"/>
          </a:xfrm>
          <a:prstGeom prst="rect">
            <a:avLst/>
          </a:prstGeom>
          <a:noFill/>
          <a:ln>
            <a:noFill/>
          </a:ln>
        </p:spPr>
        <p:txBody>
          <a:bodyPr spcFirstLastPara="1" wrap="square" lIns="91425" tIns="45700" rIns="91425" bIns="45700" anchor="t" anchorCtr="0">
            <a:normAutofit/>
          </a:bodyPr>
          <a:lstStyle/>
          <a:p>
            <a:pPr marL="590550" indent="-457200">
              <a:lnSpc>
                <a:spcPct val="90000"/>
              </a:lnSpc>
              <a:spcBef>
                <a:spcPts val="0"/>
              </a:spcBef>
              <a:buSzPts val="2100"/>
            </a:pPr>
            <a:r>
              <a:rPr lang="en-US" dirty="0">
                <a:solidFill>
                  <a:srgbClr val="000000"/>
                </a:solidFill>
              </a:rPr>
              <a:t>Random Forest Classifier </a:t>
            </a:r>
          </a:p>
        </p:txBody>
      </p:sp>
      <p:sp>
        <p:nvSpPr>
          <p:cNvPr id="97" name="Google Shape;97;p7">
            <a:extLst>
              <a:ext uri="{FF2B5EF4-FFF2-40B4-BE49-F238E27FC236}">
                <a16:creationId xmlns:a16="http://schemas.microsoft.com/office/drawing/2014/main" id="{173D0D8C-D770-640B-D256-FD7E599BD93A}"/>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Models Comparison</a:t>
            </a:r>
            <a:endParaRPr dirty="0"/>
          </a:p>
        </p:txBody>
      </p:sp>
      <p:pic>
        <p:nvPicPr>
          <p:cNvPr id="3" name="Picture 2">
            <a:extLst>
              <a:ext uri="{FF2B5EF4-FFF2-40B4-BE49-F238E27FC236}">
                <a16:creationId xmlns:a16="http://schemas.microsoft.com/office/drawing/2014/main" id="{D327C488-A455-C8B0-044F-095A5D22A597}"/>
              </a:ext>
            </a:extLst>
          </p:cNvPr>
          <p:cNvPicPr>
            <a:picLocks noChangeAspect="1"/>
          </p:cNvPicPr>
          <p:nvPr/>
        </p:nvPicPr>
        <p:blipFill>
          <a:blip r:embed="rId3"/>
          <a:stretch>
            <a:fillRect/>
          </a:stretch>
        </p:blipFill>
        <p:spPr>
          <a:xfrm>
            <a:off x="5703665" y="1781540"/>
            <a:ext cx="5039428" cy="1724266"/>
          </a:xfrm>
          <a:prstGeom prst="rect">
            <a:avLst/>
          </a:prstGeom>
        </p:spPr>
      </p:pic>
      <p:sp>
        <p:nvSpPr>
          <p:cNvPr id="4" name="Google Shape;96;p7">
            <a:extLst>
              <a:ext uri="{FF2B5EF4-FFF2-40B4-BE49-F238E27FC236}">
                <a16:creationId xmlns:a16="http://schemas.microsoft.com/office/drawing/2014/main" id="{1EF49C88-68FA-1B1D-65BE-E4486ABFA75F}"/>
              </a:ext>
            </a:extLst>
          </p:cNvPr>
          <p:cNvSpPr txBox="1">
            <a:spLocks/>
          </p:cNvSpPr>
          <p:nvPr/>
        </p:nvSpPr>
        <p:spPr>
          <a:xfrm>
            <a:off x="838199" y="4971576"/>
            <a:ext cx="4666861" cy="8001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14325" algn="l" rtl="0">
              <a:lnSpc>
                <a:spcPct val="100000"/>
              </a:lnSpc>
              <a:spcBef>
                <a:spcPts val="1000"/>
              </a:spcBef>
              <a:spcAft>
                <a:spcPts val="0"/>
              </a:spcAft>
              <a:buClr>
                <a:srgbClr val="006633"/>
              </a:buClr>
              <a:buSzPts val="1350"/>
              <a:buFont typeface="Arial"/>
              <a:buChar char="•"/>
              <a:defRPr sz="2800" b="0" i="0" u="none" strike="noStrike" cap="none">
                <a:solidFill>
                  <a:schemeClr val="dk1"/>
                </a:solidFill>
                <a:latin typeface="Calibri"/>
                <a:ea typeface="Calibri"/>
                <a:cs typeface="Calibri"/>
                <a:sym typeface="Calibri"/>
              </a:defRPr>
            </a:lvl1pPr>
            <a:lvl2pPr marL="914400" marR="0" lvl="1" indent="-314325" algn="l" rtl="0">
              <a:lnSpc>
                <a:spcPct val="90000"/>
              </a:lnSpc>
              <a:spcBef>
                <a:spcPts val="500"/>
              </a:spcBef>
              <a:spcAft>
                <a:spcPts val="0"/>
              </a:spcAft>
              <a:buClr>
                <a:srgbClr val="006633"/>
              </a:buClr>
              <a:buSzPts val="1350"/>
              <a:buFont typeface="Arial"/>
              <a:buChar char="•"/>
              <a:defRPr sz="2400" b="0" i="0" u="none" strike="noStrike" cap="none">
                <a:solidFill>
                  <a:schemeClr val="dk1"/>
                </a:solidFill>
                <a:latin typeface="Calibri"/>
                <a:ea typeface="Calibri"/>
                <a:cs typeface="Calibri"/>
                <a:sym typeface="Calibri"/>
              </a:defRPr>
            </a:lvl2pPr>
            <a:lvl3pPr marL="1371600" marR="0" lvl="2" indent="-314325" algn="l" rtl="0">
              <a:lnSpc>
                <a:spcPct val="90000"/>
              </a:lnSpc>
              <a:spcBef>
                <a:spcPts val="500"/>
              </a:spcBef>
              <a:spcAft>
                <a:spcPts val="0"/>
              </a:spcAft>
              <a:buClr>
                <a:srgbClr val="006633"/>
              </a:buClr>
              <a:buSzPts val="1350"/>
              <a:buFont typeface="Arial"/>
              <a:buChar char="•"/>
              <a:defRPr sz="20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500"/>
              </a:spcBef>
              <a:spcAft>
                <a:spcPts val="0"/>
              </a:spcAft>
              <a:buClr>
                <a:srgbClr val="006633"/>
              </a:buClr>
              <a:buSzPts val="135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90550" indent="-457200">
              <a:lnSpc>
                <a:spcPct val="90000"/>
              </a:lnSpc>
              <a:spcBef>
                <a:spcPts val="0"/>
              </a:spcBef>
              <a:buSzPts val="2100"/>
            </a:pPr>
            <a:r>
              <a:rPr lang="en-US" dirty="0">
                <a:solidFill>
                  <a:srgbClr val="000000"/>
                </a:solidFill>
              </a:rPr>
              <a:t>XGBOOST Classifier</a:t>
            </a:r>
          </a:p>
        </p:txBody>
      </p:sp>
      <p:pic>
        <p:nvPicPr>
          <p:cNvPr id="6" name="Picture 5">
            <a:extLst>
              <a:ext uri="{FF2B5EF4-FFF2-40B4-BE49-F238E27FC236}">
                <a16:creationId xmlns:a16="http://schemas.microsoft.com/office/drawing/2014/main" id="{C8A055A6-D29D-038F-418A-9DAAF31624B2}"/>
              </a:ext>
            </a:extLst>
          </p:cNvPr>
          <p:cNvPicPr>
            <a:picLocks noChangeAspect="1"/>
          </p:cNvPicPr>
          <p:nvPr/>
        </p:nvPicPr>
        <p:blipFill>
          <a:blip r:embed="rId4"/>
          <a:stretch>
            <a:fillRect/>
          </a:stretch>
        </p:blipFill>
        <p:spPr>
          <a:xfrm>
            <a:off x="5703665" y="4189261"/>
            <a:ext cx="5077534" cy="1657581"/>
          </a:xfrm>
          <a:prstGeom prst="rect">
            <a:avLst/>
          </a:prstGeom>
        </p:spPr>
      </p:pic>
      <p:sp>
        <p:nvSpPr>
          <p:cNvPr id="7" name="Freeform: Shape 6">
            <a:extLst>
              <a:ext uri="{FF2B5EF4-FFF2-40B4-BE49-F238E27FC236}">
                <a16:creationId xmlns:a16="http://schemas.microsoft.com/office/drawing/2014/main" id="{F05CABCF-592E-0C88-D4CD-E545E0B4BD13}"/>
              </a:ext>
            </a:extLst>
          </p:cNvPr>
          <p:cNvSpPr/>
          <p:nvPr/>
        </p:nvSpPr>
        <p:spPr>
          <a:xfrm>
            <a:off x="8070365" y="4768720"/>
            <a:ext cx="672419" cy="326572"/>
          </a:xfrm>
          <a:custGeom>
            <a:avLst/>
            <a:gdLst>
              <a:gd name="csX0" fmla="*/ 383170 w 672419"/>
              <a:gd name="csY0" fmla="*/ 27992 h 326572"/>
              <a:gd name="csX1" fmla="*/ 177897 w 672419"/>
              <a:gd name="csY1" fmla="*/ 18662 h 326572"/>
              <a:gd name="csX2" fmla="*/ 75260 w 672419"/>
              <a:gd name="csY2" fmla="*/ 0 h 326572"/>
              <a:gd name="csX3" fmla="*/ 9946 w 672419"/>
              <a:gd name="csY3" fmla="*/ 37323 h 326572"/>
              <a:gd name="csX4" fmla="*/ 615 w 672419"/>
              <a:gd name="csY4" fmla="*/ 93307 h 326572"/>
              <a:gd name="csX5" fmla="*/ 19276 w 672419"/>
              <a:gd name="csY5" fmla="*/ 233266 h 326572"/>
              <a:gd name="csX6" fmla="*/ 37937 w 672419"/>
              <a:gd name="csY6" fmla="*/ 261258 h 326572"/>
              <a:gd name="csX7" fmla="*/ 103252 w 672419"/>
              <a:gd name="csY7" fmla="*/ 279919 h 326572"/>
              <a:gd name="csX8" fmla="*/ 317856 w 672419"/>
              <a:gd name="csY8" fmla="*/ 298580 h 326572"/>
              <a:gd name="csX9" fmla="*/ 476476 w 672419"/>
              <a:gd name="csY9" fmla="*/ 326572 h 326572"/>
              <a:gd name="csX10" fmla="*/ 551121 w 672419"/>
              <a:gd name="csY10" fmla="*/ 307911 h 326572"/>
              <a:gd name="csX11" fmla="*/ 588443 w 672419"/>
              <a:gd name="csY11" fmla="*/ 279919 h 326572"/>
              <a:gd name="csX12" fmla="*/ 635097 w 672419"/>
              <a:gd name="csY12" fmla="*/ 261258 h 326572"/>
              <a:gd name="csX13" fmla="*/ 653758 w 672419"/>
              <a:gd name="csY13" fmla="*/ 233266 h 326572"/>
              <a:gd name="csX14" fmla="*/ 663088 w 672419"/>
              <a:gd name="csY14" fmla="*/ 177282 h 326572"/>
              <a:gd name="csX15" fmla="*/ 672419 w 672419"/>
              <a:gd name="csY15" fmla="*/ 139960 h 326572"/>
              <a:gd name="csX16" fmla="*/ 560452 w 672419"/>
              <a:gd name="csY16" fmla="*/ 37323 h 326572"/>
              <a:gd name="csX17" fmla="*/ 513799 w 672419"/>
              <a:gd name="csY17" fmla="*/ 27992 h 326572"/>
              <a:gd name="csX18" fmla="*/ 457815 w 672419"/>
              <a:gd name="csY18" fmla="*/ 9331 h 326572"/>
              <a:gd name="csX19" fmla="*/ 308525 w 672419"/>
              <a:gd name="csY19" fmla="*/ 18662 h 326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72419" h="326572">
                <a:moveTo>
                  <a:pt x="383170" y="27992"/>
                </a:moveTo>
                <a:cubicBezTo>
                  <a:pt x="314746" y="24882"/>
                  <a:pt x="246218" y="23542"/>
                  <a:pt x="177897" y="18662"/>
                </a:cubicBezTo>
                <a:cubicBezTo>
                  <a:pt x="159327" y="17336"/>
                  <a:pt x="95988" y="4146"/>
                  <a:pt x="75260" y="0"/>
                </a:cubicBezTo>
                <a:cubicBezTo>
                  <a:pt x="53489" y="12441"/>
                  <a:pt x="25610" y="17742"/>
                  <a:pt x="9946" y="37323"/>
                </a:cubicBezTo>
                <a:cubicBezTo>
                  <a:pt x="-1872" y="52096"/>
                  <a:pt x="-285" y="74410"/>
                  <a:pt x="615" y="93307"/>
                </a:cubicBezTo>
                <a:cubicBezTo>
                  <a:pt x="2854" y="140320"/>
                  <a:pt x="9066" y="187321"/>
                  <a:pt x="19276" y="233266"/>
                </a:cubicBezTo>
                <a:cubicBezTo>
                  <a:pt x="21709" y="244213"/>
                  <a:pt x="28134" y="255812"/>
                  <a:pt x="37937" y="261258"/>
                </a:cubicBezTo>
                <a:cubicBezTo>
                  <a:pt x="57730" y="272254"/>
                  <a:pt x="80808" y="276926"/>
                  <a:pt x="103252" y="279919"/>
                </a:cubicBezTo>
                <a:cubicBezTo>
                  <a:pt x="174427" y="289409"/>
                  <a:pt x="246886" y="287662"/>
                  <a:pt x="317856" y="298580"/>
                </a:cubicBezTo>
                <a:cubicBezTo>
                  <a:pt x="451828" y="319191"/>
                  <a:pt x="399467" y="307319"/>
                  <a:pt x="476476" y="326572"/>
                </a:cubicBezTo>
                <a:cubicBezTo>
                  <a:pt x="501358" y="320352"/>
                  <a:pt x="527446" y="317775"/>
                  <a:pt x="551121" y="307911"/>
                </a:cubicBezTo>
                <a:cubicBezTo>
                  <a:pt x="565476" y="301930"/>
                  <a:pt x="574849" y="287471"/>
                  <a:pt x="588443" y="279919"/>
                </a:cubicBezTo>
                <a:cubicBezTo>
                  <a:pt x="603084" y="271785"/>
                  <a:pt x="619546" y="267478"/>
                  <a:pt x="635097" y="261258"/>
                </a:cubicBezTo>
                <a:cubicBezTo>
                  <a:pt x="641317" y="251927"/>
                  <a:pt x="650212" y="243905"/>
                  <a:pt x="653758" y="233266"/>
                </a:cubicBezTo>
                <a:cubicBezTo>
                  <a:pt x="659740" y="215318"/>
                  <a:pt x="659378" y="195833"/>
                  <a:pt x="663088" y="177282"/>
                </a:cubicBezTo>
                <a:cubicBezTo>
                  <a:pt x="665603" y="164707"/>
                  <a:pt x="669309" y="152401"/>
                  <a:pt x="672419" y="139960"/>
                </a:cubicBezTo>
                <a:cubicBezTo>
                  <a:pt x="635097" y="105748"/>
                  <a:pt x="601815" y="66521"/>
                  <a:pt x="560452" y="37323"/>
                </a:cubicBezTo>
                <a:cubicBezTo>
                  <a:pt x="547496" y="28177"/>
                  <a:pt x="529099" y="32165"/>
                  <a:pt x="513799" y="27992"/>
                </a:cubicBezTo>
                <a:cubicBezTo>
                  <a:pt x="494821" y="22816"/>
                  <a:pt x="476476" y="15551"/>
                  <a:pt x="457815" y="9331"/>
                </a:cubicBezTo>
                <a:lnTo>
                  <a:pt x="308525" y="18662"/>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5EAB36E5-48CE-EEC3-F3D0-D89B14B20C83}"/>
              </a:ext>
            </a:extLst>
          </p:cNvPr>
          <p:cNvSpPr/>
          <p:nvPr/>
        </p:nvSpPr>
        <p:spPr>
          <a:xfrm>
            <a:off x="8070364" y="2453858"/>
            <a:ext cx="672419" cy="326572"/>
          </a:xfrm>
          <a:custGeom>
            <a:avLst/>
            <a:gdLst>
              <a:gd name="csX0" fmla="*/ 383170 w 672419"/>
              <a:gd name="csY0" fmla="*/ 27992 h 326572"/>
              <a:gd name="csX1" fmla="*/ 177897 w 672419"/>
              <a:gd name="csY1" fmla="*/ 18662 h 326572"/>
              <a:gd name="csX2" fmla="*/ 75260 w 672419"/>
              <a:gd name="csY2" fmla="*/ 0 h 326572"/>
              <a:gd name="csX3" fmla="*/ 9946 w 672419"/>
              <a:gd name="csY3" fmla="*/ 37323 h 326572"/>
              <a:gd name="csX4" fmla="*/ 615 w 672419"/>
              <a:gd name="csY4" fmla="*/ 93307 h 326572"/>
              <a:gd name="csX5" fmla="*/ 19276 w 672419"/>
              <a:gd name="csY5" fmla="*/ 233266 h 326572"/>
              <a:gd name="csX6" fmla="*/ 37937 w 672419"/>
              <a:gd name="csY6" fmla="*/ 261258 h 326572"/>
              <a:gd name="csX7" fmla="*/ 103252 w 672419"/>
              <a:gd name="csY7" fmla="*/ 279919 h 326572"/>
              <a:gd name="csX8" fmla="*/ 317856 w 672419"/>
              <a:gd name="csY8" fmla="*/ 298580 h 326572"/>
              <a:gd name="csX9" fmla="*/ 476476 w 672419"/>
              <a:gd name="csY9" fmla="*/ 326572 h 326572"/>
              <a:gd name="csX10" fmla="*/ 551121 w 672419"/>
              <a:gd name="csY10" fmla="*/ 307911 h 326572"/>
              <a:gd name="csX11" fmla="*/ 588443 w 672419"/>
              <a:gd name="csY11" fmla="*/ 279919 h 326572"/>
              <a:gd name="csX12" fmla="*/ 635097 w 672419"/>
              <a:gd name="csY12" fmla="*/ 261258 h 326572"/>
              <a:gd name="csX13" fmla="*/ 653758 w 672419"/>
              <a:gd name="csY13" fmla="*/ 233266 h 326572"/>
              <a:gd name="csX14" fmla="*/ 663088 w 672419"/>
              <a:gd name="csY14" fmla="*/ 177282 h 326572"/>
              <a:gd name="csX15" fmla="*/ 672419 w 672419"/>
              <a:gd name="csY15" fmla="*/ 139960 h 326572"/>
              <a:gd name="csX16" fmla="*/ 560452 w 672419"/>
              <a:gd name="csY16" fmla="*/ 37323 h 326572"/>
              <a:gd name="csX17" fmla="*/ 513799 w 672419"/>
              <a:gd name="csY17" fmla="*/ 27992 h 326572"/>
              <a:gd name="csX18" fmla="*/ 457815 w 672419"/>
              <a:gd name="csY18" fmla="*/ 9331 h 326572"/>
              <a:gd name="csX19" fmla="*/ 308525 w 672419"/>
              <a:gd name="csY19" fmla="*/ 18662 h 326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72419" h="326572">
                <a:moveTo>
                  <a:pt x="383170" y="27992"/>
                </a:moveTo>
                <a:cubicBezTo>
                  <a:pt x="314746" y="24882"/>
                  <a:pt x="246218" y="23542"/>
                  <a:pt x="177897" y="18662"/>
                </a:cubicBezTo>
                <a:cubicBezTo>
                  <a:pt x="159327" y="17336"/>
                  <a:pt x="95988" y="4146"/>
                  <a:pt x="75260" y="0"/>
                </a:cubicBezTo>
                <a:cubicBezTo>
                  <a:pt x="53489" y="12441"/>
                  <a:pt x="25610" y="17742"/>
                  <a:pt x="9946" y="37323"/>
                </a:cubicBezTo>
                <a:cubicBezTo>
                  <a:pt x="-1872" y="52096"/>
                  <a:pt x="-285" y="74410"/>
                  <a:pt x="615" y="93307"/>
                </a:cubicBezTo>
                <a:cubicBezTo>
                  <a:pt x="2854" y="140320"/>
                  <a:pt x="9066" y="187321"/>
                  <a:pt x="19276" y="233266"/>
                </a:cubicBezTo>
                <a:cubicBezTo>
                  <a:pt x="21709" y="244213"/>
                  <a:pt x="28134" y="255812"/>
                  <a:pt x="37937" y="261258"/>
                </a:cubicBezTo>
                <a:cubicBezTo>
                  <a:pt x="57730" y="272254"/>
                  <a:pt x="80808" y="276926"/>
                  <a:pt x="103252" y="279919"/>
                </a:cubicBezTo>
                <a:cubicBezTo>
                  <a:pt x="174427" y="289409"/>
                  <a:pt x="246886" y="287662"/>
                  <a:pt x="317856" y="298580"/>
                </a:cubicBezTo>
                <a:cubicBezTo>
                  <a:pt x="451828" y="319191"/>
                  <a:pt x="399467" y="307319"/>
                  <a:pt x="476476" y="326572"/>
                </a:cubicBezTo>
                <a:cubicBezTo>
                  <a:pt x="501358" y="320352"/>
                  <a:pt x="527446" y="317775"/>
                  <a:pt x="551121" y="307911"/>
                </a:cubicBezTo>
                <a:cubicBezTo>
                  <a:pt x="565476" y="301930"/>
                  <a:pt x="574849" y="287471"/>
                  <a:pt x="588443" y="279919"/>
                </a:cubicBezTo>
                <a:cubicBezTo>
                  <a:pt x="603084" y="271785"/>
                  <a:pt x="619546" y="267478"/>
                  <a:pt x="635097" y="261258"/>
                </a:cubicBezTo>
                <a:cubicBezTo>
                  <a:pt x="641317" y="251927"/>
                  <a:pt x="650212" y="243905"/>
                  <a:pt x="653758" y="233266"/>
                </a:cubicBezTo>
                <a:cubicBezTo>
                  <a:pt x="659740" y="215318"/>
                  <a:pt x="659378" y="195833"/>
                  <a:pt x="663088" y="177282"/>
                </a:cubicBezTo>
                <a:cubicBezTo>
                  <a:pt x="665603" y="164707"/>
                  <a:pt x="669309" y="152401"/>
                  <a:pt x="672419" y="139960"/>
                </a:cubicBezTo>
                <a:cubicBezTo>
                  <a:pt x="635097" y="105748"/>
                  <a:pt x="601815" y="66521"/>
                  <a:pt x="560452" y="37323"/>
                </a:cubicBezTo>
                <a:cubicBezTo>
                  <a:pt x="547496" y="28177"/>
                  <a:pt x="529099" y="32165"/>
                  <a:pt x="513799" y="27992"/>
                </a:cubicBezTo>
                <a:cubicBezTo>
                  <a:pt x="494821" y="22816"/>
                  <a:pt x="476476" y="15551"/>
                  <a:pt x="457815" y="9331"/>
                </a:cubicBezTo>
                <a:lnTo>
                  <a:pt x="308525" y="18662"/>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D402BA2-9D9C-B142-8FE5-8920C5F24431}"/>
              </a:ext>
            </a:extLst>
          </p:cNvPr>
          <p:cNvSpPr txBox="1"/>
          <p:nvPr/>
        </p:nvSpPr>
        <p:spPr>
          <a:xfrm>
            <a:off x="671803" y="2931458"/>
            <a:ext cx="4833257" cy="2000548"/>
          </a:xfrm>
          <a:prstGeom prst="rect">
            <a:avLst/>
          </a:prstGeom>
          <a:noFill/>
        </p:spPr>
        <p:txBody>
          <a:bodyPr wrap="square" rtlCol="0">
            <a:spAutoFit/>
          </a:bodyPr>
          <a:lstStyle/>
          <a:p>
            <a:r>
              <a:rPr lang="en-US" sz="1800" dirty="0">
                <a:latin typeface="+mn-lt"/>
              </a:rPr>
              <a:t>Because hyperparameter tuning is computationally expensive, we compared the two models and selected </a:t>
            </a:r>
            <a:r>
              <a:rPr lang="en-US" sz="1800" dirty="0" err="1">
                <a:latin typeface="+mn-lt"/>
              </a:rPr>
              <a:t>XGBoost</a:t>
            </a:r>
            <a:r>
              <a:rPr lang="en-US" sz="1800" dirty="0">
                <a:latin typeface="+mn-lt"/>
              </a:rPr>
              <a:t> due to higher recall score and performed fine-tuning on the chosen model.</a:t>
            </a:r>
          </a:p>
          <a:p>
            <a:endParaRPr lang="en-US" sz="1800" dirty="0">
              <a:latin typeface="+mn-lt"/>
            </a:endParaRPr>
          </a:p>
          <a:p>
            <a:endParaRPr lang="en-US" sz="1600" dirty="0">
              <a:latin typeface="+mn-lt"/>
            </a:endParaRPr>
          </a:p>
        </p:txBody>
      </p:sp>
    </p:spTree>
    <p:extLst>
      <p:ext uri="{BB962C8B-B14F-4D97-AF65-F5344CB8AC3E}">
        <p14:creationId xmlns:p14="http://schemas.microsoft.com/office/powerpoint/2010/main" val="305078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686C22B-96D1-F324-432B-6E736E516BEB}"/>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4447BBBA-2E22-B8FE-2650-7A6F3E633629}"/>
              </a:ext>
            </a:extLst>
          </p:cNvPr>
          <p:cNvSpPr txBox="1">
            <a:spLocks noGrp="1"/>
          </p:cNvSpPr>
          <p:nvPr>
            <p:ph type="body" idx="1"/>
          </p:nvPr>
        </p:nvSpPr>
        <p:spPr>
          <a:xfrm>
            <a:off x="7119257" y="1688841"/>
            <a:ext cx="4648379" cy="4258484"/>
          </a:xfrm>
          <a:prstGeom prst="rect">
            <a:avLst/>
          </a:prstGeom>
          <a:noFill/>
          <a:ln>
            <a:noFill/>
          </a:ln>
        </p:spPr>
        <p:txBody>
          <a:bodyPr spcFirstLastPara="1" wrap="square" lIns="91425" tIns="45700" rIns="91425" bIns="45700" anchor="t" anchorCtr="0">
            <a:normAutofit/>
          </a:bodyPr>
          <a:lstStyle/>
          <a:p>
            <a:pPr marL="419100" indent="-285750">
              <a:lnSpc>
                <a:spcPct val="150000"/>
              </a:lnSpc>
              <a:spcBef>
                <a:spcPts val="0"/>
              </a:spcBef>
              <a:buClr>
                <a:srgbClr val="000000"/>
              </a:buClr>
              <a:buSzPts val="2100"/>
              <a:buFont typeface="Arial" panose="020B0604020202020204" pitchFamily="34" charset="0"/>
              <a:buChar char="•"/>
            </a:pPr>
            <a:r>
              <a:rPr lang="en-US" sz="1800" dirty="0">
                <a:solidFill>
                  <a:srgbClr val="000000"/>
                </a:solidFill>
              </a:rPr>
              <a:t>We performed hyperparameters tuning using 5 folds stratified cross validation over key </a:t>
            </a:r>
            <a:r>
              <a:rPr lang="en-US" sz="1800" dirty="0" err="1">
                <a:solidFill>
                  <a:srgbClr val="000000"/>
                </a:solidFill>
              </a:rPr>
              <a:t>XGBoost</a:t>
            </a:r>
            <a:r>
              <a:rPr lang="en-US" sz="1800" dirty="0">
                <a:solidFill>
                  <a:srgbClr val="000000"/>
                </a:solidFill>
              </a:rPr>
              <a:t> parameters. </a:t>
            </a:r>
          </a:p>
          <a:p>
            <a:pPr marL="419100" indent="-285750">
              <a:lnSpc>
                <a:spcPct val="150000"/>
              </a:lnSpc>
              <a:spcBef>
                <a:spcPts val="0"/>
              </a:spcBef>
              <a:buClr>
                <a:srgbClr val="000000"/>
              </a:buClr>
              <a:buSzPts val="2100"/>
              <a:buFont typeface="Arial" panose="020B0604020202020204" pitchFamily="34" charset="0"/>
              <a:buChar char="•"/>
            </a:pPr>
            <a:r>
              <a:rPr lang="en-US" sz="1800" dirty="0">
                <a:solidFill>
                  <a:srgbClr val="000000"/>
                </a:solidFill>
              </a:rPr>
              <a:t>For each parameter combination, the model generated churn probabilities, and we tested on multiple thresholds to control recall-precision balance. </a:t>
            </a:r>
          </a:p>
          <a:p>
            <a:pPr marL="419100" indent="-285750">
              <a:lnSpc>
                <a:spcPct val="150000"/>
              </a:lnSpc>
              <a:spcBef>
                <a:spcPts val="0"/>
              </a:spcBef>
              <a:buClr>
                <a:srgbClr val="000000"/>
              </a:buClr>
              <a:buSzPts val="2100"/>
              <a:buFont typeface="Arial" panose="020B0604020202020204" pitchFamily="34" charset="0"/>
              <a:buChar char="•"/>
            </a:pPr>
            <a:r>
              <a:rPr lang="en-US" sz="1800" dirty="0">
                <a:solidFill>
                  <a:srgbClr val="000000"/>
                </a:solidFill>
              </a:rPr>
              <a:t>Measure performance was measured using recall (primary metric) and F1-score</a:t>
            </a:r>
          </a:p>
        </p:txBody>
      </p:sp>
      <p:sp>
        <p:nvSpPr>
          <p:cNvPr id="97" name="Google Shape;97;p7">
            <a:extLst>
              <a:ext uri="{FF2B5EF4-FFF2-40B4-BE49-F238E27FC236}">
                <a16:creationId xmlns:a16="http://schemas.microsoft.com/office/drawing/2014/main" id="{72473C69-30C4-1C33-BCBA-492299DE4AA1}"/>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XGBOOST Model Tuning</a:t>
            </a:r>
            <a:endParaRPr dirty="0"/>
          </a:p>
        </p:txBody>
      </p:sp>
      <p:pic>
        <p:nvPicPr>
          <p:cNvPr id="3" name="Picture 2">
            <a:extLst>
              <a:ext uri="{FF2B5EF4-FFF2-40B4-BE49-F238E27FC236}">
                <a16:creationId xmlns:a16="http://schemas.microsoft.com/office/drawing/2014/main" id="{C0E91AA5-5353-93CE-9745-E8F3F022EB9F}"/>
              </a:ext>
            </a:extLst>
          </p:cNvPr>
          <p:cNvPicPr>
            <a:picLocks noChangeAspect="1"/>
          </p:cNvPicPr>
          <p:nvPr/>
        </p:nvPicPr>
        <p:blipFill>
          <a:blip r:embed="rId3"/>
          <a:stretch>
            <a:fillRect/>
          </a:stretch>
        </p:blipFill>
        <p:spPr>
          <a:xfrm>
            <a:off x="424363" y="1688841"/>
            <a:ext cx="6125430" cy="2583013"/>
          </a:xfrm>
          <a:prstGeom prst="rect">
            <a:avLst/>
          </a:prstGeom>
        </p:spPr>
      </p:pic>
      <p:pic>
        <p:nvPicPr>
          <p:cNvPr id="5" name="Picture 4">
            <a:extLst>
              <a:ext uri="{FF2B5EF4-FFF2-40B4-BE49-F238E27FC236}">
                <a16:creationId xmlns:a16="http://schemas.microsoft.com/office/drawing/2014/main" id="{15411F4F-6735-E95B-4A1E-8A836A79C1A6}"/>
              </a:ext>
            </a:extLst>
          </p:cNvPr>
          <p:cNvPicPr>
            <a:picLocks noChangeAspect="1"/>
          </p:cNvPicPr>
          <p:nvPr/>
        </p:nvPicPr>
        <p:blipFill>
          <a:blip r:embed="rId4"/>
          <a:stretch>
            <a:fillRect/>
          </a:stretch>
        </p:blipFill>
        <p:spPr>
          <a:xfrm>
            <a:off x="424363" y="5270956"/>
            <a:ext cx="6125430" cy="676369"/>
          </a:xfrm>
          <a:prstGeom prst="rect">
            <a:avLst/>
          </a:prstGeom>
        </p:spPr>
      </p:pic>
    </p:spTree>
    <p:extLst>
      <p:ext uri="{BB962C8B-B14F-4D97-AF65-F5344CB8AC3E}">
        <p14:creationId xmlns:p14="http://schemas.microsoft.com/office/powerpoint/2010/main" val="1837633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30F46AF-E358-1C64-D95E-C74373D871FD}"/>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D7D9C789-7F0F-314B-5BFA-4CE56A99350F}"/>
              </a:ext>
            </a:extLst>
          </p:cNvPr>
          <p:cNvSpPr txBox="1">
            <a:spLocks noGrp="1"/>
          </p:cNvSpPr>
          <p:nvPr>
            <p:ph type="body" idx="1"/>
          </p:nvPr>
        </p:nvSpPr>
        <p:spPr>
          <a:xfrm>
            <a:off x="8584164" y="1743429"/>
            <a:ext cx="2864498" cy="4450897"/>
          </a:xfrm>
          <a:prstGeom prst="rect">
            <a:avLst/>
          </a:prstGeom>
          <a:noFill/>
          <a:ln>
            <a:noFill/>
          </a:ln>
        </p:spPr>
        <p:txBody>
          <a:bodyPr spcFirstLastPara="1" wrap="square" lIns="91425" tIns="45700" rIns="91425" bIns="45700" anchor="t" anchorCtr="0">
            <a:normAutofit fontScale="85000" lnSpcReduction="20000"/>
          </a:bodyPr>
          <a:lstStyle/>
          <a:p>
            <a:pPr marL="133350" indent="0">
              <a:lnSpc>
                <a:spcPct val="150000"/>
              </a:lnSpc>
              <a:spcBef>
                <a:spcPts val="0"/>
              </a:spcBef>
              <a:buSzPts val="2100"/>
              <a:buNone/>
            </a:pPr>
            <a:r>
              <a:rPr lang="en-US" sz="1600" dirty="0">
                <a:solidFill>
                  <a:srgbClr val="000000"/>
                </a:solidFill>
              </a:rPr>
              <a:t>After perform hyperparameter tuning, we selected the best </a:t>
            </a:r>
            <a:r>
              <a:rPr lang="en-US" sz="1600" dirty="0" err="1">
                <a:solidFill>
                  <a:srgbClr val="000000"/>
                </a:solidFill>
              </a:rPr>
              <a:t>XGBoost</a:t>
            </a:r>
            <a:r>
              <a:rPr lang="en-US" sz="1600" dirty="0">
                <a:solidFill>
                  <a:srgbClr val="000000"/>
                </a:solidFill>
              </a:rPr>
              <a:t> configuration that has high recall score and high F1-score. </a:t>
            </a:r>
          </a:p>
          <a:p>
            <a:pPr marL="133350" indent="0">
              <a:lnSpc>
                <a:spcPct val="150000"/>
              </a:lnSpc>
              <a:spcBef>
                <a:spcPts val="0"/>
              </a:spcBef>
              <a:buSzPts val="2100"/>
              <a:buNone/>
            </a:pPr>
            <a:r>
              <a:rPr lang="en-US" sz="1600" dirty="0">
                <a:solidFill>
                  <a:srgbClr val="000000"/>
                </a:solidFill>
              </a:rPr>
              <a:t>The best performing model was row 149, which achieved:</a:t>
            </a:r>
          </a:p>
          <a:p>
            <a:pPr marL="133350" indent="0">
              <a:lnSpc>
                <a:spcPct val="150000"/>
              </a:lnSpc>
              <a:spcBef>
                <a:spcPts val="0"/>
              </a:spcBef>
              <a:buSzPts val="2100"/>
              <a:buNone/>
            </a:pPr>
            <a:endParaRPr lang="en-US" sz="1600" dirty="0">
              <a:solidFill>
                <a:srgbClr val="000000"/>
              </a:solidFill>
            </a:endParaRP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Recall: 0.816</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F1-score: 0.634</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Threshold: 0.5</a:t>
            </a:r>
          </a:p>
          <a:p>
            <a:pPr marL="133350" indent="0">
              <a:lnSpc>
                <a:spcPct val="150000"/>
              </a:lnSpc>
              <a:spcBef>
                <a:spcPts val="0"/>
              </a:spcBef>
              <a:buClr>
                <a:srgbClr val="000000"/>
              </a:buClr>
              <a:buSzPts val="2100"/>
              <a:buNone/>
            </a:pPr>
            <a:endParaRPr lang="en-US" sz="1600" dirty="0">
              <a:solidFill>
                <a:srgbClr val="000000"/>
              </a:solidFill>
            </a:endParaRPr>
          </a:p>
          <a:p>
            <a:pPr marL="133350" indent="0">
              <a:lnSpc>
                <a:spcPct val="150000"/>
              </a:lnSpc>
              <a:spcBef>
                <a:spcPts val="0"/>
              </a:spcBef>
              <a:buClr>
                <a:srgbClr val="000000"/>
              </a:buClr>
              <a:buSzPts val="2100"/>
              <a:buNone/>
            </a:pPr>
            <a:r>
              <a:rPr lang="en-US" sz="1600" dirty="0">
                <a:solidFill>
                  <a:srgbClr val="000000"/>
                </a:solidFill>
              </a:rPr>
              <a:t>This configuration provides the best trade-off between identifying churners and reduce false classifications. </a:t>
            </a:r>
          </a:p>
        </p:txBody>
      </p:sp>
      <p:sp>
        <p:nvSpPr>
          <p:cNvPr id="97" name="Google Shape;97;p7">
            <a:extLst>
              <a:ext uri="{FF2B5EF4-FFF2-40B4-BE49-F238E27FC236}">
                <a16:creationId xmlns:a16="http://schemas.microsoft.com/office/drawing/2014/main" id="{A0B24EA8-E114-6A94-C27D-9D55D45C0CA9}"/>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XGBOOST Parameters Exploration</a:t>
            </a:r>
            <a:endParaRPr dirty="0"/>
          </a:p>
        </p:txBody>
      </p:sp>
      <p:pic>
        <p:nvPicPr>
          <p:cNvPr id="3" name="Picture 2">
            <a:extLst>
              <a:ext uri="{FF2B5EF4-FFF2-40B4-BE49-F238E27FC236}">
                <a16:creationId xmlns:a16="http://schemas.microsoft.com/office/drawing/2014/main" id="{1B8878A9-30A0-3FBD-67F5-CD0EAD935D14}"/>
              </a:ext>
            </a:extLst>
          </p:cNvPr>
          <p:cNvPicPr>
            <a:picLocks noChangeAspect="1"/>
          </p:cNvPicPr>
          <p:nvPr/>
        </p:nvPicPr>
        <p:blipFill>
          <a:blip r:embed="rId3"/>
          <a:stretch>
            <a:fillRect/>
          </a:stretch>
        </p:blipFill>
        <p:spPr>
          <a:xfrm>
            <a:off x="838200" y="1743429"/>
            <a:ext cx="7270102" cy="4450898"/>
          </a:xfrm>
          <a:prstGeom prst="rect">
            <a:avLst/>
          </a:prstGeom>
        </p:spPr>
      </p:pic>
    </p:spTree>
    <p:extLst>
      <p:ext uri="{BB962C8B-B14F-4D97-AF65-F5344CB8AC3E}">
        <p14:creationId xmlns:p14="http://schemas.microsoft.com/office/powerpoint/2010/main" val="3649888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6395BF0-3F63-339B-63B7-535A0153C202}"/>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A121B4F0-CECB-68E3-6B3D-4DE842DB4E3C}"/>
              </a:ext>
            </a:extLst>
          </p:cNvPr>
          <p:cNvSpPr txBox="1">
            <a:spLocks noGrp="1"/>
          </p:cNvSpPr>
          <p:nvPr>
            <p:ph type="body" idx="1"/>
          </p:nvPr>
        </p:nvSpPr>
        <p:spPr>
          <a:xfrm>
            <a:off x="838200" y="3900196"/>
            <a:ext cx="9677400" cy="2528596"/>
          </a:xfrm>
          <a:prstGeom prst="rect">
            <a:avLst/>
          </a:prstGeom>
          <a:noFill/>
          <a:ln>
            <a:noFill/>
          </a:ln>
        </p:spPr>
        <p:txBody>
          <a:bodyPr spcFirstLastPara="1" wrap="square" lIns="91425" tIns="45700" rIns="91425" bIns="45700" anchor="t" anchorCtr="0">
            <a:normAutofit/>
          </a:bodyPr>
          <a:lstStyle/>
          <a:p>
            <a:pPr marL="133350" indent="0">
              <a:lnSpc>
                <a:spcPct val="110000"/>
              </a:lnSpc>
              <a:spcBef>
                <a:spcPts val="0"/>
              </a:spcBef>
              <a:buSzPts val="2100"/>
              <a:buNone/>
            </a:pPr>
            <a:r>
              <a:rPr lang="en-US" sz="1600" dirty="0">
                <a:solidFill>
                  <a:srgbClr val="000000"/>
                </a:solidFill>
              </a:rPr>
              <a:t>The final selected model has the following configurations</a:t>
            </a:r>
          </a:p>
          <a:p>
            <a:pPr marL="419100" indent="-285750" eaLnBrk="0" fontAlgn="base" hangingPunct="0">
              <a:lnSpc>
                <a:spcPct val="110000"/>
              </a:lnSpc>
              <a:spcBef>
                <a:spcPts val="0"/>
              </a:spcBef>
              <a:buSzPts val="2100"/>
            </a:pPr>
            <a:r>
              <a:rPr lang="en-US" altLang="en-US" sz="1600" dirty="0" err="1">
                <a:solidFill>
                  <a:srgbClr val="000000"/>
                </a:solidFill>
              </a:rPr>
              <a:t>n_estimators</a:t>
            </a:r>
            <a:r>
              <a:rPr lang="en-US" altLang="en-US" sz="1600" dirty="0">
                <a:solidFill>
                  <a:srgbClr val="000000"/>
                </a:solidFill>
              </a:rPr>
              <a:t>: 500 </a:t>
            </a:r>
          </a:p>
          <a:p>
            <a:pPr marL="419100" indent="-285750" eaLnBrk="0" fontAlgn="base" hangingPunct="0">
              <a:lnSpc>
                <a:spcPct val="110000"/>
              </a:lnSpc>
              <a:spcBef>
                <a:spcPts val="0"/>
              </a:spcBef>
              <a:buSzPts val="2100"/>
            </a:pPr>
            <a:r>
              <a:rPr lang="en-US" altLang="en-US" sz="1600" dirty="0" err="1">
                <a:solidFill>
                  <a:srgbClr val="000000"/>
                </a:solidFill>
              </a:rPr>
              <a:t>learning_rate</a:t>
            </a:r>
            <a:r>
              <a:rPr lang="en-US" altLang="en-US" sz="1600" dirty="0">
                <a:solidFill>
                  <a:srgbClr val="000000"/>
                </a:solidFill>
              </a:rPr>
              <a:t>: 0.01 </a:t>
            </a:r>
          </a:p>
          <a:p>
            <a:pPr marL="419100" indent="-285750" eaLnBrk="0" fontAlgn="base" hangingPunct="0">
              <a:lnSpc>
                <a:spcPct val="110000"/>
              </a:lnSpc>
              <a:spcBef>
                <a:spcPts val="0"/>
              </a:spcBef>
              <a:buSzPts val="2100"/>
            </a:pPr>
            <a:r>
              <a:rPr lang="en-US" altLang="en-US" sz="1600" dirty="0" err="1">
                <a:solidFill>
                  <a:srgbClr val="000000"/>
                </a:solidFill>
              </a:rPr>
              <a:t>max_depth</a:t>
            </a:r>
            <a:r>
              <a:rPr lang="en-US" altLang="en-US" sz="1600" dirty="0">
                <a:solidFill>
                  <a:srgbClr val="000000"/>
                </a:solidFill>
              </a:rPr>
              <a:t>: 3 </a:t>
            </a:r>
          </a:p>
          <a:p>
            <a:pPr marL="419100" indent="-285750" eaLnBrk="0" fontAlgn="base" hangingPunct="0">
              <a:lnSpc>
                <a:spcPct val="110000"/>
              </a:lnSpc>
              <a:spcBef>
                <a:spcPts val="0"/>
              </a:spcBef>
              <a:buSzPts val="2100"/>
            </a:pPr>
            <a:r>
              <a:rPr lang="en-US" altLang="en-US" sz="1600" dirty="0">
                <a:solidFill>
                  <a:srgbClr val="000000"/>
                </a:solidFill>
              </a:rPr>
              <a:t>subsample: 0.8 </a:t>
            </a:r>
          </a:p>
          <a:p>
            <a:pPr marL="419100" indent="-285750" eaLnBrk="0" fontAlgn="base" hangingPunct="0">
              <a:lnSpc>
                <a:spcPct val="110000"/>
              </a:lnSpc>
              <a:spcBef>
                <a:spcPts val="0"/>
              </a:spcBef>
              <a:buSzPts val="2100"/>
            </a:pPr>
            <a:r>
              <a:rPr lang="en-US" altLang="en-US" sz="1600" dirty="0" err="1">
                <a:solidFill>
                  <a:srgbClr val="000000"/>
                </a:solidFill>
              </a:rPr>
              <a:t>colsample_bytree</a:t>
            </a:r>
            <a:r>
              <a:rPr lang="en-US" altLang="en-US" sz="1600" dirty="0">
                <a:solidFill>
                  <a:srgbClr val="000000"/>
                </a:solidFill>
              </a:rPr>
              <a:t>: 0.8 </a:t>
            </a:r>
          </a:p>
          <a:p>
            <a:pPr marL="419100" indent="-285750" eaLnBrk="0" fontAlgn="base" hangingPunct="0">
              <a:lnSpc>
                <a:spcPct val="110000"/>
              </a:lnSpc>
              <a:spcBef>
                <a:spcPts val="0"/>
              </a:spcBef>
              <a:buSzPts val="2100"/>
            </a:pPr>
            <a:r>
              <a:rPr lang="en-US" altLang="en-US" sz="1600" dirty="0">
                <a:solidFill>
                  <a:srgbClr val="000000"/>
                </a:solidFill>
              </a:rPr>
              <a:t>Decision threshold: 0.5 </a:t>
            </a:r>
          </a:p>
          <a:p>
            <a:pPr marL="133350" indent="0" eaLnBrk="0" fontAlgn="base" hangingPunct="0">
              <a:lnSpc>
                <a:spcPct val="110000"/>
              </a:lnSpc>
              <a:spcBef>
                <a:spcPts val="0"/>
              </a:spcBef>
              <a:buSzPts val="2100"/>
              <a:buNone/>
            </a:pPr>
            <a:endParaRPr lang="en-US" altLang="en-US" sz="1600" dirty="0">
              <a:solidFill>
                <a:srgbClr val="000000"/>
              </a:solidFill>
            </a:endParaRPr>
          </a:p>
          <a:p>
            <a:pPr marL="133350" indent="0">
              <a:lnSpc>
                <a:spcPct val="90000"/>
              </a:lnSpc>
              <a:spcBef>
                <a:spcPts val="0"/>
              </a:spcBef>
              <a:buSzPts val="2100"/>
              <a:buNone/>
            </a:pPr>
            <a:r>
              <a:rPr lang="en-US" sz="1600" dirty="0">
                <a:solidFill>
                  <a:srgbClr val="000000"/>
                </a:solidFill>
              </a:rPr>
              <a:t>This configuration provides strong and stable performance while maintaining high churn detection capability.</a:t>
            </a:r>
          </a:p>
        </p:txBody>
      </p:sp>
      <p:sp>
        <p:nvSpPr>
          <p:cNvPr id="97" name="Google Shape;97;p7">
            <a:extLst>
              <a:ext uri="{FF2B5EF4-FFF2-40B4-BE49-F238E27FC236}">
                <a16:creationId xmlns:a16="http://schemas.microsoft.com/office/drawing/2014/main" id="{35B979AB-AF51-D647-480C-D3B0140143D8}"/>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Final XGBOOST Model Selection</a:t>
            </a:r>
            <a:endParaRPr dirty="0"/>
          </a:p>
        </p:txBody>
      </p:sp>
      <p:pic>
        <p:nvPicPr>
          <p:cNvPr id="6" name="Picture 5">
            <a:extLst>
              <a:ext uri="{FF2B5EF4-FFF2-40B4-BE49-F238E27FC236}">
                <a16:creationId xmlns:a16="http://schemas.microsoft.com/office/drawing/2014/main" id="{3BD726D2-8EEC-EC7C-0147-627066F71533}"/>
              </a:ext>
            </a:extLst>
          </p:cNvPr>
          <p:cNvPicPr>
            <a:picLocks noChangeAspect="1"/>
          </p:cNvPicPr>
          <p:nvPr/>
        </p:nvPicPr>
        <p:blipFill>
          <a:blip r:embed="rId3"/>
          <a:stretch>
            <a:fillRect/>
          </a:stretch>
        </p:blipFill>
        <p:spPr>
          <a:xfrm>
            <a:off x="838200" y="1761107"/>
            <a:ext cx="8907118" cy="2048161"/>
          </a:xfrm>
          <a:prstGeom prst="rect">
            <a:avLst/>
          </a:prstGeom>
        </p:spPr>
      </p:pic>
    </p:spTree>
    <p:extLst>
      <p:ext uri="{BB962C8B-B14F-4D97-AF65-F5344CB8AC3E}">
        <p14:creationId xmlns:p14="http://schemas.microsoft.com/office/powerpoint/2010/main" val="1699589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C9FFF1B-C788-C476-D318-63C55C949E80}"/>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93344012-5D5E-C83C-4D37-BB7D2ACECC76}"/>
              </a:ext>
            </a:extLst>
          </p:cNvPr>
          <p:cNvSpPr txBox="1">
            <a:spLocks noGrp="1"/>
          </p:cNvSpPr>
          <p:nvPr>
            <p:ph type="body" idx="1"/>
          </p:nvPr>
        </p:nvSpPr>
        <p:spPr>
          <a:xfrm>
            <a:off x="7324531" y="1735494"/>
            <a:ext cx="3564293" cy="4292082"/>
          </a:xfrm>
          <a:prstGeom prst="rect">
            <a:avLst/>
          </a:prstGeom>
          <a:noFill/>
          <a:ln>
            <a:noFill/>
          </a:ln>
        </p:spPr>
        <p:txBody>
          <a:bodyPr spcFirstLastPara="1" wrap="square" lIns="91425" tIns="45700" rIns="91425" bIns="45700" anchor="t" anchorCtr="0">
            <a:normAutofit lnSpcReduction="10000"/>
          </a:bodyPr>
          <a:lstStyle/>
          <a:p>
            <a:pPr marL="476250" indent="-342900">
              <a:lnSpc>
                <a:spcPct val="150000"/>
              </a:lnSpc>
              <a:spcBef>
                <a:spcPts val="0"/>
              </a:spcBef>
              <a:buSzPts val="2100"/>
            </a:pPr>
            <a:r>
              <a:rPr lang="en-US" sz="1600" dirty="0">
                <a:solidFill>
                  <a:srgbClr val="000000"/>
                </a:solidFill>
              </a:rPr>
              <a:t>The final </a:t>
            </a:r>
            <a:r>
              <a:rPr lang="en-US" sz="1600" dirty="0" err="1">
                <a:solidFill>
                  <a:srgbClr val="000000"/>
                </a:solidFill>
              </a:rPr>
              <a:t>XGBoost</a:t>
            </a:r>
            <a:r>
              <a:rPr lang="en-US" sz="1600" dirty="0">
                <a:solidFill>
                  <a:srgbClr val="000000"/>
                </a:solidFill>
              </a:rPr>
              <a:t> model achieved ROC-AUC of 0.945, indicating strong classification capability. </a:t>
            </a:r>
          </a:p>
          <a:p>
            <a:pPr marL="476250" indent="-342900">
              <a:lnSpc>
                <a:spcPct val="150000"/>
              </a:lnSpc>
              <a:spcBef>
                <a:spcPts val="0"/>
              </a:spcBef>
              <a:buSzPts val="2100"/>
            </a:pPr>
            <a:r>
              <a:rPr lang="en-US" sz="1600" dirty="0">
                <a:solidFill>
                  <a:srgbClr val="000000"/>
                </a:solidFill>
              </a:rPr>
              <a:t>An AUC closes to 1.0 suggests that the model produces reliable probability predictions and ranks churn customers higher than non-churn customers most of the time. </a:t>
            </a:r>
          </a:p>
          <a:p>
            <a:pPr marL="476250" indent="-342900">
              <a:lnSpc>
                <a:spcPct val="150000"/>
              </a:lnSpc>
              <a:spcBef>
                <a:spcPts val="0"/>
              </a:spcBef>
              <a:buSzPts val="2100"/>
            </a:pPr>
            <a:r>
              <a:rPr lang="en-US" sz="1600" dirty="0">
                <a:solidFill>
                  <a:srgbClr val="000000"/>
                </a:solidFill>
              </a:rPr>
              <a:t>Overall, the high ROC-AUC score confirms the model generalizes well and is effective for churn prediction.</a:t>
            </a:r>
          </a:p>
        </p:txBody>
      </p:sp>
      <p:sp>
        <p:nvSpPr>
          <p:cNvPr id="97" name="Google Shape;97;p7">
            <a:extLst>
              <a:ext uri="{FF2B5EF4-FFF2-40B4-BE49-F238E27FC236}">
                <a16:creationId xmlns:a16="http://schemas.microsoft.com/office/drawing/2014/main" id="{799E0F2E-1741-E95B-B205-786255AA5FD5}"/>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Model Evaluation</a:t>
            </a:r>
            <a:endParaRPr dirty="0"/>
          </a:p>
        </p:txBody>
      </p:sp>
      <p:pic>
        <p:nvPicPr>
          <p:cNvPr id="3" name="Picture 2">
            <a:extLst>
              <a:ext uri="{FF2B5EF4-FFF2-40B4-BE49-F238E27FC236}">
                <a16:creationId xmlns:a16="http://schemas.microsoft.com/office/drawing/2014/main" id="{B50521B6-F33D-24DA-F96A-3CA457A8B767}"/>
              </a:ext>
            </a:extLst>
          </p:cNvPr>
          <p:cNvPicPr>
            <a:picLocks noChangeAspect="1"/>
          </p:cNvPicPr>
          <p:nvPr/>
        </p:nvPicPr>
        <p:blipFill>
          <a:blip r:embed="rId3"/>
          <a:stretch>
            <a:fillRect/>
          </a:stretch>
        </p:blipFill>
        <p:spPr>
          <a:xfrm>
            <a:off x="838200" y="1735494"/>
            <a:ext cx="6378079" cy="4783559"/>
          </a:xfrm>
          <a:prstGeom prst="rect">
            <a:avLst/>
          </a:prstGeom>
        </p:spPr>
      </p:pic>
    </p:spTree>
    <p:extLst>
      <p:ext uri="{BB962C8B-B14F-4D97-AF65-F5344CB8AC3E}">
        <p14:creationId xmlns:p14="http://schemas.microsoft.com/office/powerpoint/2010/main" val="905592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92C4BFF-0F5D-5853-DDCE-95BA16F76298}"/>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9735E29E-0944-B1B4-2165-18C86AB27D02}"/>
              </a:ext>
            </a:extLst>
          </p:cNvPr>
          <p:cNvSpPr txBox="1">
            <a:spLocks noGrp="1"/>
          </p:cNvSpPr>
          <p:nvPr>
            <p:ph type="body" idx="1"/>
          </p:nvPr>
        </p:nvSpPr>
        <p:spPr>
          <a:xfrm>
            <a:off x="838199" y="1828799"/>
            <a:ext cx="10722429" cy="4310743"/>
          </a:xfrm>
          <a:prstGeom prst="rect">
            <a:avLst/>
          </a:prstGeom>
          <a:noFill/>
          <a:ln>
            <a:noFill/>
          </a:ln>
        </p:spPr>
        <p:txBody>
          <a:bodyPr spcFirstLastPara="1" wrap="square" lIns="91425" tIns="45700" rIns="91425" bIns="45700" anchor="t" anchorCtr="0">
            <a:normAutofit fontScale="92500"/>
          </a:bodyPr>
          <a:lstStyle/>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In this project, we built churn prediction models using Random Forest and </a:t>
            </a:r>
            <a:r>
              <a:rPr lang="en-US" sz="1600" dirty="0" err="1">
                <a:solidFill>
                  <a:srgbClr val="000000"/>
                </a:solidFill>
              </a:rPr>
              <a:t>XGBoost</a:t>
            </a:r>
            <a:r>
              <a:rPr lang="en-US" sz="1600" dirty="0">
                <a:solidFill>
                  <a:srgbClr val="000000"/>
                </a:solidFill>
              </a:rPr>
              <a:t> on Telco customer churn dataset.</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The business goal is to maximize customers churn detection, so we emphasize on the Recall metric. </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The final model was evaluated based on best overall performance – high recall score, high F1-score, and high ROC-AUC score.</a:t>
            </a: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The final tuned </a:t>
            </a:r>
            <a:r>
              <a:rPr lang="en-US" sz="1600" dirty="0" err="1">
                <a:solidFill>
                  <a:srgbClr val="000000"/>
                </a:solidFill>
              </a:rPr>
              <a:t>XGBoost</a:t>
            </a:r>
            <a:r>
              <a:rPr lang="en-US" sz="1600" dirty="0">
                <a:solidFill>
                  <a:srgbClr val="000000"/>
                </a:solidFill>
              </a:rPr>
              <a:t> model achieved strong results, including:</a:t>
            </a:r>
          </a:p>
          <a:p>
            <a:pPr marL="133350" indent="0">
              <a:lnSpc>
                <a:spcPct val="150000"/>
              </a:lnSpc>
              <a:spcBef>
                <a:spcPts val="0"/>
              </a:spcBef>
              <a:buClr>
                <a:srgbClr val="000000"/>
              </a:buClr>
              <a:buSzPts val="2100"/>
              <a:buNone/>
            </a:pPr>
            <a:endParaRPr lang="en-US" sz="1600" dirty="0">
              <a:solidFill>
                <a:srgbClr val="000000"/>
              </a:solidFill>
            </a:endParaRPr>
          </a:p>
          <a:p>
            <a:pPr marL="876300" lvl="2" indent="-285750" eaLnBrk="0" fontAlgn="base" hangingPunct="0">
              <a:lnSpc>
                <a:spcPct val="150000"/>
              </a:lnSpc>
              <a:spcBef>
                <a:spcPts val="0"/>
              </a:spcBef>
              <a:buClr>
                <a:srgbClr val="000000"/>
              </a:buClr>
              <a:buSzPts val="2100"/>
              <a:buFont typeface="Arial" panose="020B0604020202020204" pitchFamily="34" charset="0"/>
              <a:buChar char="•"/>
            </a:pPr>
            <a:r>
              <a:rPr lang="en-US" altLang="en-US" sz="1800" b="1" dirty="0">
                <a:solidFill>
                  <a:srgbClr val="000000"/>
                </a:solidFill>
              </a:rPr>
              <a:t>Recall ≈ 0.82 </a:t>
            </a:r>
          </a:p>
          <a:p>
            <a:pPr marL="876300" lvl="2" indent="-285750" eaLnBrk="0" fontAlgn="base" hangingPunct="0">
              <a:lnSpc>
                <a:spcPct val="150000"/>
              </a:lnSpc>
              <a:spcBef>
                <a:spcPts val="0"/>
              </a:spcBef>
              <a:buClr>
                <a:srgbClr val="000000"/>
              </a:buClr>
              <a:buSzPts val="2100"/>
              <a:buFont typeface="Arial" panose="020B0604020202020204" pitchFamily="34" charset="0"/>
              <a:buChar char="•"/>
            </a:pPr>
            <a:r>
              <a:rPr lang="en-US" altLang="en-US" sz="1800" b="1" dirty="0">
                <a:solidFill>
                  <a:srgbClr val="000000"/>
                </a:solidFill>
              </a:rPr>
              <a:t>F1-score ≈ 0.63 </a:t>
            </a:r>
          </a:p>
          <a:p>
            <a:pPr marL="876300" lvl="2" indent="-285750" eaLnBrk="0" fontAlgn="base" hangingPunct="0">
              <a:lnSpc>
                <a:spcPct val="150000"/>
              </a:lnSpc>
              <a:spcBef>
                <a:spcPts val="0"/>
              </a:spcBef>
              <a:buClr>
                <a:srgbClr val="000000"/>
              </a:buClr>
              <a:buSzPts val="2100"/>
              <a:buFont typeface="Arial" panose="020B0604020202020204" pitchFamily="34" charset="0"/>
              <a:buChar char="•"/>
            </a:pPr>
            <a:r>
              <a:rPr lang="en-US" altLang="en-US" sz="1800" b="1" dirty="0">
                <a:solidFill>
                  <a:srgbClr val="000000"/>
                </a:solidFill>
              </a:rPr>
              <a:t>ROC-AUC = 0.945 </a:t>
            </a:r>
          </a:p>
          <a:p>
            <a:pPr marL="133350" indent="0">
              <a:lnSpc>
                <a:spcPct val="150000"/>
              </a:lnSpc>
              <a:spcBef>
                <a:spcPts val="0"/>
              </a:spcBef>
              <a:buClr>
                <a:srgbClr val="000000"/>
              </a:buClr>
              <a:buSzPts val="2100"/>
              <a:buNone/>
            </a:pPr>
            <a:endParaRPr lang="en-US" sz="1600" dirty="0">
              <a:solidFill>
                <a:srgbClr val="000000"/>
              </a:solidFill>
            </a:endParaRPr>
          </a:p>
          <a:p>
            <a:pPr marL="419100" indent="-285750">
              <a:lnSpc>
                <a:spcPct val="150000"/>
              </a:lnSpc>
              <a:spcBef>
                <a:spcPts val="0"/>
              </a:spcBef>
              <a:buClr>
                <a:srgbClr val="000000"/>
              </a:buClr>
              <a:buSzPts val="2100"/>
              <a:buFont typeface="Arial" panose="020B0604020202020204" pitchFamily="34" charset="0"/>
              <a:buChar char="•"/>
            </a:pPr>
            <a:r>
              <a:rPr lang="en-US" sz="1600" dirty="0">
                <a:solidFill>
                  <a:srgbClr val="000000"/>
                </a:solidFill>
              </a:rPr>
              <a:t>In conclusion, the model effectively identifies customers with high risk of churn and can support proactive customer retention. </a:t>
            </a:r>
          </a:p>
        </p:txBody>
      </p:sp>
      <p:sp>
        <p:nvSpPr>
          <p:cNvPr id="97" name="Google Shape;97;p7">
            <a:extLst>
              <a:ext uri="{FF2B5EF4-FFF2-40B4-BE49-F238E27FC236}">
                <a16:creationId xmlns:a16="http://schemas.microsoft.com/office/drawing/2014/main" id="{8CFDD088-773C-9029-A6B9-F9DBC3596112}"/>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Conclusion</a:t>
            </a:r>
            <a:endParaRPr dirty="0"/>
          </a:p>
        </p:txBody>
      </p:sp>
    </p:spTree>
    <p:extLst>
      <p:ext uri="{BB962C8B-B14F-4D97-AF65-F5344CB8AC3E}">
        <p14:creationId xmlns:p14="http://schemas.microsoft.com/office/powerpoint/2010/main" val="4048708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5106F7E-34CD-BB07-AEDB-D4A3C6009760}"/>
            </a:ext>
          </a:extLst>
        </p:cNvPr>
        <p:cNvGrpSpPr/>
        <p:nvPr/>
      </p:nvGrpSpPr>
      <p:grpSpPr>
        <a:xfrm>
          <a:off x="0" y="0"/>
          <a:ext cx="0" cy="0"/>
          <a:chOff x="0" y="0"/>
          <a:chExt cx="0" cy="0"/>
        </a:xfrm>
      </p:grpSpPr>
      <p:sp>
        <p:nvSpPr>
          <p:cNvPr id="96" name="Google Shape;96;p7">
            <a:extLst>
              <a:ext uri="{FF2B5EF4-FFF2-40B4-BE49-F238E27FC236}">
                <a16:creationId xmlns:a16="http://schemas.microsoft.com/office/drawing/2014/main" id="{D13B71E4-8C18-7673-D503-D0C7891B90CB}"/>
              </a:ext>
            </a:extLst>
          </p:cNvPr>
          <p:cNvSpPr txBox="1">
            <a:spLocks noGrp="1"/>
          </p:cNvSpPr>
          <p:nvPr>
            <p:ph type="body" idx="1"/>
          </p:nvPr>
        </p:nvSpPr>
        <p:spPr>
          <a:xfrm>
            <a:off x="838200" y="1828800"/>
            <a:ext cx="10515600" cy="4118524"/>
          </a:xfrm>
          <a:prstGeom prst="rect">
            <a:avLst/>
          </a:prstGeom>
          <a:noFill/>
          <a:ln>
            <a:noFill/>
          </a:ln>
        </p:spPr>
        <p:txBody>
          <a:bodyPr spcFirstLastPara="1" wrap="square" lIns="91425" tIns="45700" rIns="91425" bIns="45700" anchor="t" anchorCtr="0">
            <a:normAutofit/>
          </a:bodyPr>
          <a:lstStyle/>
          <a:p>
            <a:pPr marL="133350" indent="0">
              <a:lnSpc>
                <a:spcPct val="90000"/>
              </a:lnSpc>
              <a:spcBef>
                <a:spcPts val="0"/>
              </a:spcBef>
              <a:buSzPts val="2100"/>
              <a:buNone/>
            </a:pPr>
            <a:r>
              <a:rPr lang="fr-FR" dirty="0">
                <a:solidFill>
                  <a:srgbClr val="000000"/>
                </a:solidFill>
              </a:rPr>
              <a:t>Huynh, A. (2026). </a:t>
            </a:r>
            <a:r>
              <a:rPr lang="en-US" dirty="0">
                <a:solidFill>
                  <a:srgbClr val="000000"/>
                </a:solidFill>
              </a:rPr>
              <a:t>AIT736-Team3. </a:t>
            </a:r>
            <a:r>
              <a:rPr lang="en-US" dirty="0" err="1">
                <a:solidFill>
                  <a:srgbClr val="000000"/>
                </a:solidFill>
              </a:rPr>
              <a:t>Github</a:t>
            </a:r>
            <a:endParaRPr lang="en-US" dirty="0">
              <a:solidFill>
                <a:srgbClr val="000000"/>
              </a:solidFill>
            </a:endParaRPr>
          </a:p>
          <a:p>
            <a:pPr marL="133350" indent="0">
              <a:lnSpc>
                <a:spcPct val="90000"/>
              </a:lnSpc>
              <a:spcBef>
                <a:spcPts val="0"/>
              </a:spcBef>
              <a:buSzPts val="2100"/>
              <a:buNone/>
            </a:pPr>
            <a:r>
              <a:rPr lang="en-US" dirty="0">
                <a:solidFill>
                  <a:srgbClr val="000000"/>
                </a:solidFill>
                <a:hlinkClick r:id="rId3"/>
              </a:rPr>
              <a:t>https://github.com/annguyenhuynh/AIT736-Team3/tree/main</a:t>
            </a:r>
            <a:endParaRPr lang="en-US" dirty="0">
              <a:solidFill>
                <a:srgbClr val="000000"/>
              </a:solidFill>
            </a:endParaRPr>
          </a:p>
          <a:p>
            <a:pPr marL="133350" indent="0">
              <a:lnSpc>
                <a:spcPct val="90000"/>
              </a:lnSpc>
              <a:spcBef>
                <a:spcPts val="0"/>
              </a:spcBef>
              <a:buSzPts val="2100"/>
              <a:buNone/>
            </a:pPr>
            <a:endParaRPr lang="en-US" dirty="0">
              <a:solidFill>
                <a:srgbClr val="000000"/>
              </a:solidFill>
            </a:endParaRPr>
          </a:p>
          <a:p>
            <a:pPr marL="133350" indent="0">
              <a:lnSpc>
                <a:spcPct val="90000"/>
              </a:lnSpc>
              <a:spcBef>
                <a:spcPts val="0"/>
              </a:spcBef>
              <a:buSzPts val="2100"/>
              <a:buNone/>
            </a:pPr>
            <a:r>
              <a:rPr lang="fr-FR" dirty="0" err="1">
                <a:solidFill>
                  <a:srgbClr val="000000"/>
                </a:solidFill>
              </a:rPr>
              <a:t>Kaggle</a:t>
            </a:r>
            <a:r>
              <a:rPr lang="fr-FR" dirty="0">
                <a:solidFill>
                  <a:srgbClr val="000000"/>
                </a:solidFill>
              </a:rPr>
              <a:t>. (2017). </a:t>
            </a:r>
            <a:r>
              <a:rPr lang="fr-FR" i="1" dirty="0" err="1">
                <a:solidFill>
                  <a:srgbClr val="000000"/>
                </a:solidFill>
              </a:rPr>
              <a:t>Telco</a:t>
            </a:r>
            <a:r>
              <a:rPr lang="fr-FR" i="1" dirty="0">
                <a:solidFill>
                  <a:srgbClr val="000000"/>
                </a:solidFill>
              </a:rPr>
              <a:t> Customer </a:t>
            </a:r>
            <a:r>
              <a:rPr lang="fr-FR" i="1" dirty="0" err="1">
                <a:solidFill>
                  <a:srgbClr val="000000"/>
                </a:solidFill>
              </a:rPr>
              <a:t>Churn</a:t>
            </a:r>
            <a:r>
              <a:rPr lang="fr-FR" dirty="0">
                <a:solidFill>
                  <a:srgbClr val="000000"/>
                </a:solidFill>
              </a:rPr>
              <a:t>. </a:t>
            </a:r>
            <a:r>
              <a:rPr lang="fr-FR" dirty="0" err="1">
                <a:solidFill>
                  <a:srgbClr val="000000"/>
                </a:solidFill>
              </a:rPr>
              <a:t>Kaggle</a:t>
            </a:r>
            <a:r>
              <a:rPr lang="fr-FR" dirty="0">
                <a:solidFill>
                  <a:srgbClr val="000000"/>
                </a:solidFill>
              </a:rPr>
              <a:t> </a:t>
            </a:r>
          </a:p>
          <a:p>
            <a:pPr marL="133350" indent="0">
              <a:lnSpc>
                <a:spcPct val="90000"/>
              </a:lnSpc>
              <a:spcBef>
                <a:spcPts val="0"/>
              </a:spcBef>
              <a:buSzPts val="2100"/>
              <a:buNone/>
            </a:pPr>
            <a:r>
              <a:rPr lang="en-US" dirty="0">
                <a:solidFill>
                  <a:srgbClr val="000000"/>
                </a:solidFill>
                <a:hlinkClick r:id="rId4">
                  <a:extLst>
                    <a:ext uri="{A12FA001-AC4F-418D-AE19-62706E023703}">
                      <ahyp:hlinkClr xmlns:ahyp="http://schemas.microsoft.com/office/drawing/2018/hyperlinkcolor" val="tx"/>
                    </a:ext>
                  </a:extLst>
                </a:hlinkClick>
              </a:rPr>
              <a:t>https://www.kaggle.com/datasets/blastchar/telco-customer-	churn</a:t>
            </a:r>
            <a:endParaRPr lang="en-US" dirty="0">
              <a:solidFill>
                <a:srgbClr val="000000"/>
              </a:solidFill>
            </a:endParaRPr>
          </a:p>
          <a:p>
            <a:pPr marL="133350" indent="0">
              <a:lnSpc>
                <a:spcPct val="90000"/>
              </a:lnSpc>
              <a:spcBef>
                <a:spcPts val="0"/>
              </a:spcBef>
              <a:buSzPts val="2100"/>
              <a:buNone/>
            </a:pPr>
            <a:endParaRPr lang="fr-FR" dirty="0">
              <a:solidFill>
                <a:srgbClr val="000000"/>
              </a:solidFill>
            </a:endParaRPr>
          </a:p>
          <a:p>
            <a:pPr marL="133350" indent="0">
              <a:lnSpc>
                <a:spcPct val="90000"/>
              </a:lnSpc>
              <a:spcBef>
                <a:spcPts val="0"/>
              </a:spcBef>
              <a:buSzPts val="2100"/>
              <a:buNone/>
            </a:pPr>
            <a:r>
              <a:rPr lang="fr-FR" dirty="0">
                <a:solidFill>
                  <a:srgbClr val="000000"/>
                </a:solidFill>
              </a:rPr>
              <a:t>Lopez, M.(2025</a:t>
            </a:r>
            <a:r>
              <a:rPr lang="fr-FR" i="1" dirty="0">
                <a:solidFill>
                  <a:srgbClr val="000000"/>
                </a:solidFill>
              </a:rPr>
              <a:t>). </a:t>
            </a:r>
            <a:r>
              <a:rPr lang="en-US" i="1" dirty="0">
                <a:solidFill>
                  <a:srgbClr val="000000"/>
                </a:solidFill>
              </a:rPr>
              <a:t>What Is Customer Churn? A Complete Guide with Examples. </a:t>
            </a:r>
            <a:r>
              <a:rPr lang="fr-FR" dirty="0">
                <a:solidFill>
                  <a:srgbClr val="000000"/>
                </a:solidFill>
              </a:rPr>
              <a:t>Salesforce </a:t>
            </a:r>
            <a:r>
              <a:rPr lang="fr-FR" dirty="0">
                <a:solidFill>
                  <a:srgbClr val="000000"/>
                </a:solidFill>
                <a:hlinkClick r:id="rId5">
                  <a:extLst>
                    <a:ext uri="{A12FA001-AC4F-418D-AE19-62706E023703}">
                      <ahyp:hlinkClr xmlns:ahyp="http://schemas.microsoft.com/office/drawing/2018/hyperlinkcolor" val="tx"/>
                    </a:ext>
                  </a:extLst>
                </a:hlinkClick>
              </a:rPr>
              <a:t>https://www.salesforce.com/sales/analytics/customer-churn/</a:t>
            </a:r>
            <a:endParaRPr lang="fr-FR" dirty="0">
              <a:solidFill>
                <a:srgbClr val="000000"/>
              </a:solidFill>
            </a:endParaRPr>
          </a:p>
          <a:p>
            <a:pPr marL="133350" indent="0">
              <a:lnSpc>
                <a:spcPct val="90000"/>
              </a:lnSpc>
              <a:spcBef>
                <a:spcPts val="0"/>
              </a:spcBef>
              <a:buSzPts val="2100"/>
              <a:buNone/>
            </a:pPr>
            <a:endParaRPr lang="fr-FR" dirty="0">
              <a:solidFill>
                <a:srgbClr val="000000"/>
              </a:solidFill>
            </a:endParaRPr>
          </a:p>
          <a:p>
            <a:pPr marL="133350" indent="0">
              <a:lnSpc>
                <a:spcPct val="90000"/>
              </a:lnSpc>
              <a:spcBef>
                <a:spcPts val="0"/>
              </a:spcBef>
              <a:buSzPts val="2100"/>
              <a:buNone/>
            </a:pPr>
            <a:endParaRPr lang="en-US" dirty="0">
              <a:solidFill>
                <a:srgbClr val="000000"/>
              </a:solidFill>
            </a:endParaRPr>
          </a:p>
        </p:txBody>
      </p:sp>
      <p:sp>
        <p:nvSpPr>
          <p:cNvPr id="97" name="Google Shape;97;p7">
            <a:extLst>
              <a:ext uri="{FF2B5EF4-FFF2-40B4-BE49-F238E27FC236}">
                <a16:creationId xmlns:a16="http://schemas.microsoft.com/office/drawing/2014/main" id="{3299C404-C059-293F-B0E6-A14D6FBCD368}"/>
              </a:ext>
            </a:extLst>
          </p:cNvPr>
          <p:cNvSpPr txBox="1">
            <a:spLocks noGrp="1"/>
          </p:cNvSpPr>
          <p:nvPr>
            <p:ph type="title"/>
          </p:nvPr>
        </p:nvSpPr>
        <p:spPr>
          <a:xfrm>
            <a:off x="838200" y="0"/>
            <a:ext cx="105156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6633"/>
              </a:buClr>
              <a:buSzPts val="4400"/>
              <a:buFont typeface="Calibri"/>
              <a:buNone/>
            </a:pPr>
            <a:r>
              <a:rPr lang="en-US" dirty="0"/>
              <a:t>References</a:t>
            </a:r>
            <a:endParaRPr dirty="0"/>
          </a:p>
        </p:txBody>
      </p:sp>
    </p:spTree>
    <p:extLst>
      <p:ext uri="{BB962C8B-B14F-4D97-AF65-F5344CB8AC3E}">
        <p14:creationId xmlns:p14="http://schemas.microsoft.com/office/powerpoint/2010/main" val="2034706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5">
          <a:extLst>
            <a:ext uri="{FF2B5EF4-FFF2-40B4-BE49-F238E27FC236}">
              <a16:creationId xmlns:a16="http://schemas.microsoft.com/office/drawing/2014/main" id="{43EDD83E-4C54-786E-DE1D-4A9A523BD1A7}"/>
            </a:ext>
          </a:extLst>
        </p:cNvPr>
        <p:cNvGrpSpPr/>
        <p:nvPr/>
      </p:nvGrpSpPr>
      <p:grpSpPr>
        <a:xfrm>
          <a:off x="0" y="0"/>
          <a:ext cx="0" cy="0"/>
          <a:chOff x="0" y="0"/>
          <a:chExt cx="0" cy="0"/>
        </a:xfrm>
      </p:grpSpPr>
      <p:pic>
        <p:nvPicPr>
          <p:cNvPr id="3074" name="Picture 2" descr="Thank You Cartoon Images – Browse 98,342 Stock Photos, Vectors, and Video |  Adobe Stock">
            <a:extLst>
              <a:ext uri="{FF2B5EF4-FFF2-40B4-BE49-F238E27FC236}">
                <a16:creationId xmlns:a16="http://schemas.microsoft.com/office/drawing/2014/main" id="{5CB3F209-2AD4-960C-2FF9-E5D102DFC4A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3467" y="702733"/>
            <a:ext cx="10905066" cy="545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116134"/>
      </p:ext>
    </p:extLst>
  </p:cSld>
  <p:clrMapOvr>
    <a:masterClrMapping/>
  </p:clrMapOvr>
</p:sld>
</file>

<file path=ppt/theme/theme1.xml><?xml version="1.0" encoding="utf-8"?>
<a:theme xmlns:a="http://schemas.openxmlformats.org/drawingml/2006/main" name="Office Theme">
  <a:themeElements>
    <a:clrScheme name="Mason">
      <a:dk1>
        <a:srgbClr val="006633"/>
      </a:dk1>
      <a:lt1>
        <a:srgbClr val="FFFFFF"/>
      </a:lt1>
      <a:dk2>
        <a:srgbClr val="425195"/>
      </a:dk2>
      <a:lt2>
        <a:srgbClr val="A0C9C1"/>
      </a:lt2>
      <a:accent1>
        <a:srgbClr val="00909E"/>
      </a:accent1>
      <a:accent2>
        <a:srgbClr val="AC1D37"/>
      </a:accent2>
      <a:accent3>
        <a:srgbClr val="805732"/>
      </a:accent3>
      <a:accent4>
        <a:srgbClr val="80902B"/>
      </a:accent4>
      <a:accent5>
        <a:srgbClr val="FFCC33"/>
      </a:accent5>
      <a:accent6>
        <a:srgbClr val="D8D8C1"/>
      </a:accent6>
      <a:hlink>
        <a:srgbClr val="F79411"/>
      </a:hlink>
      <a:folHlink>
        <a:srgbClr val="8790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A45C30C308A341BFDAB65976ABB442" ma:contentTypeVersion="17" ma:contentTypeDescription="Create a new document." ma:contentTypeScope="" ma:versionID="eeee7edb6e606ca9c644af75759c4062">
  <xsd:schema xmlns:xsd="http://www.w3.org/2001/XMLSchema" xmlns:xs="http://www.w3.org/2001/XMLSchema" xmlns:p="http://schemas.microsoft.com/office/2006/metadata/properties" xmlns:ns2="7d35bc41-1145-4875-8ed8-4b6586f43481" xmlns:ns3="ea035b0b-d4a4-4160-ae0a-32d2cf7a840d" targetNamespace="http://schemas.microsoft.com/office/2006/metadata/properties" ma:root="true" ma:fieldsID="608f77e83057bc2d9176dc756be9e826" ns2:_="" ns3:_="">
    <xsd:import namespace="7d35bc41-1145-4875-8ed8-4b6586f43481"/>
    <xsd:import namespace="ea035b0b-d4a4-4160-ae0a-32d2cf7a840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35bc41-1145-4875-8ed8-4b6586f434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a035b0b-d4a4-4160-ae0a-32d2cf7a840d"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6c72f63-8241-44d9-aece-f266ac0fa368}" ma:internalName="TaxCatchAll" ma:showField="CatchAllData" ma:web="ea035b0b-d4a4-4160-ae0a-32d2cf7a84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a035b0b-d4a4-4160-ae0a-32d2cf7a840d" xsi:nil="true"/>
    <lcf76f155ced4ddcb4097134ff3c332f xmlns="7d35bc41-1145-4875-8ed8-4b6586f434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20A64D7-DC07-49E6-8411-E59672CE7BB8}">
  <ds:schemaRefs>
    <ds:schemaRef ds:uri="http://schemas.microsoft.com/sharepoint/v3/contenttype/forms"/>
  </ds:schemaRefs>
</ds:datastoreItem>
</file>

<file path=customXml/itemProps2.xml><?xml version="1.0" encoding="utf-8"?>
<ds:datastoreItem xmlns:ds="http://schemas.openxmlformats.org/officeDocument/2006/customXml" ds:itemID="{8076C0E0-66E3-4F9F-9D1B-306142ACFF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35bc41-1145-4875-8ed8-4b6586f43481"/>
    <ds:schemaRef ds:uri="ea035b0b-d4a4-4160-ae0a-32d2cf7a84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BB1ECE-AFD7-4208-A965-E8724EC834DC}">
  <ds:schemaRefs>
    <ds:schemaRef ds:uri="http://purl.org/dc/dcmitype/"/>
    <ds:schemaRef ds:uri="http://schemas.microsoft.com/office/infopath/2007/PartnerControls"/>
    <ds:schemaRef ds:uri="http://purl.org/dc/elements/1.1/"/>
    <ds:schemaRef ds:uri="http://schemas.microsoft.com/office/2006/metadata/properties"/>
    <ds:schemaRef ds:uri="7d35bc41-1145-4875-8ed8-4b6586f43481"/>
    <ds:schemaRef ds:uri="http://purl.org/dc/terms/"/>
    <ds:schemaRef ds:uri="http://schemas.microsoft.com/office/2006/documentManagement/types"/>
    <ds:schemaRef ds:uri="ea035b0b-d4a4-4160-ae0a-32d2cf7a840d"/>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1182</TotalTime>
  <Words>3871</Words>
  <Application>Microsoft Macintosh PowerPoint</Application>
  <PresentationFormat>Widescreen</PresentationFormat>
  <Paragraphs>185</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AIT-736 Applied Machine Learning</vt:lpstr>
      <vt:lpstr>Introduction/Motivation</vt:lpstr>
      <vt:lpstr>Problem Statement/Business Goal</vt:lpstr>
      <vt:lpstr>Dataset Description</vt:lpstr>
      <vt:lpstr>Exploratory Data Analysis</vt:lpstr>
      <vt:lpstr>Dataset Preparation and Cleaning</vt:lpstr>
      <vt:lpstr>Dataset Visualization</vt:lpstr>
      <vt:lpstr>Multicollinearity Analysis (VIF)</vt:lpstr>
      <vt:lpstr>Train/Test Split</vt:lpstr>
      <vt:lpstr>Models Development – Random Forest Classifier Baseline Tree model</vt:lpstr>
      <vt:lpstr>Models Development – XGBOOST Classifier</vt:lpstr>
      <vt:lpstr>Models Comparison</vt:lpstr>
      <vt:lpstr>XGBOOST Model Tuning</vt:lpstr>
      <vt:lpstr>XGBOOST Parameters Exploration</vt:lpstr>
      <vt:lpstr>Final XGBOOST Model Selection</vt:lpstr>
      <vt:lpstr>Model Evaluation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Mason PPT Template</dc:title>
  <dc:creator>Microsoft Office User</dc:creator>
  <cp:lastModifiedBy>Nguyen P Huynh</cp:lastModifiedBy>
  <cp:revision>45</cp:revision>
  <dcterms:created xsi:type="dcterms:W3CDTF">2019-06-26T16:02:10Z</dcterms:created>
  <dcterms:modified xsi:type="dcterms:W3CDTF">2026-05-02T02:59:44Z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0x010100DCA45C30C308A341BFDAB65976ABB442</vt:lpwstr>
  </property>
  <property fmtid="{D5CDD505-2E9C-101B-9397-08002B2CF9AE}" pid="3" name="MediaServiceImageTags">
    <vt:lpwstr/>
  </property>
</Properties>
</file>